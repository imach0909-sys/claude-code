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改訂版の趣旨説明。前回提案（合同イベントの残余候補者をご紹介する方式）が志望動機のミスマッチで機能しなかったことを率直に認め、貴社専用の大学説明会を起点とするモデルへ切り替えたことを冒頭で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反省点を隠さず先に出すスライド。数字（56名・4名・50〜60名）は前回提案書の記載をそのまま引用している。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前回モデルとの違いを一枚で示す。差分は「誰のために集めるか」の一点であることを強調する。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前回提案の6W2Hを、説明会起点モデルに合わせて WHEN / WHERE / WHY / HOW を書き換えたもの。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本提案の中核スライド。1校あたり30〜50名は計画上の目安であり、実績値ではない点を口頭でも明示すること。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旧提案のブリーフィング構成を踏襲しつつ、04として支援制度の訴求を追加した。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前回提案のスケジュールは2026年9〜10月のJPC入学を前提としており、既に時期を過ぎている。そのため起点からの相対日程に組み替え、2026年10月着手の場合の例示を併記した。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支援金額は前回提案から一切変更していない。ご要望どおり継続する点を明言する。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費用・リスクの考え方は前回提案を維持。モデル変更による追加費用がないことを明言する。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大学との交渉・学内集客がESUTECH側の新規業務として増える点（NEWバッジ）を説明する。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採用要件は前回提案から実質変更なし。志望動機の項目のみ、説明会起点モデルに合わせて追加した。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前回提案の5項目に「04 説明会の実施条件」を追加して6項目とした。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クロージング。支援制度は据え置き、変えたのは母集団形成の方法だけ、というメッセージで締める。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244"/>
        </a:solidFill>
      </p:bgPr>
    </p:bg>
    <p:spTree>
      <p:nvGrpSpPr>
        <p:cNvPr id="1" name=""/>
        <p:cNvGrpSpPr/>
        <p:nvPr/>
      </p:nvGrpSpPr>
      <p:grpSpPr>
        <a:xfrm>
          <a:off x="0" y="0"/>
          <a:ext cx="0" cy="0"/>
          <a:chOff x="0" y="0"/>
          <a:chExt cx="0" cy="0"/>
        </a:xfrm>
      </p:grpSpPr>
      <p:sp>
        <p:nvSpPr>
          <p:cNvPr id="2" name="Shape 0"/>
          <p:cNvSpPr/>
          <p:nvPr/>
        </p:nvSpPr>
        <p:spPr>
          <a:xfrm>
            <a:off x="7818120" y="0"/>
            <a:ext cx="4373575" cy="6858000"/>
          </a:xfrm>
          <a:prstGeom prst="rect">
            <a:avLst/>
          </a:prstGeom>
          <a:solidFill>
            <a:srgbClr val="1C3D6B"/>
          </a:solidFill>
          <a:ln/>
        </p:spPr>
      </p:sp>
      <p:sp>
        <p:nvSpPr>
          <p:cNvPr id="3" name="Shape 1"/>
          <p:cNvSpPr/>
          <p:nvPr/>
        </p:nvSpPr>
        <p:spPr>
          <a:xfrm>
            <a:off x="8778240" y="0"/>
            <a:ext cx="3413455" cy="6858000"/>
          </a:xfrm>
          <a:prstGeom prst="rect">
            <a:avLst/>
          </a:prstGeom>
          <a:solidFill>
            <a:srgbClr val="254B80"/>
          </a:solidFill>
          <a:ln/>
        </p:spPr>
      </p:sp>
      <p:sp>
        <p:nvSpPr>
          <p:cNvPr id="4" name="Shape 2"/>
          <p:cNvSpPr/>
          <p:nvPr/>
        </p:nvSpPr>
        <p:spPr>
          <a:xfrm>
            <a:off x="9829800" y="0"/>
            <a:ext cx="2361895" cy="6858000"/>
          </a:xfrm>
          <a:prstGeom prst="rect">
            <a:avLst/>
          </a:prstGeom>
          <a:solidFill>
            <a:srgbClr val="1C3D6B"/>
          </a:solidFill>
          <a:ln/>
        </p:spPr>
      </p:sp>
      <p:sp>
        <p:nvSpPr>
          <p:cNvPr id="5" name="Shape 3"/>
          <p:cNvSpPr/>
          <p:nvPr/>
        </p:nvSpPr>
        <p:spPr>
          <a:xfrm>
            <a:off x="10972800" y="0"/>
            <a:ext cx="1218895" cy="6858000"/>
          </a:xfrm>
          <a:prstGeom prst="rect">
            <a:avLst/>
          </a:prstGeom>
          <a:solidFill>
            <a:srgbClr val="2E5B96"/>
          </a:solidFill>
          <a:ln/>
        </p:spPr>
      </p:sp>
      <p:sp>
        <p:nvSpPr>
          <p:cNvPr id="6" name="Text 4"/>
          <p:cNvSpPr txBox="1"/>
          <p:nvPr/>
        </p:nvSpPr>
        <p:spPr>
          <a:xfrm>
            <a:off x="9692640" y="384048"/>
            <a:ext cx="2011680" cy="329184"/>
          </a:xfrm>
          <a:prstGeom prst="rect">
            <a:avLst/>
          </a:prstGeom>
          <a:noFill/>
          <a:ln/>
        </p:spPr>
        <p:txBody>
          <a:bodyPr wrap="square" lIns="0" tIns="0" rIns="0" bIns="0" rtlCol="0" anchor="ctr"/>
          <a:lstStyle/>
          <a:p>
            <a:pPr algn="r" indent="0" marL="0">
              <a:buNone/>
            </a:pPr>
            <a:r>
              <a:rPr lang="en-US" sz="1900" b="1" spc="100" kern="0" dirty="0">
                <a:solidFill>
                  <a:srgbClr val="FFFFFF"/>
                </a:solidFill>
                <a:latin typeface="Arial" pitchFamily="34" charset="0"/>
                <a:ea typeface="Arial" pitchFamily="34" charset="-122"/>
                <a:cs typeface="Arial" pitchFamily="34" charset="-120"/>
              </a:rPr>
              <a:t>ESUTECH</a:t>
            </a:r>
            <a:endParaRPr lang="en-US" sz="1900" dirty="0"/>
          </a:p>
        </p:txBody>
      </p:sp>
      <p:sp>
        <p:nvSpPr>
          <p:cNvPr id="7" name="Text 5"/>
          <p:cNvSpPr txBox="1"/>
          <p:nvPr/>
        </p:nvSpPr>
        <p:spPr>
          <a:xfrm>
            <a:off x="548640" y="685800"/>
            <a:ext cx="2743200" cy="219456"/>
          </a:xfrm>
          <a:prstGeom prst="rect">
            <a:avLst/>
          </a:prstGeom>
          <a:noFill/>
          <a:ln/>
        </p:spPr>
        <p:txBody>
          <a:bodyPr wrap="square" lIns="0" tIns="0" rIns="0" bIns="0" rtlCol="0" anchor="ctr"/>
          <a:lstStyle/>
          <a:p>
            <a:pPr indent="0" marL="0">
              <a:buNone/>
            </a:pPr>
            <a:r>
              <a:rPr lang="en-US" sz="1000" b="1" spc="300" kern="0" dirty="0">
                <a:solidFill>
                  <a:srgbClr val="9BB2CE"/>
                </a:solidFill>
                <a:latin typeface="Arial" pitchFamily="34" charset="0"/>
                <a:ea typeface="Arial" pitchFamily="34" charset="-122"/>
                <a:cs typeface="Arial" pitchFamily="34" charset="-120"/>
              </a:rPr>
              <a:t>RECIPIENT</a:t>
            </a:r>
            <a:endParaRPr lang="en-US" sz="1000" dirty="0"/>
          </a:p>
        </p:txBody>
      </p:sp>
      <p:sp>
        <p:nvSpPr>
          <p:cNvPr id="8" name="Text 6"/>
          <p:cNvSpPr txBox="1"/>
          <p:nvPr/>
        </p:nvSpPr>
        <p:spPr>
          <a:xfrm>
            <a:off x="548640" y="932688"/>
            <a:ext cx="4572000" cy="365760"/>
          </a:xfrm>
          <a:prstGeom prst="rect">
            <a:avLst/>
          </a:prstGeom>
          <a:noFill/>
          <a:ln/>
        </p:spPr>
        <p:txBody>
          <a:bodyPr wrap="square" lIns="0" tIns="0" rIns="0" bIns="0" rtlCol="0" anchor="ctr"/>
          <a:lstStyle/>
          <a:p>
            <a:pPr indent="0" marL="0">
              <a:buNone/>
            </a:pPr>
            <a:r>
              <a:rPr lang="en-US" sz="1600" dirty="0">
                <a:solidFill>
                  <a:srgbClr val="FFFFFF"/>
                </a:solidFill>
                <a:latin typeface="Meiryo" pitchFamily="34" charset="0"/>
                <a:ea typeface="Meiryo" pitchFamily="34" charset="-122"/>
                <a:cs typeface="Meiryo" pitchFamily="34" charset="-120"/>
              </a:rPr>
              <a:t>御中</a:t>
            </a:r>
            <a:endParaRPr lang="en-US" sz="1600" dirty="0"/>
          </a:p>
        </p:txBody>
      </p:sp>
      <p:sp>
        <p:nvSpPr>
          <p:cNvPr id="9" name="Shape 7"/>
          <p:cNvSpPr/>
          <p:nvPr/>
        </p:nvSpPr>
        <p:spPr>
          <a:xfrm>
            <a:off x="548640" y="1481328"/>
            <a:ext cx="2331720" cy="292608"/>
          </a:xfrm>
          <a:prstGeom prst="rect">
            <a:avLst/>
          </a:prstGeom>
          <a:solidFill>
            <a:srgbClr val="C8102E"/>
          </a:solidFill>
          <a:ln/>
        </p:spPr>
      </p:sp>
      <p:sp>
        <p:nvSpPr>
          <p:cNvPr id="10" name="Text 8"/>
          <p:cNvSpPr txBox="1"/>
          <p:nvPr/>
        </p:nvSpPr>
        <p:spPr>
          <a:xfrm>
            <a:off x="548640" y="1481328"/>
            <a:ext cx="2331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Arial" pitchFamily="34" charset="0"/>
                <a:ea typeface="Arial" pitchFamily="34" charset="-122"/>
                <a:cs typeface="Arial" pitchFamily="34" charset="-120"/>
              </a:rPr>
              <a:t>REVISED PROPOSAL  v2.0</a:t>
            </a:r>
            <a:endParaRPr lang="en-US" sz="950" dirty="0"/>
          </a:p>
        </p:txBody>
      </p:sp>
      <p:sp>
        <p:nvSpPr>
          <p:cNvPr id="11" name="Text 9"/>
          <p:cNvSpPr txBox="1"/>
          <p:nvPr/>
        </p:nvSpPr>
        <p:spPr>
          <a:xfrm>
            <a:off x="548640" y="1965960"/>
            <a:ext cx="6949440" cy="1920240"/>
          </a:xfrm>
          <a:prstGeom prst="rect">
            <a:avLst/>
          </a:prstGeom>
          <a:noFill/>
          <a:ln/>
        </p:spPr>
        <p:txBody>
          <a:bodyPr wrap="square" lIns="0" tIns="0" rIns="0" bIns="0" rtlCol="0" anchor="t"/>
          <a:lstStyle/>
          <a:p>
            <a:pPr indent="0" marL="0">
              <a:lnSpc>
                <a:spcPts val="5600"/>
              </a:lnSpc>
              <a:buNone/>
            </a:pPr>
            <a:r>
              <a:rPr lang="en-US" sz="4000" b="1" dirty="0">
                <a:solidFill>
                  <a:srgbClr val="FFFFFF"/>
                </a:solidFill>
                <a:latin typeface="Meiryo" pitchFamily="34" charset="0"/>
                <a:ea typeface="Meiryo" pitchFamily="34" charset="-122"/>
                <a:cs typeface="Meiryo" pitchFamily="34" charset="-120"/>
              </a:rPr>
              <a:t>ベトナム優秀建設エンジニア</a:t>
            </a:r>
            <a:endParaRPr lang="en-US" sz="4000" dirty="0"/>
          </a:p>
          <a:p>
            <a:pPr indent="0" marL="0">
              <a:lnSpc>
                <a:spcPts val="5600"/>
              </a:lnSpc>
              <a:buNone/>
            </a:pPr>
            <a:r>
              <a:rPr lang="en-US" sz="4000" b="1" dirty="0">
                <a:solidFill>
                  <a:srgbClr val="FFFFFF"/>
                </a:solidFill>
                <a:latin typeface="Meiryo" pitchFamily="34" charset="0"/>
                <a:ea typeface="Meiryo" pitchFamily="34" charset="-122"/>
                <a:cs typeface="Meiryo" pitchFamily="34" charset="-120"/>
              </a:rPr>
              <a:t>採用プログラム ご提案</a:t>
            </a:r>
            <a:endParaRPr lang="en-US" sz="4000" dirty="0"/>
          </a:p>
        </p:txBody>
      </p:sp>
      <p:sp>
        <p:nvSpPr>
          <p:cNvPr id="12" name="Text 10"/>
          <p:cNvSpPr txBox="1"/>
          <p:nvPr/>
        </p:nvSpPr>
        <p:spPr>
          <a:xfrm>
            <a:off x="548640" y="4160520"/>
            <a:ext cx="6858000" cy="1188720"/>
          </a:xfrm>
          <a:prstGeom prst="rect">
            <a:avLst/>
          </a:prstGeom>
          <a:noFill/>
          <a:ln/>
        </p:spPr>
        <p:txBody>
          <a:bodyPr wrap="square" lIns="0" tIns="0" rIns="0" bIns="0" rtlCol="0" anchor="ctr"/>
          <a:lstStyle/>
          <a:p>
            <a:pPr indent="0" marL="0">
              <a:lnSpc>
                <a:spcPts val="2400"/>
              </a:lnSpc>
              <a:buNone/>
            </a:pPr>
            <a:r>
              <a:rPr lang="en-US" sz="1300" dirty="0">
                <a:solidFill>
                  <a:srgbClr val="C9D8EA"/>
                </a:solidFill>
                <a:latin typeface="Meiryo" pitchFamily="34" charset="0"/>
                <a:ea typeface="Meiryo" pitchFamily="34" charset="-122"/>
                <a:cs typeface="Meiryo" pitchFamily="34" charset="-120"/>
              </a:rPr>
              <a:t>「合同イベントで集めた学生をご紹介する」方式を取りやめ、</a:t>
            </a:r>
            <a:endParaRPr lang="en-US" sz="1300" dirty="0"/>
          </a:p>
          <a:p>
            <a:pPr indent="0" marL="0">
              <a:lnSpc>
                <a:spcPts val="2400"/>
              </a:lnSpc>
              <a:buNone/>
            </a:pPr>
            <a:r>
              <a:rPr lang="en-US" sz="1300" dirty="0">
                <a:solidFill>
                  <a:srgbClr val="C9D8EA"/>
                </a:solidFill>
                <a:latin typeface="Meiryo" pitchFamily="34" charset="0"/>
                <a:ea typeface="Meiryo" pitchFamily="34" charset="-122"/>
                <a:cs typeface="Meiryo" pitchFamily="34" charset="-120"/>
              </a:rPr>
              <a:t>貴社専用の大学説明会から母集団を形成するモデルへ見直しました。</a:t>
            </a:r>
            <a:endParaRPr lang="en-US" sz="1300" dirty="0"/>
          </a:p>
          <a:p>
            <a:pPr indent="0" marL="0">
              <a:lnSpc>
                <a:spcPts val="2400"/>
              </a:lnSpc>
              <a:buNone/>
            </a:pPr>
            <a:r>
              <a:rPr lang="en-US" sz="1300" dirty="0">
                <a:solidFill>
                  <a:srgbClr val="C9D8EA"/>
                </a:solidFill>
                <a:latin typeface="Meiryo" pitchFamily="34" charset="0"/>
                <a:ea typeface="Meiryo" pitchFamily="34" charset="-122"/>
                <a:cs typeface="Meiryo" pitchFamily="34" charset="-120"/>
              </a:rPr>
              <a:t>奨学金・生活支援金のスキームは従来どおり継続します。</a:t>
            </a:r>
            <a:endParaRPr lang="en-US" sz="1300" dirty="0"/>
          </a:p>
        </p:txBody>
      </p:sp>
      <p:sp>
        <p:nvSpPr>
          <p:cNvPr id="13" name="Text 11"/>
          <p:cNvSpPr txBox="1"/>
          <p:nvPr/>
        </p:nvSpPr>
        <p:spPr>
          <a:xfrm>
            <a:off x="548640" y="5870448"/>
            <a:ext cx="2011680" cy="201168"/>
          </a:xfrm>
          <a:prstGeom prst="rect">
            <a:avLst/>
          </a:prstGeom>
          <a:noFill/>
          <a:ln/>
        </p:spPr>
        <p:txBody>
          <a:bodyPr wrap="square" lIns="0" tIns="0" rIns="0" bIns="0" rtlCol="0" anchor="ctr"/>
          <a:lstStyle/>
          <a:p>
            <a:pPr indent="0" marL="0">
              <a:buNone/>
            </a:pPr>
            <a:r>
              <a:rPr lang="en-US" sz="850" b="1" spc="200" kern="0" dirty="0">
                <a:solidFill>
                  <a:srgbClr val="8FA8C6"/>
                </a:solidFill>
                <a:latin typeface="Arial" pitchFamily="34" charset="0"/>
                <a:ea typeface="Arial" pitchFamily="34" charset="-122"/>
                <a:cs typeface="Arial" pitchFamily="34" charset="-120"/>
              </a:rPr>
              <a:t>PROJECT CODE</a:t>
            </a:r>
            <a:endParaRPr lang="en-US" sz="850" dirty="0"/>
          </a:p>
        </p:txBody>
      </p:sp>
      <p:sp>
        <p:nvSpPr>
          <p:cNvPr id="14" name="Text 12"/>
          <p:cNvSpPr txBox="1"/>
          <p:nvPr/>
        </p:nvSpPr>
        <p:spPr>
          <a:xfrm>
            <a:off x="548640" y="6089904"/>
            <a:ext cx="2377440" cy="256032"/>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VN-RECRUIT-2026 / REV.2</a:t>
            </a:r>
            <a:endParaRPr lang="en-US" sz="1100" dirty="0"/>
          </a:p>
        </p:txBody>
      </p:sp>
      <p:sp>
        <p:nvSpPr>
          <p:cNvPr id="15" name="Text 13"/>
          <p:cNvSpPr txBox="1"/>
          <p:nvPr/>
        </p:nvSpPr>
        <p:spPr>
          <a:xfrm>
            <a:off x="3200400" y="5870448"/>
            <a:ext cx="2743200" cy="201168"/>
          </a:xfrm>
          <a:prstGeom prst="rect">
            <a:avLst/>
          </a:prstGeom>
          <a:noFill/>
          <a:ln/>
        </p:spPr>
        <p:txBody>
          <a:bodyPr wrap="square" lIns="0" tIns="0" rIns="0" bIns="0" rtlCol="0" anchor="ctr"/>
          <a:lstStyle/>
          <a:p>
            <a:pPr indent="0" marL="0">
              <a:buNone/>
            </a:pPr>
            <a:r>
              <a:rPr lang="en-US" sz="850" b="1" spc="200" kern="0" dirty="0">
                <a:solidFill>
                  <a:srgbClr val="8FA8C6"/>
                </a:solidFill>
                <a:latin typeface="Arial" pitchFamily="34" charset="0"/>
                <a:ea typeface="Arial" pitchFamily="34" charset="-122"/>
                <a:cs typeface="Arial" pitchFamily="34" charset="-120"/>
              </a:rPr>
              <a:t>SERVICE PROVIDER</a:t>
            </a:r>
            <a:endParaRPr lang="en-US" sz="850" dirty="0"/>
          </a:p>
        </p:txBody>
      </p:sp>
      <p:sp>
        <p:nvSpPr>
          <p:cNvPr id="16" name="Text 14"/>
          <p:cNvSpPr txBox="1"/>
          <p:nvPr/>
        </p:nvSpPr>
        <p:spPr>
          <a:xfrm>
            <a:off x="3200400" y="6089904"/>
            <a:ext cx="3657600" cy="256032"/>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ESUHAI Technology CO., LTD.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050" b="1" spc="200" kern="0" dirty="0">
                <a:solidFill>
                  <a:srgbClr val="C8102E"/>
                </a:solidFill>
                <a:latin typeface="Arial" pitchFamily="34" charset="0"/>
                <a:ea typeface="Arial" pitchFamily="34" charset="-122"/>
                <a:cs typeface="Arial" pitchFamily="34" charset="-120"/>
              </a:rPr>
              <a:t>LESSONS LEARNED</a:t>
            </a:r>
            <a:endParaRPr lang="en-US" sz="1050" dirty="0"/>
          </a:p>
        </p:txBody>
      </p:sp>
      <p:sp>
        <p:nvSpPr>
          <p:cNvPr id="3" name="Text 1"/>
          <p:cNvSpPr txBox="1"/>
          <p:nvPr/>
        </p:nvSpPr>
        <p:spPr>
          <a:xfrm>
            <a:off x="548640" y="566928"/>
            <a:ext cx="11094415" cy="566928"/>
          </a:xfrm>
          <a:prstGeom prst="rect">
            <a:avLst/>
          </a:prstGeom>
          <a:noFill/>
          <a:ln/>
        </p:spPr>
        <p:txBody>
          <a:bodyPr wrap="square" lIns="0" tIns="0" rIns="0" bIns="0" rtlCol="0" anchor="t"/>
          <a:lstStyle/>
          <a:p>
            <a:pPr indent="0" marL="0">
              <a:buNone/>
            </a:pPr>
            <a:r>
              <a:rPr lang="en-US" sz="2800" b="1" dirty="0">
                <a:solidFill>
                  <a:srgbClr val="0E2244"/>
                </a:solidFill>
                <a:latin typeface="Meiryo" pitchFamily="34" charset="0"/>
                <a:ea typeface="Meiryo" pitchFamily="34" charset="-122"/>
                <a:cs typeface="Meiryo" pitchFamily="34" charset="-120"/>
              </a:rPr>
              <a:t>前回モデルの振り返りと、見直しの理由</a:t>
            </a:r>
            <a:endParaRPr lang="en-US" sz="2800" dirty="0"/>
          </a:p>
        </p:txBody>
      </p:sp>
      <p:sp>
        <p:nvSpPr>
          <p:cNvPr id="4" name="Shape 2"/>
          <p:cNvSpPr/>
          <p:nvPr/>
        </p:nvSpPr>
        <p:spPr>
          <a:xfrm>
            <a:off x="548640" y="1280160"/>
            <a:ext cx="11094415" cy="658368"/>
          </a:xfrm>
          <a:prstGeom prst="rect">
            <a:avLst/>
          </a:prstGeom>
          <a:solidFill>
            <a:srgbClr val="EEF2F7"/>
          </a:solidFill>
          <a:ln/>
        </p:spPr>
      </p:sp>
      <p:sp>
        <p:nvSpPr>
          <p:cNvPr id="5" name="Text 3"/>
          <p:cNvSpPr txBox="1"/>
          <p:nvPr/>
        </p:nvSpPr>
        <p:spPr>
          <a:xfrm>
            <a:off x="868680" y="1280160"/>
            <a:ext cx="10454335" cy="658368"/>
          </a:xfrm>
          <a:prstGeom prst="rect">
            <a:avLst/>
          </a:prstGeom>
          <a:noFill/>
          <a:ln/>
        </p:spPr>
        <p:txBody>
          <a:bodyPr wrap="square" lIns="0" tIns="0" rIns="0" bIns="0" rtlCol="0" anchor="ctr"/>
          <a:lstStyle/>
          <a:p>
            <a:pPr indent="0" marL="0">
              <a:lnSpc>
                <a:spcPts val="1958"/>
              </a:lnSpc>
              <a:buNone/>
            </a:pPr>
            <a:r>
              <a:rPr lang="en-US" sz="1350" b="1" dirty="0">
                <a:solidFill>
                  <a:srgbClr val="0E2244"/>
                </a:solidFill>
                <a:latin typeface="Meiryo" pitchFamily="34" charset="0"/>
                <a:ea typeface="Meiryo" pitchFamily="34" charset="-122"/>
                <a:cs typeface="Meiryo" pitchFamily="34" charset="-120"/>
              </a:rPr>
              <a:t>前回は「大手ゼネコン向けイベントの合格枠から漏れた学生」を他社様へご紹介する設計でした。この前提が成立しませんでした。</a:t>
            </a:r>
            <a:endParaRPr lang="en-US" sz="1350" dirty="0"/>
          </a:p>
        </p:txBody>
      </p:sp>
      <p:sp>
        <p:nvSpPr>
          <p:cNvPr id="6" name="Shape 4"/>
          <p:cNvSpPr/>
          <p:nvPr/>
        </p:nvSpPr>
        <p:spPr>
          <a:xfrm>
            <a:off x="548640" y="2286000"/>
            <a:ext cx="5387188" cy="2487168"/>
          </a:xfrm>
          <a:prstGeom prst="roundRect">
            <a:avLst>
              <a:gd name="adj" fmla="val 1838"/>
            </a:avLst>
          </a:prstGeom>
          <a:solidFill>
            <a:srgbClr val="F2F4F7"/>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7" name="Shape 5"/>
          <p:cNvSpPr/>
          <p:nvPr/>
        </p:nvSpPr>
        <p:spPr>
          <a:xfrm>
            <a:off x="822960" y="2578608"/>
            <a:ext cx="274320" cy="274320"/>
          </a:xfrm>
          <a:prstGeom prst="roundRect">
            <a:avLst>
              <a:gd name="adj" fmla="val 10000"/>
            </a:avLst>
          </a:prstGeom>
          <a:solidFill>
            <a:srgbClr val="8A97A8"/>
          </a:solidFill>
          <a:ln w="12700">
            <a:solidFill>
              <a:srgbClr val="8A97A8"/>
            </a:solidFill>
            <a:prstDash val="solid"/>
          </a:ln>
        </p:spPr>
      </p:sp>
      <p:sp>
        <p:nvSpPr>
          <p:cNvPr id="8" name="Text 6"/>
          <p:cNvSpPr txBox="1"/>
          <p:nvPr/>
        </p:nvSpPr>
        <p:spPr>
          <a:xfrm>
            <a:off x="822960" y="2578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9" name="Text 7"/>
          <p:cNvSpPr txBox="1"/>
          <p:nvPr/>
        </p:nvSpPr>
        <p:spPr>
          <a:xfrm>
            <a:off x="1207008" y="2578608"/>
            <a:ext cx="4472788" cy="274320"/>
          </a:xfrm>
          <a:prstGeom prst="rect">
            <a:avLst/>
          </a:prstGeom>
          <a:noFill/>
          <a:ln/>
        </p:spPr>
        <p:txBody>
          <a:bodyPr wrap="square" lIns="0" tIns="0" rIns="0" bIns="0" rtlCol="0" anchor="ctr"/>
          <a:lstStyle/>
          <a:p>
            <a:pPr algn="l" indent="0" marL="0">
              <a:lnSpc>
                <a:spcPts val="2080"/>
              </a:lnSpc>
              <a:buNone/>
            </a:pPr>
            <a:r>
              <a:rPr lang="en-US" sz="1300" b="1" dirty="0">
                <a:solidFill>
                  <a:srgbClr val="1A2230"/>
                </a:solidFill>
                <a:latin typeface="Meiryo" pitchFamily="34" charset="0"/>
                <a:ea typeface="Meiryo" pitchFamily="34" charset="-122"/>
                <a:cs typeface="Meiryo" pitchFamily="34" charset="-120"/>
              </a:rPr>
              <a:t>前回の設計</a:t>
            </a:r>
            <a:endParaRPr lang="en-US" sz="1300" dirty="0"/>
          </a:p>
        </p:txBody>
      </p:sp>
      <p:sp>
        <p:nvSpPr>
          <p:cNvPr id="10" name="Text 8"/>
          <p:cNvSpPr txBox="1"/>
          <p:nvPr/>
        </p:nvSpPr>
        <p:spPr>
          <a:xfrm>
            <a:off x="841248" y="3127248"/>
            <a:ext cx="4801972" cy="1463040"/>
          </a:xfrm>
          <a:prstGeom prst="rect">
            <a:avLst/>
          </a:prstGeom>
          <a:noFill/>
          <a:ln/>
        </p:spPr>
        <p:txBody>
          <a:bodyPr wrap="square" lIns="0" tIns="0" rIns="0" bIns="0" rtlCol="0" anchor="t"/>
          <a:lstStyle/>
          <a:p>
            <a:pPr marL="342900" indent="-342900">
              <a:lnSpc>
                <a:spcPts val="1705"/>
              </a:lnSpc>
              <a:spcAft>
                <a:spcPts val="600"/>
              </a:spcAft>
              <a:buSzPct val="100000"/>
              <a:buChar char="▪"/>
            </a:pPr>
            <a:r>
              <a:rPr lang="en-US" sz="1100" dirty="0">
                <a:solidFill>
                  <a:srgbClr val="5C6878"/>
                </a:solidFill>
                <a:latin typeface="Meiryo" pitchFamily="34" charset="0"/>
                <a:ea typeface="Meiryo" pitchFamily="34" charset="-122"/>
                <a:cs typeface="Meiryo" pitchFamily="34" charset="-120"/>
              </a:rPr>
              <a:t>大手ゼネコン向けの採用イベントで建設系大学生を集客（参加 56名）</a:t>
            </a:r>
            <a:endParaRPr lang="en-US" sz="1100" dirty="0"/>
          </a:p>
          <a:p>
            <a:pPr marL="342900" indent="-342900">
              <a:lnSpc>
                <a:spcPts val="1705"/>
              </a:lnSpc>
              <a:spcAft>
                <a:spcPts val="600"/>
              </a:spcAft>
              <a:buSzPct val="100000"/>
              <a:buChar char="▪"/>
            </a:pPr>
            <a:r>
              <a:rPr lang="en-US" sz="1100" dirty="0">
                <a:solidFill>
                  <a:srgbClr val="5C6878"/>
                </a:solidFill>
                <a:latin typeface="Meiryo" pitchFamily="34" charset="0"/>
                <a:ea typeface="Meiryo" pitchFamily="34" charset="-122"/>
                <a:cs typeface="Meiryo" pitchFamily="34" charset="-120"/>
              </a:rPr>
              <a:t>先行企業の合格枠は最大 4名</a:t>
            </a:r>
            <a:endParaRPr lang="en-US" sz="1100" dirty="0"/>
          </a:p>
          <a:p>
            <a:pPr marL="342900" indent="-342900">
              <a:lnSpc>
                <a:spcPts val="1705"/>
              </a:lnSpc>
              <a:spcAft>
                <a:spcPts val="600"/>
              </a:spcAft>
              <a:buSzPct val="100000"/>
              <a:buChar char="▪"/>
            </a:pPr>
            <a:r>
              <a:rPr lang="en-US" sz="1100" dirty="0">
                <a:solidFill>
                  <a:srgbClr val="5C6878"/>
                </a:solidFill>
                <a:latin typeface="Meiryo" pitchFamily="34" charset="0"/>
                <a:ea typeface="Meiryo" pitchFamily="34" charset="-122"/>
                <a:cs typeface="Meiryo" pitchFamily="34" charset="-120"/>
              </a:rPr>
              <a:t>枠から漏れた 50〜60名を、他の建設会社様へご紹介する想定</a:t>
            </a:r>
            <a:endParaRPr lang="en-US" sz="1100" dirty="0"/>
          </a:p>
        </p:txBody>
      </p:sp>
      <p:sp>
        <p:nvSpPr>
          <p:cNvPr id="11" name="Shape 9"/>
          <p:cNvSpPr/>
          <p:nvPr/>
        </p:nvSpPr>
        <p:spPr>
          <a:xfrm>
            <a:off x="6255868" y="2286000"/>
            <a:ext cx="5387188" cy="2487168"/>
          </a:xfrm>
          <a:prstGeom prst="roundRect">
            <a:avLst>
              <a:gd name="adj" fmla="val 1838"/>
            </a:avLst>
          </a:prstGeom>
          <a:solidFill>
            <a:srgbClr val="FFFFFF"/>
          </a:solidFill>
          <a:ln w="12700">
            <a:solidFill>
              <a:srgbClr val="F3D6DB"/>
            </a:solidFill>
            <a:prstDash val="solid"/>
          </a:ln>
          <a:effectLst>
            <a:outerShdw sx="100000" sy="100000" kx="0" ky="0" algn="bl" rotWithShape="0" blurRad="101600" dist="12700" dir="5400000">
              <a:srgbClr val="0E2244">
                <a:alpha val="8000"/>
              </a:srgbClr>
            </a:outerShdw>
          </a:effectLst>
        </p:spPr>
      </p:sp>
      <p:sp>
        <p:nvSpPr>
          <p:cNvPr id="12" name="Shape 10"/>
          <p:cNvSpPr/>
          <p:nvPr/>
        </p:nvSpPr>
        <p:spPr>
          <a:xfrm>
            <a:off x="6530188" y="2578608"/>
            <a:ext cx="274320" cy="274320"/>
          </a:xfrm>
          <a:prstGeom prst="roundRect">
            <a:avLst>
              <a:gd name="adj" fmla="val 10000"/>
            </a:avLst>
          </a:prstGeom>
          <a:solidFill>
            <a:srgbClr val="C8102E"/>
          </a:solidFill>
          <a:ln w="12700">
            <a:solidFill>
              <a:srgbClr val="C8102E"/>
            </a:solidFill>
            <a:prstDash val="solid"/>
          </a:ln>
        </p:spPr>
      </p:sp>
      <p:sp>
        <p:nvSpPr>
          <p:cNvPr id="13" name="Text 11"/>
          <p:cNvSpPr txBox="1"/>
          <p:nvPr/>
        </p:nvSpPr>
        <p:spPr>
          <a:xfrm>
            <a:off x="6530188" y="2578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14" name="Text 12"/>
          <p:cNvSpPr txBox="1"/>
          <p:nvPr/>
        </p:nvSpPr>
        <p:spPr>
          <a:xfrm>
            <a:off x="6914236" y="2578608"/>
            <a:ext cx="4472788" cy="274320"/>
          </a:xfrm>
          <a:prstGeom prst="rect">
            <a:avLst/>
          </a:prstGeom>
          <a:noFill/>
          <a:ln/>
        </p:spPr>
        <p:txBody>
          <a:bodyPr wrap="square" lIns="0" tIns="0" rIns="0" bIns="0" rtlCol="0" anchor="ctr"/>
          <a:lstStyle/>
          <a:p>
            <a:pPr algn="l" indent="0" marL="0">
              <a:lnSpc>
                <a:spcPts val="2080"/>
              </a:lnSpc>
              <a:buNone/>
            </a:pPr>
            <a:r>
              <a:rPr lang="en-US" sz="1300" b="1" dirty="0">
                <a:solidFill>
                  <a:srgbClr val="C8102E"/>
                </a:solidFill>
                <a:latin typeface="Meiryo" pitchFamily="34" charset="0"/>
                <a:ea typeface="Meiryo" pitchFamily="34" charset="-122"/>
                <a:cs typeface="Meiryo" pitchFamily="34" charset="-120"/>
              </a:rPr>
              <a:t>実際に起きたこと</a:t>
            </a:r>
            <a:endParaRPr lang="en-US" sz="1300" dirty="0"/>
          </a:p>
        </p:txBody>
      </p:sp>
      <p:sp>
        <p:nvSpPr>
          <p:cNvPr id="15" name="Text 13"/>
          <p:cNvSpPr txBox="1"/>
          <p:nvPr/>
        </p:nvSpPr>
        <p:spPr>
          <a:xfrm>
            <a:off x="6548476" y="3127248"/>
            <a:ext cx="4801972" cy="1554480"/>
          </a:xfrm>
          <a:prstGeom prst="rect">
            <a:avLst/>
          </a:prstGeom>
          <a:noFill/>
          <a:ln/>
        </p:spPr>
        <p:txBody>
          <a:bodyPr wrap="square" lIns="0" tIns="0" rIns="0" bIns="0" rtlCol="0" anchor="t"/>
          <a:lstStyle/>
          <a:p>
            <a:pPr marL="342900" indent="-342900">
              <a:lnSpc>
                <a:spcPts val="1705"/>
              </a:lnSpc>
              <a:spcAft>
                <a:spcPts val="600"/>
              </a:spcAft>
              <a:buSzPct val="100000"/>
              <a:buChar char="▪"/>
            </a:pPr>
            <a:r>
              <a:rPr lang="en-US" sz="1100" dirty="0">
                <a:solidFill>
                  <a:srgbClr val="5C6878"/>
                </a:solidFill>
                <a:latin typeface="Meiryo" pitchFamily="34" charset="0"/>
                <a:ea typeface="Meiryo" pitchFamily="34" charset="-122"/>
                <a:cs typeface="Meiryo" pitchFamily="34" charset="-120"/>
              </a:rPr>
              <a:t>学生の応募動機が「大手ゼネコンで働くこと」に強く紐づいていた</a:t>
            </a:r>
            <a:endParaRPr lang="en-US" sz="1100" dirty="0"/>
          </a:p>
          <a:p>
            <a:pPr marL="342900" indent="-342900">
              <a:lnSpc>
                <a:spcPts val="1705"/>
              </a:lnSpc>
              <a:spcAft>
                <a:spcPts val="600"/>
              </a:spcAft>
              <a:buSzPct val="100000"/>
              <a:buChar char="▪"/>
            </a:pPr>
            <a:r>
              <a:rPr lang="en-US" sz="1100" dirty="0">
                <a:solidFill>
                  <a:srgbClr val="5C6878"/>
                </a:solidFill>
                <a:latin typeface="Meiryo" pitchFamily="34" charset="0"/>
                <a:ea typeface="Meiryo" pitchFamily="34" charset="-122"/>
                <a:cs typeface="Meiryo" pitchFamily="34" charset="-120"/>
              </a:rPr>
              <a:t>企業名・事業規模が変わると志望度が続かず、面接まで進まなかった</a:t>
            </a:r>
            <a:endParaRPr lang="en-US" sz="1100" dirty="0"/>
          </a:p>
          <a:p>
            <a:pPr marL="342900" indent="-342900">
              <a:lnSpc>
                <a:spcPts val="1705"/>
              </a:lnSpc>
              <a:spcAft>
                <a:spcPts val="600"/>
              </a:spcAft>
              <a:buSzPct val="100000"/>
              <a:buChar char="▪"/>
            </a:pPr>
            <a:r>
              <a:rPr lang="en-US" sz="1100" dirty="0">
                <a:solidFill>
                  <a:srgbClr val="5C6878"/>
                </a:solidFill>
                <a:latin typeface="Meiryo" pitchFamily="34" charset="0"/>
                <a:ea typeface="Meiryo" pitchFamily="34" charset="-122"/>
                <a:cs typeface="Meiryo" pitchFamily="34" charset="-120"/>
              </a:rPr>
              <a:t>「選ばれなかった学生の受け皿」という位置づけが、学生の納得感を損ねた</a:t>
            </a:r>
            <a:endParaRPr lang="en-US" sz="1100" dirty="0"/>
          </a:p>
        </p:txBody>
      </p:sp>
      <p:sp>
        <p:nvSpPr>
          <p:cNvPr id="16" name="Shape 14"/>
          <p:cNvSpPr/>
          <p:nvPr/>
        </p:nvSpPr>
        <p:spPr>
          <a:xfrm>
            <a:off x="548640" y="5138928"/>
            <a:ext cx="11094415" cy="960120"/>
          </a:xfrm>
          <a:prstGeom prst="rect">
            <a:avLst/>
          </a:prstGeom>
          <a:solidFill>
            <a:srgbClr val="0E2244"/>
          </a:solidFill>
          <a:ln/>
        </p:spPr>
      </p:sp>
      <p:sp>
        <p:nvSpPr>
          <p:cNvPr id="17" name="Text 15"/>
          <p:cNvSpPr txBox="1"/>
          <p:nvPr/>
        </p:nvSpPr>
        <p:spPr>
          <a:xfrm>
            <a:off x="868680" y="5138928"/>
            <a:ext cx="10454335" cy="960120"/>
          </a:xfrm>
          <a:prstGeom prst="rect">
            <a:avLst/>
          </a:prstGeom>
          <a:noFill/>
          <a:ln/>
        </p:spPr>
        <p:txBody>
          <a:bodyPr wrap="square" lIns="0" tIns="0" rIns="0" bIns="0" rtlCol="0" anchor="ctr"/>
          <a:lstStyle/>
          <a:p>
            <a:pPr indent="0" marL="0">
              <a:lnSpc>
                <a:spcPts val="2175"/>
              </a:lnSpc>
              <a:buNone/>
            </a:pPr>
            <a:r>
              <a:rPr lang="en-US" sz="1500" b="1" dirty="0">
                <a:solidFill>
                  <a:srgbClr val="FFFFFF"/>
                </a:solidFill>
                <a:latin typeface="Meiryo" pitchFamily="34" charset="0"/>
                <a:ea typeface="Meiryo" pitchFamily="34" charset="-122"/>
                <a:cs typeface="Meiryo" pitchFamily="34" charset="-120"/>
              </a:rPr>
              <a:t>結論：母集団は「余った学生」から集めるのではなく、はじめから貴社を志望する学生として形成する必要があります。</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050" b="1" spc="200" kern="0" dirty="0">
                <a:solidFill>
                  <a:srgbClr val="C8102E"/>
                </a:solidFill>
                <a:latin typeface="Arial" pitchFamily="34" charset="0"/>
                <a:ea typeface="Arial" pitchFamily="34" charset="-122"/>
                <a:cs typeface="Arial" pitchFamily="34" charset="-120"/>
              </a:rPr>
              <a:t>MODEL SHIFT</a:t>
            </a:r>
            <a:endParaRPr lang="en-US" sz="1050" dirty="0"/>
          </a:p>
        </p:txBody>
      </p:sp>
      <p:sp>
        <p:nvSpPr>
          <p:cNvPr id="3" name="Text 1"/>
          <p:cNvSpPr txBox="1"/>
          <p:nvPr/>
        </p:nvSpPr>
        <p:spPr>
          <a:xfrm>
            <a:off x="548640" y="566928"/>
            <a:ext cx="11094415" cy="566928"/>
          </a:xfrm>
          <a:prstGeom prst="rect">
            <a:avLst/>
          </a:prstGeom>
          <a:noFill/>
          <a:ln/>
        </p:spPr>
        <p:txBody>
          <a:bodyPr wrap="square" lIns="0" tIns="0" rIns="0" bIns="0" rtlCol="0" anchor="t"/>
          <a:lstStyle/>
          <a:p>
            <a:pPr indent="0" marL="0">
              <a:buNone/>
            </a:pPr>
            <a:r>
              <a:rPr lang="en-US" sz="2800" b="1" dirty="0">
                <a:solidFill>
                  <a:srgbClr val="0E2244"/>
                </a:solidFill>
                <a:latin typeface="Meiryo" pitchFamily="34" charset="0"/>
                <a:ea typeface="Meiryo" pitchFamily="34" charset="-122"/>
                <a:cs typeface="Meiryo" pitchFamily="34" charset="-120"/>
              </a:rPr>
              <a:t>集客の起点を「イベント」から「貴社説明会」へ</a:t>
            </a:r>
            <a:endParaRPr lang="en-US" sz="2800" dirty="0"/>
          </a:p>
        </p:txBody>
      </p:sp>
      <p:sp>
        <p:nvSpPr>
          <p:cNvPr id="4" name="Text 2"/>
          <p:cNvSpPr txBox="1"/>
          <p:nvPr/>
        </p:nvSpPr>
        <p:spPr>
          <a:xfrm>
            <a:off x="548640" y="1371600"/>
            <a:ext cx="3657600" cy="256032"/>
          </a:xfrm>
          <a:prstGeom prst="rect">
            <a:avLst/>
          </a:prstGeom>
          <a:noFill/>
          <a:ln/>
        </p:spPr>
        <p:txBody>
          <a:bodyPr wrap="square" lIns="0" tIns="0" rIns="0" bIns="0" rtlCol="0" anchor="ctr"/>
          <a:lstStyle/>
          <a:p>
            <a:pPr indent="0" marL="0">
              <a:buNone/>
            </a:pPr>
            <a:r>
              <a:rPr lang="en-US" sz="1150" b="1" spc="100" kern="0" dirty="0">
                <a:solidFill>
                  <a:srgbClr val="5C6878"/>
                </a:solidFill>
                <a:latin typeface="Meiryo" pitchFamily="34" charset="0"/>
                <a:ea typeface="Meiryo" pitchFamily="34" charset="-122"/>
                <a:cs typeface="Meiryo" pitchFamily="34" charset="-120"/>
              </a:rPr>
              <a:t>BEFORE ／ 前回モデル</a:t>
            </a:r>
            <a:endParaRPr lang="en-US" sz="1150" dirty="0"/>
          </a:p>
        </p:txBody>
      </p:sp>
      <p:sp>
        <p:nvSpPr>
          <p:cNvPr id="5" name="Shape 3"/>
          <p:cNvSpPr/>
          <p:nvPr/>
        </p:nvSpPr>
        <p:spPr>
          <a:xfrm>
            <a:off x="548640" y="1682496"/>
            <a:ext cx="2485568" cy="1627632"/>
          </a:xfrm>
          <a:prstGeom prst="roundRect">
            <a:avLst>
              <a:gd name="adj" fmla="val 2809"/>
            </a:avLst>
          </a:prstGeom>
          <a:solidFill>
            <a:srgbClr val="F2F4F7"/>
          </a:solidFill>
          <a:ln w="12700">
            <a:solidFill>
              <a:srgbClr val="E4E8EE"/>
            </a:solidFill>
            <a:prstDash val="solid"/>
          </a:ln>
          <a:effectLst>
            <a:outerShdw sx="100000" sy="100000" kx="0" ky="0" algn="bl" rotWithShape="0" blurRad="101600" dist="12700" dir="5400000">
              <a:srgbClr val="0E2244">
                <a:alpha val="8000"/>
              </a:srgbClr>
            </a:outerShdw>
          </a:effectLst>
        </p:spPr>
      </p:sp>
      <p:sp>
        <p:nvSpPr>
          <p:cNvPr id="6" name="Text 4"/>
          <p:cNvSpPr txBox="1"/>
          <p:nvPr/>
        </p:nvSpPr>
        <p:spPr>
          <a:xfrm>
            <a:off x="768096" y="1901952"/>
            <a:ext cx="2046656" cy="274320"/>
          </a:xfrm>
          <a:prstGeom prst="rect">
            <a:avLst/>
          </a:prstGeom>
          <a:noFill/>
          <a:ln/>
        </p:spPr>
        <p:txBody>
          <a:bodyPr wrap="square" lIns="0" tIns="0" rIns="0" bIns="0" rtlCol="0" anchor="t"/>
          <a:lstStyle/>
          <a:p>
            <a:pPr algn="l" indent="0" marL="0">
              <a:lnSpc>
                <a:spcPts val="1920"/>
              </a:lnSpc>
              <a:buNone/>
            </a:pPr>
            <a:r>
              <a:rPr lang="en-US" sz="1200" b="1" dirty="0">
                <a:solidFill>
                  <a:srgbClr val="6B7787"/>
                </a:solidFill>
                <a:latin typeface="Meiryo" pitchFamily="34" charset="0"/>
                <a:ea typeface="Meiryo" pitchFamily="34" charset="-122"/>
                <a:cs typeface="Meiryo" pitchFamily="34" charset="-120"/>
              </a:rPr>
              <a:t>合同イベントで集客</a:t>
            </a:r>
            <a:endParaRPr lang="en-US" sz="1200" dirty="0"/>
          </a:p>
        </p:txBody>
      </p:sp>
      <p:sp>
        <p:nvSpPr>
          <p:cNvPr id="7" name="Text 5"/>
          <p:cNvSpPr txBox="1"/>
          <p:nvPr/>
        </p:nvSpPr>
        <p:spPr>
          <a:xfrm>
            <a:off x="768096" y="2286000"/>
            <a:ext cx="2046656" cy="914400"/>
          </a:xfrm>
          <a:prstGeom prst="rect">
            <a:avLst/>
          </a:prstGeom>
          <a:noFill/>
          <a:ln/>
        </p:spPr>
        <p:txBody>
          <a:bodyPr wrap="square" lIns="0" tIns="0" rIns="0" bIns="0" rtlCol="0" anchor="t"/>
          <a:lstStyle/>
          <a:p>
            <a:pPr algn="l" indent="0" marL="0">
              <a:lnSpc>
                <a:spcPts val="1600"/>
              </a:lnSpc>
              <a:buNone/>
            </a:pPr>
            <a:r>
              <a:rPr lang="en-US" sz="1000" dirty="0">
                <a:solidFill>
                  <a:srgbClr val="8A97A8"/>
                </a:solidFill>
                <a:latin typeface="Meiryo" pitchFamily="34" charset="0"/>
                <a:ea typeface="Meiryo" pitchFamily="34" charset="-122"/>
                <a:cs typeface="Meiryo" pitchFamily="34" charset="-120"/>
              </a:rPr>
              <a:t>大手ゼネコン主催の</a:t>
            </a:r>
            <a:endParaRPr lang="en-US" sz="1000" dirty="0"/>
          </a:p>
          <a:p>
            <a:pPr algn="l" indent="0" marL="0">
              <a:lnSpc>
                <a:spcPts val="1600"/>
              </a:lnSpc>
              <a:buNone/>
            </a:pPr>
            <a:r>
              <a:rPr lang="en-US" sz="1000" dirty="0">
                <a:solidFill>
                  <a:srgbClr val="8A97A8"/>
                </a:solidFill>
                <a:latin typeface="Meiryo" pitchFamily="34" charset="0"/>
                <a:ea typeface="Meiryo" pitchFamily="34" charset="-122"/>
                <a:cs typeface="Meiryo" pitchFamily="34" charset="-120"/>
              </a:rPr>
              <a:t>イベントに学生が集まる</a:t>
            </a:r>
            <a:endParaRPr lang="en-US" sz="1000" dirty="0"/>
          </a:p>
        </p:txBody>
      </p:sp>
      <p:sp>
        <p:nvSpPr>
          <p:cNvPr id="8" name="Shape 6"/>
          <p:cNvSpPr/>
          <p:nvPr/>
        </p:nvSpPr>
        <p:spPr>
          <a:xfrm>
            <a:off x="3116504" y="2414016"/>
            <a:ext cx="219456" cy="164592"/>
          </a:xfrm>
          <a:prstGeom prst="rightArrow">
            <a:avLst/>
          </a:prstGeom>
          <a:solidFill>
            <a:srgbClr val="B9C3CF"/>
          </a:solidFill>
          <a:ln w="12700">
            <a:solidFill>
              <a:srgbClr val="B9C3CF"/>
            </a:solidFill>
            <a:prstDash val="solid"/>
          </a:ln>
        </p:spPr>
      </p:sp>
      <p:sp>
        <p:nvSpPr>
          <p:cNvPr id="9" name="Shape 7"/>
          <p:cNvSpPr/>
          <p:nvPr/>
        </p:nvSpPr>
        <p:spPr>
          <a:xfrm>
            <a:off x="3418256" y="1682496"/>
            <a:ext cx="2485568" cy="1627632"/>
          </a:xfrm>
          <a:prstGeom prst="roundRect">
            <a:avLst>
              <a:gd name="adj" fmla="val 2809"/>
            </a:avLst>
          </a:prstGeom>
          <a:solidFill>
            <a:srgbClr val="F2F4F7"/>
          </a:solidFill>
          <a:ln w="12700">
            <a:solidFill>
              <a:srgbClr val="E4E8EE"/>
            </a:solidFill>
            <a:prstDash val="solid"/>
          </a:ln>
          <a:effectLst>
            <a:outerShdw sx="100000" sy="100000" kx="0" ky="0" algn="bl" rotWithShape="0" blurRad="101600" dist="12700" dir="5400000">
              <a:srgbClr val="0E2244">
                <a:alpha val="8000"/>
              </a:srgbClr>
            </a:outerShdw>
          </a:effectLst>
        </p:spPr>
      </p:sp>
      <p:sp>
        <p:nvSpPr>
          <p:cNvPr id="10" name="Text 8"/>
          <p:cNvSpPr txBox="1"/>
          <p:nvPr/>
        </p:nvSpPr>
        <p:spPr>
          <a:xfrm>
            <a:off x="3637712" y="1901952"/>
            <a:ext cx="2046656" cy="274320"/>
          </a:xfrm>
          <a:prstGeom prst="rect">
            <a:avLst/>
          </a:prstGeom>
          <a:noFill/>
          <a:ln/>
        </p:spPr>
        <p:txBody>
          <a:bodyPr wrap="square" lIns="0" tIns="0" rIns="0" bIns="0" rtlCol="0" anchor="t"/>
          <a:lstStyle/>
          <a:p>
            <a:pPr algn="l" indent="0" marL="0">
              <a:lnSpc>
                <a:spcPts val="1920"/>
              </a:lnSpc>
              <a:buNone/>
            </a:pPr>
            <a:r>
              <a:rPr lang="en-US" sz="1200" b="1" dirty="0">
                <a:solidFill>
                  <a:srgbClr val="6B7787"/>
                </a:solidFill>
                <a:latin typeface="Meiryo" pitchFamily="34" charset="0"/>
                <a:ea typeface="Meiryo" pitchFamily="34" charset="-122"/>
                <a:cs typeface="Meiryo" pitchFamily="34" charset="-120"/>
              </a:rPr>
              <a:t>先行企業が選考</a:t>
            </a:r>
            <a:endParaRPr lang="en-US" sz="1200" dirty="0"/>
          </a:p>
        </p:txBody>
      </p:sp>
      <p:sp>
        <p:nvSpPr>
          <p:cNvPr id="11" name="Text 9"/>
          <p:cNvSpPr txBox="1"/>
          <p:nvPr/>
        </p:nvSpPr>
        <p:spPr>
          <a:xfrm>
            <a:off x="3637712" y="2286000"/>
            <a:ext cx="2046656" cy="914400"/>
          </a:xfrm>
          <a:prstGeom prst="rect">
            <a:avLst/>
          </a:prstGeom>
          <a:noFill/>
          <a:ln/>
        </p:spPr>
        <p:txBody>
          <a:bodyPr wrap="square" lIns="0" tIns="0" rIns="0" bIns="0" rtlCol="0" anchor="t"/>
          <a:lstStyle/>
          <a:p>
            <a:pPr algn="l" indent="0" marL="0">
              <a:lnSpc>
                <a:spcPts val="1600"/>
              </a:lnSpc>
              <a:buNone/>
            </a:pPr>
            <a:r>
              <a:rPr lang="en-US" sz="1000" dirty="0">
                <a:solidFill>
                  <a:srgbClr val="8A97A8"/>
                </a:solidFill>
                <a:latin typeface="Meiryo" pitchFamily="34" charset="0"/>
                <a:ea typeface="Meiryo" pitchFamily="34" charset="-122"/>
                <a:cs typeface="Meiryo" pitchFamily="34" charset="-120"/>
              </a:rPr>
              <a:t>合格枠は最大4名</a:t>
            </a:r>
            <a:endParaRPr lang="en-US" sz="1000" dirty="0"/>
          </a:p>
        </p:txBody>
      </p:sp>
      <p:sp>
        <p:nvSpPr>
          <p:cNvPr id="12" name="Shape 10"/>
          <p:cNvSpPr/>
          <p:nvPr/>
        </p:nvSpPr>
        <p:spPr>
          <a:xfrm>
            <a:off x="5986120" y="2414016"/>
            <a:ext cx="219456" cy="164592"/>
          </a:xfrm>
          <a:prstGeom prst="rightArrow">
            <a:avLst/>
          </a:prstGeom>
          <a:solidFill>
            <a:srgbClr val="B9C3CF"/>
          </a:solidFill>
          <a:ln w="12700">
            <a:solidFill>
              <a:srgbClr val="B9C3CF"/>
            </a:solidFill>
            <a:prstDash val="solid"/>
          </a:ln>
        </p:spPr>
      </p:sp>
      <p:sp>
        <p:nvSpPr>
          <p:cNvPr id="13" name="Shape 11"/>
          <p:cNvSpPr/>
          <p:nvPr/>
        </p:nvSpPr>
        <p:spPr>
          <a:xfrm>
            <a:off x="6287872" y="1682496"/>
            <a:ext cx="2485568" cy="1627632"/>
          </a:xfrm>
          <a:prstGeom prst="roundRect">
            <a:avLst>
              <a:gd name="adj" fmla="val 2809"/>
            </a:avLst>
          </a:prstGeom>
          <a:solidFill>
            <a:srgbClr val="F2F4F7"/>
          </a:solidFill>
          <a:ln w="12700">
            <a:solidFill>
              <a:srgbClr val="E4E8EE"/>
            </a:solidFill>
            <a:prstDash val="solid"/>
          </a:ln>
          <a:effectLst>
            <a:outerShdw sx="100000" sy="100000" kx="0" ky="0" algn="bl" rotWithShape="0" blurRad="101600" dist="12700" dir="5400000">
              <a:srgbClr val="0E2244">
                <a:alpha val="8000"/>
              </a:srgbClr>
            </a:outerShdw>
          </a:effectLst>
        </p:spPr>
      </p:sp>
      <p:sp>
        <p:nvSpPr>
          <p:cNvPr id="14" name="Text 12"/>
          <p:cNvSpPr txBox="1"/>
          <p:nvPr/>
        </p:nvSpPr>
        <p:spPr>
          <a:xfrm>
            <a:off x="6507328" y="1901952"/>
            <a:ext cx="2046656" cy="274320"/>
          </a:xfrm>
          <a:prstGeom prst="rect">
            <a:avLst/>
          </a:prstGeom>
          <a:noFill/>
          <a:ln/>
        </p:spPr>
        <p:txBody>
          <a:bodyPr wrap="square" lIns="0" tIns="0" rIns="0" bIns="0" rtlCol="0" anchor="t"/>
          <a:lstStyle/>
          <a:p>
            <a:pPr algn="l" indent="0" marL="0">
              <a:lnSpc>
                <a:spcPts val="1920"/>
              </a:lnSpc>
              <a:buNone/>
            </a:pPr>
            <a:r>
              <a:rPr lang="en-US" sz="1200" b="1" dirty="0">
                <a:solidFill>
                  <a:srgbClr val="6B7787"/>
                </a:solidFill>
                <a:latin typeface="Meiryo" pitchFamily="34" charset="0"/>
                <a:ea typeface="Meiryo" pitchFamily="34" charset="-122"/>
                <a:cs typeface="Meiryo" pitchFamily="34" charset="-120"/>
              </a:rPr>
              <a:t>不合格者がプール化</a:t>
            </a:r>
            <a:endParaRPr lang="en-US" sz="1200" dirty="0"/>
          </a:p>
        </p:txBody>
      </p:sp>
      <p:sp>
        <p:nvSpPr>
          <p:cNvPr id="15" name="Text 13"/>
          <p:cNvSpPr txBox="1"/>
          <p:nvPr/>
        </p:nvSpPr>
        <p:spPr>
          <a:xfrm>
            <a:off x="6507328" y="2286000"/>
            <a:ext cx="2046656" cy="914400"/>
          </a:xfrm>
          <a:prstGeom prst="rect">
            <a:avLst/>
          </a:prstGeom>
          <a:noFill/>
          <a:ln/>
        </p:spPr>
        <p:txBody>
          <a:bodyPr wrap="square" lIns="0" tIns="0" rIns="0" bIns="0" rtlCol="0" anchor="t"/>
          <a:lstStyle/>
          <a:p>
            <a:pPr algn="l" indent="0" marL="0">
              <a:lnSpc>
                <a:spcPts val="1600"/>
              </a:lnSpc>
              <a:buNone/>
            </a:pPr>
            <a:r>
              <a:rPr lang="en-US" sz="1000" dirty="0">
                <a:solidFill>
                  <a:srgbClr val="8A97A8"/>
                </a:solidFill>
                <a:latin typeface="Meiryo" pitchFamily="34" charset="0"/>
                <a:ea typeface="Meiryo" pitchFamily="34" charset="-122"/>
                <a:cs typeface="Meiryo" pitchFamily="34" charset="-120"/>
              </a:rPr>
              <a:t>50〜60名が待機</a:t>
            </a:r>
            <a:endParaRPr lang="en-US" sz="1000" dirty="0"/>
          </a:p>
        </p:txBody>
      </p:sp>
      <p:sp>
        <p:nvSpPr>
          <p:cNvPr id="16" name="Shape 14"/>
          <p:cNvSpPr/>
          <p:nvPr/>
        </p:nvSpPr>
        <p:spPr>
          <a:xfrm>
            <a:off x="8855735" y="2414016"/>
            <a:ext cx="219456" cy="164592"/>
          </a:xfrm>
          <a:prstGeom prst="rightArrow">
            <a:avLst/>
          </a:prstGeom>
          <a:solidFill>
            <a:srgbClr val="B9C3CF"/>
          </a:solidFill>
          <a:ln w="12700">
            <a:solidFill>
              <a:srgbClr val="B9C3CF"/>
            </a:solidFill>
            <a:prstDash val="solid"/>
          </a:ln>
        </p:spPr>
      </p:sp>
      <p:sp>
        <p:nvSpPr>
          <p:cNvPr id="17" name="Shape 15"/>
          <p:cNvSpPr/>
          <p:nvPr/>
        </p:nvSpPr>
        <p:spPr>
          <a:xfrm>
            <a:off x="9157487" y="1682496"/>
            <a:ext cx="2485568" cy="1627632"/>
          </a:xfrm>
          <a:prstGeom prst="roundRect">
            <a:avLst>
              <a:gd name="adj" fmla="val 2809"/>
            </a:avLst>
          </a:prstGeom>
          <a:solidFill>
            <a:srgbClr val="F2F4F7"/>
          </a:solidFill>
          <a:ln w="12700">
            <a:solidFill>
              <a:srgbClr val="E4E8EE"/>
            </a:solidFill>
            <a:prstDash val="solid"/>
          </a:ln>
          <a:effectLst>
            <a:outerShdw sx="100000" sy="100000" kx="0" ky="0" algn="bl" rotWithShape="0" blurRad="101600" dist="12700" dir="5400000">
              <a:srgbClr val="0E2244">
                <a:alpha val="8000"/>
              </a:srgbClr>
            </a:outerShdw>
          </a:effectLst>
        </p:spPr>
      </p:sp>
      <p:sp>
        <p:nvSpPr>
          <p:cNvPr id="18" name="Text 16"/>
          <p:cNvSpPr txBox="1"/>
          <p:nvPr/>
        </p:nvSpPr>
        <p:spPr>
          <a:xfrm>
            <a:off x="9376943" y="1901952"/>
            <a:ext cx="2046656" cy="274320"/>
          </a:xfrm>
          <a:prstGeom prst="rect">
            <a:avLst/>
          </a:prstGeom>
          <a:noFill/>
          <a:ln/>
        </p:spPr>
        <p:txBody>
          <a:bodyPr wrap="square" lIns="0" tIns="0" rIns="0" bIns="0" rtlCol="0" anchor="t"/>
          <a:lstStyle/>
          <a:p>
            <a:pPr algn="l" indent="0" marL="0">
              <a:lnSpc>
                <a:spcPts val="1920"/>
              </a:lnSpc>
              <a:buNone/>
            </a:pPr>
            <a:r>
              <a:rPr lang="en-US" sz="1200" b="1" dirty="0">
                <a:solidFill>
                  <a:srgbClr val="C8102E"/>
                </a:solidFill>
                <a:latin typeface="Meiryo" pitchFamily="34" charset="0"/>
                <a:ea typeface="Meiryo" pitchFamily="34" charset="-122"/>
                <a:cs typeface="Meiryo" pitchFamily="34" charset="-120"/>
              </a:rPr>
              <a:t>他社様へご紹介</a:t>
            </a:r>
            <a:endParaRPr lang="en-US" sz="1200" dirty="0"/>
          </a:p>
        </p:txBody>
      </p:sp>
      <p:sp>
        <p:nvSpPr>
          <p:cNvPr id="19" name="Text 17"/>
          <p:cNvSpPr txBox="1"/>
          <p:nvPr/>
        </p:nvSpPr>
        <p:spPr>
          <a:xfrm>
            <a:off x="9376943" y="2286000"/>
            <a:ext cx="2046656" cy="914400"/>
          </a:xfrm>
          <a:prstGeom prst="rect">
            <a:avLst/>
          </a:prstGeom>
          <a:noFill/>
          <a:ln/>
        </p:spPr>
        <p:txBody>
          <a:bodyPr wrap="square" lIns="0" tIns="0" rIns="0" bIns="0" rtlCol="0" anchor="t"/>
          <a:lstStyle/>
          <a:p>
            <a:pPr algn="l" indent="0" marL="0">
              <a:lnSpc>
                <a:spcPts val="1600"/>
              </a:lnSpc>
              <a:buNone/>
            </a:pPr>
            <a:r>
              <a:rPr lang="en-US" sz="1000" dirty="0">
                <a:solidFill>
                  <a:srgbClr val="8A97A8"/>
                </a:solidFill>
                <a:latin typeface="Meiryo" pitchFamily="34" charset="0"/>
                <a:ea typeface="Meiryo" pitchFamily="34" charset="-122"/>
                <a:cs typeface="Meiryo" pitchFamily="34" charset="-120"/>
              </a:rPr>
              <a:t>志望動機が接続せず</a:t>
            </a:r>
            <a:endParaRPr lang="en-US" sz="1000" dirty="0"/>
          </a:p>
          <a:p>
            <a:pPr algn="l" indent="0" marL="0">
              <a:lnSpc>
                <a:spcPts val="1600"/>
              </a:lnSpc>
              <a:buNone/>
            </a:pPr>
            <a:r>
              <a:rPr lang="en-US" sz="1000" dirty="0">
                <a:solidFill>
                  <a:srgbClr val="8A97A8"/>
                </a:solidFill>
                <a:latin typeface="Meiryo" pitchFamily="34" charset="0"/>
                <a:ea typeface="Meiryo" pitchFamily="34" charset="-122"/>
                <a:cs typeface="Meiryo" pitchFamily="34" charset="-120"/>
              </a:rPr>
              <a:t>マッチングに至らない</a:t>
            </a:r>
            <a:endParaRPr lang="en-US" sz="1000" dirty="0"/>
          </a:p>
        </p:txBody>
      </p:sp>
      <p:sp>
        <p:nvSpPr>
          <p:cNvPr id="20" name="Text 18"/>
          <p:cNvSpPr txBox="1"/>
          <p:nvPr/>
        </p:nvSpPr>
        <p:spPr>
          <a:xfrm>
            <a:off x="548640" y="3493008"/>
            <a:ext cx="11094415" cy="274320"/>
          </a:xfrm>
          <a:prstGeom prst="rect">
            <a:avLst/>
          </a:prstGeom>
          <a:noFill/>
          <a:ln/>
        </p:spPr>
        <p:txBody>
          <a:bodyPr wrap="square" lIns="0" tIns="0" rIns="0" bIns="0" rtlCol="0" anchor="ctr"/>
          <a:lstStyle/>
          <a:p>
            <a:pPr indent="0" marL="0">
              <a:buNone/>
            </a:pPr>
            <a:r>
              <a:rPr lang="en-US" sz="1150" b="1" dirty="0">
                <a:solidFill>
                  <a:srgbClr val="C8102E"/>
                </a:solidFill>
                <a:latin typeface="Meiryo" pitchFamily="34" charset="0"/>
                <a:ea typeface="Meiryo" pitchFamily="34" charset="-122"/>
                <a:cs typeface="Meiryo" pitchFamily="34" charset="-120"/>
              </a:rPr>
              <a:t>✕　母集団の志望動機が、紹介先の企業に引き継がれなかった</a:t>
            </a:r>
            <a:endParaRPr lang="en-US" sz="1150" dirty="0"/>
          </a:p>
        </p:txBody>
      </p:sp>
      <p:sp>
        <p:nvSpPr>
          <p:cNvPr id="21" name="Text 19"/>
          <p:cNvSpPr txBox="1"/>
          <p:nvPr/>
        </p:nvSpPr>
        <p:spPr>
          <a:xfrm>
            <a:off x="548640" y="3950208"/>
            <a:ext cx="3657600" cy="256032"/>
          </a:xfrm>
          <a:prstGeom prst="rect">
            <a:avLst/>
          </a:prstGeom>
          <a:noFill/>
          <a:ln/>
        </p:spPr>
        <p:txBody>
          <a:bodyPr wrap="square" lIns="0" tIns="0" rIns="0" bIns="0" rtlCol="0" anchor="ctr"/>
          <a:lstStyle/>
          <a:p>
            <a:pPr indent="0" marL="0">
              <a:buNone/>
            </a:pPr>
            <a:r>
              <a:rPr lang="en-US" sz="1150" b="1" spc="100" kern="0" dirty="0">
                <a:solidFill>
                  <a:srgbClr val="0E2244"/>
                </a:solidFill>
                <a:latin typeface="Meiryo" pitchFamily="34" charset="0"/>
                <a:ea typeface="Meiryo" pitchFamily="34" charset="-122"/>
                <a:cs typeface="Meiryo" pitchFamily="34" charset="-120"/>
              </a:rPr>
              <a:t>AFTER ／ 今回のご提案</a:t>
            </a:r>
            <a:endParaRPr lang="en-US" sz="1150" dirty="0"/>
          </a:p>
        </p:txBody>
      </p:sp>
      <p:sp>
        <p:nvSpPr>
          <p:cNvPr id="22" name="Shape 20"/>
          <p:cNvSpPr/>
          <p:nvPr/>
        </p:nvSpPr>
        <p:spPr>
          <a:xfrm>
            <a:off x="548640" y="4224528"/>
            <a:ext cx="1999427" cy="1627632"/>
          </a:xfrm>
          <a:prstGeom prst="roundRect">
            <a:avLst>
              <a:gd name="adj" fmla="val 2809"/>
            </a:avLst>
          </a:prstGeom>
          <a:solidFill>
            <a:srgbClr val="FFFFFF"/>
          </a:solidFill>
          <a:ln w="12700">
            <a:solidFill>
              <a:srgbClr val="CBD6E4"/>
            </a:solidFill>
            <a:prstDash val="solid"/>
          </a:ln>
          <a:effectLst>
            <a:outerShdw sx="100000" sy="100000" kx="0" ky="0" algn="bl" rotWithShape="0" blurRad="101600" dist="12700" dir="5400000">
              <a:srgbClr val="0E2244">
                <a:alpha val="8000"/>
              </a:srgbClr>
            </a:outerShdw>
          </a:effectLst>
        </p:spPr>
      </p:sp>
      <p:sp>
        <p:nvSpPr>
          <p:cNvPr id="23" name="Shape 21"/>
          <p:cNvSpPr/>
          <p:nvPr/>
        </p:nvSpPr>
        <p:spPr>
          <a:xfrm>
            <a:off x="731520" y="4425696"/>
            <a:ext cx="237744" cy="237744"/>
          </a:xfrm>
          <a:prstGeom prst="roundRect">
            <a:avLst>
              <a:gd name="adj" fmla="val 11538"/>
            </a:avLst>
          </a:prstGeom>
          <a:solidFill>
            <a:srgbClr val="0E2244"/>
          </a:solidFill>
          <a:ln w="12700">
            <a:solidFill>
              <a:srgbClr val="0E2244"/>
            </a:solidFill>
            <a:prstDash val="solid"/>
          </a:ln>
        </p:spPr>
      </p:sp>
      <p:sp>
        <p:nvSpPr>
          <p:cNvPr id="24" name="Text 22"/>
          <p:cNvSpPr txBox="1"/>
          <p:nvPr/>
        </p:nvSpPr>
        <p:spPr>
          <a:xfrm>
            <a:off x="731520" y="442569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01</a:t>
            </a:r>
            <a:endParaRPr lang="en-US" sz="900" dirty="0"/>
          </a:p>
        </p:txBody>
      </p:sp>
      <p:sp>
        <p:nvSpPr>
          <p:cNvPr id="25" name="Text 23"/>
          <p:cNvSpPr txBox="1"/>
          <p:nvPr/>
        </p:nvSpPr>
        <p:spPr>
          <a:xfrm>
            <a:off x="731520" y="4773168"/>
            <a:ext cx="1633667" cy="310896"/>
          </a:xfrm>
          <a:prstGeom prst="rect">
            <a:avLst/>
          </a:prstGeom>
          <a:noFill/>
          <a:ln/>
        </p:spPr>
        <p:txBody>
          <a:bodyPr wrap="square" lIns="0" tIns="0" rIns="0" bIns="0" rtlCol="0" anchor="t"/>
          <a:lstStyle/>
          <a:p>
            <a:pPr algn="l" indent="0" marL="0">
              <a:lnSpc>
                <a:spcPts val="1840"/>
              </a:lnSpc>
              <a:buNone/>
            </a:pPr>
            <a:r>
              <a:rPr lang="en-US" sz="1150" b="1" dirty="0">
                <a:solidFill>
                  <a:srgbClr val="0E2244"/>
                </a:solidFill>
                <a:latin typeface="Meiryo" pitchFamily="34" charset="0"/>
                <a:ea typeface="Meiryo" pitchFamily="34" charset="-122"/>
                <a:cs typeface="Meiryo" pitchFamily="34" charset="-120"/>
              </a:rPr>
              <a:t>貴社専用説明会</a:t>
            </a:r>
            <a:endParaRPr lang="en-US" sz="1150" dirty="0"/>
          </a:p>
        </p:txBody>
      </p:sp>
      <p:sp>
        <p:nvSpPr>
          <p:cNvPr id="26" name="Text 24"/>
          <p:cNvSpPr txBox="1"/>
          <p:nvPr/>
        </p:nvSpPr>
        <p:spPr>
          <a:xfrm>
            <a:off x="731520" y="5138928"/>
            <a:ext cx="1633667" cy="868680"/>
          </a:xfrm>
          <a:prstGeom prst="rect">
            <a:avLst/>
          </a:prstGeom>
          <a:noFill/>
          <a:ln/>
        </p:spPr>
        <p:txBody>
          <a:bodyPr wrap="square" lIns="0" tIns="0" rIns="0" bIns="0" rtlCol="0" anchor="t"/>
          <a:lstStyle/>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提携大学のキャンパスで</a:t>
            </a:r>
            <a:endParaRPr lang="en-US" sz="1000" dirty="0"/>
          </a:p>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貴社単独で開催</a:t>
            </a:r>
            <a:endParaRPr lang="en-US" sz="1000" dirty="0"/>
          </a:p>
        </p:txBody>
      </p:sp>
      <p:sp>
        <p:nvSpPr>
          <p:cNvPr id="27" name="Shape 25"/>
          <p:cNvSpPr/>
          <p:nvPr/>
        </p:nvSpPr>
        <p:spPr>
          <a:xfrm>
            <a:off x="2575499" y="4956048"/>
            <a:ext cx="219456" cy="164592"/>
          </a:xfrm>
          <a:prstGeom prst="rightArrow">
            <a:avLst/>
          </a:prstGeom>
          <a:solidFill>
            <a:srgbClr val="0E2244"/>
          </a:solidFill>
          <a:ln w="12700">
            <a:solidFill>
              <a:srgbClr val="0E2244"/>
            </a:solidFill>
            <a:prstDash val="solid"/>
          </a:ln>
        </p:spPr>
      </p:sp>
      <p:sp>
        <p:nvSpPr>
          <p:cNvPr id="28" name="Shape 26"/>
          <p:cNvSpPr/>
          <p:nvPr/>
        </p:nvSpPr>
        <p:spPr>
          <a:xfrm>
            <a:off x="2822387" y="4224528"/>
            <a:ext cx="1999427" cy="1627632"/>
          </a:xfrm>
          <a:prstGeom prst="roundRect">
            <a:avLst>
              <a:gd name="adj" fmla="val 2809"/>
            </a:avLst>
          </a:prstGeom>
          <a:solidFill>
            <a:srgbClr val="FFFFFF"/>
          </a:solidFill>
          <a:ln w="12700">
            <a:solidFill>
              <a:srgbClr val="CBD6E4"/>
            </a:solidFill>
            <a:prstDash val="solid"/>
          </a:ln>
          <a:effectLst>
            <a:outerShdw sx="100000" sy="100000" kx="0" ky="0" algn="bl" rotWithShape="0" blurRad="101600" dist="12700" dir="5400000">
              <a:srgbClr val="0E2244">
                <a:alpha val="8000"/>
              </a:srgbClr>
            </a:outerShdw>
          </a:effectLst>
        </p:spPr>
      </p:sp>
      <p:sp>
        <p:nvSpPr>
          <p:cNvPr id="29" name="Shape 27"/>
          <p:cNvSpPr/>
          <p:nvPr/>
        </p:nvSpPr>
        <p:spPr>
          <a:xfrm>
            <a:off x="3005267" y="4425696"/>
            <a:ext cx="237744" cy="237744"/>
          </a:xfrm>
          <a:prstGeom prst="roundRect">
            <a:avLst>
              <a:gd name="adj" fmla="val 11538"/>
            </a:avLst>
          </a:prstGeom>
          <a:solidFill>
            <a:srgbClr val="0E2244"/>
          </a:solidFill>
          <a:ln w="12700">
            <a:solidFill>
              <a:srgbClr val="0E2244"/>
            </a:solidFill>
            <a:prstDash val="solid"/>
          </a:ln>
        </p:spPr>
      </p:sp>
      <p:sp>
        <p:nvSpPr>
          <p:cNvPr id="30" name="Text 28"/>
          <p:cNvSpPr txBox="1"/>
          <p:nvPr/>
        </p:nvSpPr>
        <p:spPr>
          <a:xfrm>
            <a:off x="3005267" y="442569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02</a:t>
            </a:r>
            <a:endParaRPr lang="en-US" sz="900" dirty="0"/>
          </a:p>
        </p:txBody>
      </p:sp>
      <p:sp>
        <p:nvSpPr>
          <p:cNvPr id="31" name="Text 29"/>
          <p:cNvSpPr txBox="1"/>
          <p:nvPr/>
        </p:nvSpPr>
        <p:spPr>
          <a:xfrm>
            <a:off x="3005267" y="4773168"/>
            <a:ext cx="1633667" cy="310896"/>
          </a:xfrm>
          <a:prstGeom prst="rect">
            <a:avLst/>
          </a:prstGeom>
          <a:noFill/>
          <a:ln/>
        </p:spPr>
        <p:txBody>
          <a:bodyPr wrap="square" lIns="0" tIns="0" rIns="0" bIns="0" rtlCol="0" anchor="t"/>
          <a:lstStyle/>
          <a:p>
            <a:pPr algn="l" indent="0" marL="0">
              <a:lnSpc>
                <a:spcPts val="1840"/>
              </a:lnSpc>
              <a:buNone/>
            </a:pPr>
            <a:r>
              <a:rPr lang="en-US" sz="1150" b="1" dirty="0">
                <a:solidFill>
                  <a:srgbClr val="0E2244"/>
                </a:solidFill>
                <a:latin typeface="Meiryo" pitchFamily="34" charset="0"/>
                <a:ea typeface="Meiryo" pitchFamily="34" charset="-122"/>
                <a:cs typeface="Meiryo" pitchFamily="34" charset="-120"/>
              </a:rPr>
              <a:t>志望学生がエントリー</a:t>
            </a:r>
            <a:endParaRPr lang="en-US" sz="1150" dirty="0"/>
          </a:p>
        </p:txBody>
      </p:sp>
      <p:sp>
        <p:nvSpPr>
          <p:cNvPr id="32" name="Text 30"/>
          <p:cNvSpPr txBox="1"/>
          <p:nvPr/>
        </p:nvSpPr>
        <p:spPr>
          <a:xfrm>
            <a:off x="3005267" y="5138928"/>
            <a:ext cx="1633667" cy="868680"/>
          </a:xfrm>
          <a:prstGeom prst="rect">
            <a:avLst/>
          </a:prstGeom>
          <a:noFill/>
          <a:ln/>
        </p:spPr>
        <p:txBody>
          <a:bodyPr wrap="square" lIns="0" tIns="0" rIns="0" bIns="0" rtlCol="0" anchor="t"/>
          <a:lstStyle/>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事前エントリー制で</a:t>
            </a:r>
            <a:endParaRPr lang="en-US" sz="1000" dirty="0"/>
          </a:p>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志望理由を提出</a:t>
            </a:r>
            <a:endParaRPr lang="en-US" sz="1000" dirty="0"/>
          </a:p>
        </p:txBody>
      </p:sp>
      <p:sp>
        <p:nvSpPr>
          <p:cNvPr id="33" name="Shape 31"/>
          <p:cNvSpPr/>
          <p:nvPr/>
        </p:nvSpPr>
        <p:spPr>
          <a:xfrm>
            <a:off x="4849246" y="4956048"/>
            <a:ext cx="219456" cy="164592"/>
          </a:xfrm>
          <a:prstGeom prst="rightArrow">
            <a:avLst/>
          </a:prstGeom>
          <a:solidFill>
            <a:srgbClr val="0E2244"/>
          </a:solidFill>
          <a:ln w="12700">
            <a:solidFill>
              <a:srgbClr val="0E2244"/>
            </a:solidFill>
            <a:prstDash val="solid"/>
          </a:ln>
        </p:spPr>
      </p:sp>
      <p:sp>
        <p:nvSpPr>
          <p:cNvPr id="34" name="Shape 32"/>
          <p:cNvSpPr/>
          <p:nvPr/>
        </p:nvSpPr>
        <p:spPr>
          <a:xfrm>
            <a:off x="5096134" y="4224528"/>
            <a:ext cx="1999427" cy="1627632"/>
          </a:xfrm>
          <a:prstGeom prst="roundRect">
            <a:avLst>
              <a:gd name="adj" fmla="val 2809"/>
            </a:avLst>
          </a:prstGeom>
          <a:solidFill>
            <a:srgbClr val="FFFFFF"/>
          </a:solidFill>
          <a:ln w="12700">
            <a:solidFill>
              <a:srgbClr val="CBD6E4"/>
            </a:solidFill>
            <a:prstDash val="solid"/>
          </a:ln>
          <a:effectLst>
            <a:outerShdw sx="100000" sy="100000" kx="0" ky="0" algn="bl" rotWithShape="0" blurRad="101600" dist="12700" dir="5400000">
              <a:srgbClr val="0E2244">
                <a:alpha val="8000"/>
              </a:srgbClr>
            </a:outerShdw>
          </a:effectLst>
        </p:spPr>
      </p:sp>
      <p:sp>
        <p:nvSpPr>
          <p:cNvPr id="35" name="Shape 33"/>
          <p:cNvSpPr/>
          <p:nvPr/>
        </p:nvSpPr>
        <p:spPr>
          <a:xfrm>
            <a:off x="5279014" y="4425696"/>
            <a:ext cx="237744" cy="237744"/>
          </a:xfrm>
          <a:prstGeom prst="roundRect">
            <a:avLst>
              <a:gd name="adj" fmla="val 11538"/>
            </a:avLst>
          </a:prstGeom>
          <a:solidFill>
            <a:srgbClr val="0E2244"/>
          </a:solidFill>
          <a:ln w="12700">
            <a:solidFill>
              <a:srgbClr val="0E2244"/>
            </a:solidFill>
            <a:prstDash val="solid"/>
          </a:ln>
        </p:spPr>
      </p:sp>
      <p:sp>
        <p:nvSpPr>
          <p:cNvPr id="36" name="Text 34"/>
          <p:cNvSpPr txBox="1"/>
          <p:nvPr/>
        </p:nvSpPr>
        <p:spPr>
          <a:xfrm>
            <a:off x="5279014" y="442569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03</a:t>
            </a:r>
            <a:endParaRPr lang="en-US" sz="900" dirty="0"/>
          </a:p>
        </p:txBody>
      </p:sp>
      <p:sp>
        <p:nvSpPr>
          <p:cNvPr id="37" name="Text 35"/>
          <p:cNvSpPr txBox="1"/>
          <p:nvPr/>
        </p:nvSpPr>
        <p:spPr>
          <a:xfrm>
            <a:off x="5279014" y="4773168"/>
            <a:ext cx="1633667" cy="310896"/>
          </a:xfrm>
          <a:prstGeom prst="rect">
            <a:avLst/>
          </a:prstGeom>
          <a:noFill/>
          <a:ln/>
        </p:spPr>
        <p:txBody>
          <a:bodyPr wrap="square" lIns="0" tIns="0" rIns="0" bIns="0" rtlCol="0" anchor="t"/>
          <a:lstStyle/>
          <a:p>
            <a:pPr algn="l" indent="0" marL="0">
              <a:lnSpc>
                <a:spcPts val="1840"/>
              </a:lnSpc>
              <a:buNone/>
            </a:pPr>
            <a:r>
              <a:rPr lang="en-US" sz="1150" b="1" dirty="0">
                <a:solidFill>
                  <a:srgbClr val="0E2244"/>
                </a:solidFill>
                <a:latin typeface="Meiryo" pitchFamily="34" charset="0"/>
                <a:ea typeface="Meiryo" pitchFamily="34" charset="-122"/>
                <a:cs typeface="Meiryo" pitchFamily="34" charset="-120"/>
              </a:rPr>
              <a:t>選考・最終面接</a:t>
            </a:r>
            <a:endParaRPr lang="en-US" sz="1150" dirty="0"/>
          </a:p>
        </p:txBody>
      </p:sp>
      <p:sp>
        <p:nvSpPr>
          <p:cNvPr id="38" name="Text 36"/>
          <p:cNvSpPr txBox="1"/>
          <p:nvPr/>
        </p:nvSpPr>
        <p:spPr>
          <a:xfrm>
            <a:off x="5279014" y="5138928"/>
            <a:ext cx="1633667" cy="868680"/>
          </a:xfrm>
          <a:prstGeom prst="rect">
            <a:avLst/>
          </a:prstGeom>
          <a:noFill/>
          <a:ln/>
        </p:spPr>
        <p:txBody>
          <a:bodyPr wrap="square" lIns="0" tIns="0" rIns="0" bIns="0" rtlCol="0" anchor="t"/>
          <a:lstStyle/>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貴社が直接面接し</a:t>
            </a:r>
            <a:endParaRPr lang="en-US" sz="1000" dirty="0"/>
          </a:p>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内定を通知</a:t>
            </a:r>
            <a:endParaRPr lang="en-US" sz="1000" dirty="0"/>
          </a:p>
        </p:txBody>
      </p:sp>
      <p:sp>
        <p:nvSpPr>
          <p:cNvPr id="39" name="Shape 37"/>
          <p:cNvSpPr/>
          <p:nvPr/>
        </p:nvSpPr>
        <p:spPr>
          <a:xfrm>
            <a:off x="7122993" y="4956048"/>
            <a:ext cx="219456" cy="164592"/>
          </a:xfrm>
          <a:prstGeom prst="rightArrow">
            <a:avLst/>
          </a:prstGeom>
          <a:solidFill>
            <a:srgbClr val="0E2244"/>
          </a:solidFill>
          <a:ln w="12700">
            <a:solidFill>
              <a:srgbClr val="0E2244"/>
            </a:solidFill>
            <a:prstDash val="solid"/>
          </a:ln>
        </p:spPr>
      </p:sp>
      <p:sp>
        <p:nvSpPr>
          <p:cNvPr id="40" name="Shape 38"/>
          <p:cNvSpPr/>
          <p:nvPr/>
        </p:nvSpPr>
        <p:spPr>
          <a:xfrm>
            <a:off x="7369881" y="4224528"/>
            <a:ext cx="1999427" cy="1627632"/>
          </a:xfrm>
          <a:prstGeom prst="roundRect">
            <a:avLst>
              <a:gd name="adj" fmla="val 2809"/>
            </a:avLst>
          </a:prstGeom>
          <a:solidFill>
            <a:srgbClr val="FFFFFF"/>
          </a:solidFill>
          <a:ln w="12700">
            <a:solidFill>
              <a:srgbClr val="CBD6E4"/>
            </a:solidFill>
            <a:prstDash val="solid"/>
          </a:ln>
          <a:effectLst>
            <a:outerShdw sx="100000" sy="100000" kx="0" ky="0" algn="bl" rotWithShape="0" blurRad="101600" dist="12700" dir="5400000">
              <a:srgbClr val="0E2244">
                <a:alpha val="8000"/>
              </a:srgbClr>
            </a:outerShdw>
          </a:effectLst>
        </p:spPr>
      </p:sp>
      <p:sp>
        <p:nvSpPr>
          <p:cNvPr id="41" name="Shape 39"/>
          <p:cNvSpPr/>
          <p:nvPr/>
        </p:nvSpPr>
        <p:spPr>
          <a:xfrm>
            <a:off x="7552761" y="4425696"/>
            <a:ext cx="237744" cy="237744"/>
          </a:xfrm>
          <a:prstGeom prst="roundRect">
            <a:avLst>
              <a:gd name="adj" fmla="val 11538"/>
            </a:avLst>
          </a:prstGeom>
          <a:solidFill>
            <a:srgbClr val="0E2244"/>
          </a:solidFill>
          <a:ln w="12700">
            <a:solidFill>
              <a:srgbClr val="0E2244"/>
            </a:solidFill>
            <a:prstDash val="solid"/>
          </a:ln>
        </p:spPr>
      </p:sp>
      <p:sp>
        <p:nvSpPr>
          <p:cNvPr id="42" name="Text 40"/>
          <p:cNvSpPr txBox="1"/>
          <p:nvPr/>
        </p:nvSpPr>
        <p:spPr>
          <a:xfrm>
            <a:off x="7552761" y="442569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04</a:t>
            </a:r>
            <a:endParaRPr lang="en-US" sz="900" dirty="0"/>
          </a:p>
        </p:txBody>
      </p:sp>
      <p:sp>
        <p:nvSpPr>
          <p:cNvPr id="43" name="Text 41"/>
          <p:cNvSpPr txBox="1"/>
          <p:nvPr/>
        </p:nvSpPr>
        <p:spPr>
          <a:xfrm>
            <a:off x="7552761" y="4773168"/>
            <a:ext cx="1633667" cy="310896"/>
          </a:xfrm>
          <a:prstGeom prst="rect">
            <a:avLst/>
          </a:prstGeom>
          <a:noFill/>
          <a:ln/>
        </p:spPr>
        <p:txBody>
          <a:bodyPr wrap="square" lIns="0" tIns="0" rIns="0" bIns="0" rtlCol="0" anchor="t"/>
          <a:lstStyle/>
          <a:p>
            <a:pPr algn="l" indent="0" marL="0">
              <a:lnSpc>
                <a:spcPts val="1840"/>
              </a:lnSpc>
              <a:buNone/>
            </a:pPr>
            <a:r>
              <a:rPr lang="en-US" sz="1150" b="1" dirty="0">
                <a:solidFill>
                  <a:srgbClr val="0E2244"/>
                </a:solidFill>
                <a:latin typeface="Meiryo" pitchFamily="34" charset="0"/>
                <a:ea typeface="Meiryo" pitchFamily="34" charset="-122"/>
                <a:cs typeface="Meiryo" pitchFamily="34" charset="-120"/>
              </a:rPr>
              <a:t>内定・支援開始</a:t>
            </a:r>
            <a:endParaRPr lang="en-US" sz="1150" dirty="0"/>
          </a:p>
        </p:txBody>
      </p:sp>
      <p:sp>
        <p:nvSpPr>
          <p:cNvPr id="44" name="Text 42"/>
          <p:cNvSpPr txBox="1"/>
          <p:nvPr/>
        </p:nvSpPr>
        <p:spPr>
          <a:xfrm>
            <a:off x="7552761" y="5138928"/>
            <a:ext cx="1633667" cy="868680"/>
          </a:xfrm>
          <a:prstGeom prst="rect">
            <a:avLst/>
          </a:prstGeom>
          <a:noFill/>
          <a:ln/>
        </p:spPr>
        <p:txBody>
          <a:bodyPr wrap="square" lIns="0" tIns="0" rIns="0" bIns="0" rtlCol="0" anchor="t"/>
          <a:lstStyle/>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奨学金・生活支援金で</a:t>
            </a:r>
            <a:endParaRPr lang="en-US" sz="1000" dirty="0"/>
          </a:p>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学習期間を支える</a:t>
            </a:r>
            <a:endParaRPr lang="en-US" sz="1000" dirty="0"/>
          </a:p>
        </p:txBody>
      </p:sp>
      <p:sp>
        <p:nvSpPr>
          <p:cNvPr id="45" name="Shape 43"/>
          <p:cNvSpPr/>
          <p:nvPr/>
        </p:nvSpPr>
        <p:spPr>
          <a:xfrm>
            <a:off x="9396740" y="4956048"/>
            <a:ext cx="219456" cy="164592"/>
          </a:xfrm>
          <a:prstGeom prst="rightArrow">
            <a:avLst/>
          </a:prstGeom>
          <a:solidFill>
            <a:srgbClr val="0E2244"/>
          </a:solidFill>
          <a:ln w="12700">
            <a:solidFill>
              <a:srgbClr val="0E2244"/>
            </a:solidFill>
            <a:prstDash val="solid"/>
          </a:ln>
        </p:spPr>
      </p:sp>
      <p:sp>
        <p:nvSpPr>
          <p:cNvPr id="46" name="Shape 44"/>
          <p:cNvSpPr/>
          <p:nvPr/>
        </p:nvSpPr>
        <p:spPr>
          <a:xfrm>
            <a:off x="9643628" y="4224528"/>
            <a:ext cx="1999427" cy="1627632"/>
          </a:xfrm>
          <a:prstGeom prst="roundRect">
            <a:avLst>
              <a:gd name="adj" fmla="val 2809"/>
            </a:avLst>
          </a:prstGeom>
          <a:solidFill>
            <a:srgbClr val="0E2244"/>
          </a:solidFill>
          <a:ln w="12700">
            <a:solidFill>
              <a:srgbClr val="0E2244"/>
            </a:solidFill>
            <a:prstDash val="solid"/>
          </a:ln>
          <a:effectLst>
            <a:outerShdw sx="100000" sy="100000" kx="0" ky="0" algn="bl" rotWithShape="0" blurRad="101600" dist="12700" dir="5400000">
              <a:srgbClr val="0E2244">
                <a:alpha val="8000"/>
              </a:srgbClr>
            </a:outerShdw>
          </a:effectLst>
        </p:spPr>
      </p:sp>
      <p:sp>
        <p:nvSpPr>
          <p:cNvPr id="47" name="Shape 45"/>
          <p:cNvSpPr/>
          <p:nvPr/>
        </p:nvSpPr>
        <p:spPr>
          <a:xfrm>
            <a:off x="9826508" y="4425696"/>
            <a:ext cx="237744" cy="237744"/>
          </a:xfrm>
          <a:prstGeom prst="roundRect">
            <a:avLst>
              <a:gd name="adj" fmla="val 11538"/>
            </a:avLst>
          </a:prstGeom>
          <a:solidFill>
            <a:srgbClr val="C8102E"/>
          </a:solidFill>
          <a:ln w="12700">
            <a:solidFill>
              <a:srgbClr val="C8102E"/>
            </a:solidFill>
            <a:prstDash val="solid"/>
          </a:ln>
        </p:spPr>
      </p:sp>
      <p:sp>
        <p:nvSpPr>
          <p:cNvPr id="48" name="Text 46"/>
          <p:cNvSpPr txBox="1"/>
          <p:nvPr/>
        </p:nvSpPr>
        <p:spPr>
          <a:xfrm>
            <a:off x="9826508" y="442569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05</a:t>
            </a:r>
            <a:endParaRPr lang="en-US" sz="900" dirty="0"/>
          </a:p>
        </p:txBody>
      </p:sp>
      <p:sp>
        <p:nvSpPr>
          <p:cNvPr id="49" name="Text 47"/>
          <p:cNvSpPr txBox="1"/>
          <p:nvPr/>
        </p:nvSpPr>
        <p:spPr>
          <a:xfrm>
            <a:off x="9826508" y="4773168"/>
            <a:ext cx="1633667" cy="310896"/>
          </a:xfrm>
          <a:prstGeom prst="rect">
            <a:avLst/>
          </a:prstGeom>
          <a:noFill/>
          <a:ln/>
        </p:spPr>
        <p:txBody>
          <a:bodyPr wrap="square" lIns="0" tIns="0" rIns="0" bIns="0" rtlCol="0" anchor="t"/>
          <a:lstStyle/>
          <a:p>
            <a:pPr algn="l" indent="0" marL="0">
              <a:lnSpc>
                <a:spcPts val="1840"/>
              </a:lnSpc>
              <a:buNone/>
            </a:pPr>
            <a:r>
              <a:rPr lang="en-US" sz="1150" b="1" dirty="0">
                <a:solidFill>
                  <a:srgbClr val="FFFFFF"/>
                </a:solidFill>
                <a:latin typeface="Meiryo" pitchFamily="34" charset="0"/>
                <a:ea typeface="Meiryo" pitchFamily="34" charset="-122"/>
                <a:cs typeface="Meiryo" pitchFamily="34" charset="-120"/>
              </a:rPr>
              <a:t>来日・入社</a:t>
            </a:r>
            <a:endParaRPr lang="en-US" sz="1150" dirty="0"/>
          </a:p>
        </p:txBody>
      </p:sp>
      <p:sp>
        <p:nvSpPr>
          <p:cNvPr id="50" name="Text 48"/>
          <p:cNvSpPr txBox="1"/>
          <p:nvPr/>
        </p:nvSpPr>
        <p:spPr>
          <a:xfrm>
            <a:off x="9826508" y="5138928"/>
            <a:ext cx="1633667" cy="868680"/>
          </a:xfrm>
          <a:prstGeom prst="rect">
            <a:avLst/>
          </a:prstGeom>
          <a:noFill/>
          <a:ln/>
        </p:spPr>
        <p:txBody>
          <a:bodyPr wrap="square" lIns="0" tIns="0" rIns="0" bIns="0" rtlCol="0" anchor="t"/>
          <a:lstStyle/>
          <a:p>
            <a:pPr algn="l" indent="0" marL="0">
              <a:lnSpc>
                <a:spcPts val="1600"/>
              </a:lnSpc>
              <a:buNone/>
            </a:pPr>
            <a:r>
              <a:rPr lang="en-US" sz="1000" dirty="0">
                <a:solidFill>
                  <a:srgbClr val="C9D8EA"/>
                </a:solidFill>
                <a:latin typeface="Meiryo" pitchFamily="34" charset="0"/>
                <a:ea typeface="Meiryo" pitchFamily="34" charset="-122"/>
                <a:cs typeface="Meiryo" pitchFamily="34" charset="-120"/>
              </a:rPr>
              <a:t>志望動機が</a:t>
            </a:r>
            <a:endParaRPr lang="en-US" sz="1000" dirty="0"/>
          </a:p>
          <a:p>
            <a:pPr algn="l" indent="0" marL="0">
              <a:lnSpc>
                <a:spcPts val="1600"/>
              </a:lnSpc>
              <a:buNone/>
            </a:pPr>
            <a:r>
              <a:rPr lang="en-US" sz="1000" dirty="0">
                <a:solidFill>
                  <a:srgbClr val="C9D8EA"/>
                </a:solidFill>
                <a:latin typeface="Meiryo" pitchFamily="34" charset="0"/>
                <a:ea typeface="Meiryo" pitchFamily="34" charset="-122"/>
                <a:cs typeface="Meiryo" pitchFamily="34" charset="-120"/>
              </a:rPr>
              <a:t>入社まで途切れない</a:t>
            </a:r>
            <a:endParaRPr lang="en-US" sz="1000" dirty="0"/>
          </a:p>
        </p:txBody>
      </p:sp>
      <p:sp>
        <p:nvSpPr>
          <p:cNvPr id="51" name="Text 49"/>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150" b="1" dirty="0">
                <a:solidFill>
                  <a:srgbClr val="0E2244"/>
                </a:solidFill>
                <a:latin typeface="Meiryo" pitchFamily="34" charset="0"/>
                <a:ea typeface="Meiryo" pitchFamily="34" charset="-122"/>
                <a:cs typeface="Meiryo" pitchFamily="34" charset="-120"/>
              </a:rPr>
              <a:t>○　「貴社で働きたい」という動機を持つ学生だけが、選考から入社まで進みます</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050" b="1" spc="200" kern="0" dirty="0">
                <a:solidFill>
                  <a:srgbClr val="C8102E"/>
                </a:solidFill>
                <a:latin typeface="Arial" pitchFamily="34" charset="0"/>
                <a:ea typeface="Arial" pitchFamily="34" charset="-122"/>
                <a:cs typeface="Arial" pitchFamily="34" charset="-120"/>
              </a:rPr>
              <a:t>6W2H FRAMEWORK</a:t>
            </a:r>
            <a:endParaRPr lang="en-US" sz="1050" dirty="0"/>
          </a:p>
        </p:txBody>
      </p:sp>
      <p:sp>
        <p:nvSpPr>
          <p:cNvPr id="3" name="Text 1"/>
          <p:cNvSpPr txBox="1"/>
          <p:nvPr/>
        </p:nvSpPr>
        <p:spPr>
          <a:xfrm>
            <a:off x="548640" y="566928"/>
            <a:ext cx="11094415" cy="566928"/>
          </a:xfrm>
          <a:prstGeom prst="rect">
            <a:avLst/>
          </a:prstGeom>
          <a:noFill/>
          <a:ln/>
        </p:spPr>
        <p:txBody>
          <a:bodyPr wrap="square" lIns="0" tIns="0" rIns="0" bIns="0" rtlCol="0" anchor="t"/>
          <a:lstStyle/>
          <a:p>
            <a:pPr indent="0" marL="0">
              <a:buNone/>
            </a:pPr>
            <a:r>
              <a:rPr lang="en-US" sz="2800" b="1" dirty="0">
                <a:solidFill>
                  <a:srgbClr val="0E2244"/>
                </a:solidFill>
                <a:latin typeface="Meiryo" pitchFamily="34" charset="0"/>
                <a:ea typeface="Meiryo" pitchFamily="34" charset="-122"/>
                <a:cs typeface="Meiryo" pitchFamily="34" charset="-120"/>
              </a:rPr>
              <a:t>進め方サマリー</a:t>
            </a:r>
            <a:endParaRPr lang="en-US" sz="2800" dirty="0"/>
          </a:p>
        </p:txBody>
      </p:sp>
      <p:sp>
        <p:nvSpPr>
          <p:cNvPr id="4" name="Shape 2"/>
          <p:cNvSpPr/>
          <p:nvPr/>
        </p:nvSpPr>
        <p:spPr>
          <a:xfrm>
            <a:off x="548640" y="1280160"/>
            <a:ext cx="11094415" cy="713232"/>
          </a:xfrm>
          <a:prstGeom prst="rect">
            <a:avLst/>
          </a:prstGeom>
          <a:solidFill>
            <a:srgbClr val="EEF2F7"/>
          </a:solidFill>
          <a:ln/>
        </p:spPr>
      </p:sp>
      <p:sp>
        <p:nvSpPr>
          <p:cNvPr id="5" name="Text 3"/>
          <p:cNvSpPr txBox="1"/>
          <p:nvPr/>
        </p:nvSpPr>
        <p:spPr>
          <a:xfrm>
            <a:off x="868680" y="1280160"/>
            <a:ext cx="10454335" cy="713232"/>
          </a:xfrm>
          <a:prstGeom prst="rect">
            <a:avLst/>
          </a:prstGeom>
          <a:noFill/>
          <a:ln/>
        </p:spPr>
        <p:txBody>
          <a:bodyPr wrap="square" lIns="0" tIns="0" rIns="0" bIns="0" rtlCol="0" anchor="ctr"/>
          <a:lstStyle/>
          <a:p>
            <a:pPr indent="0" marL="0">
              <a:lnSpc>
                <a:spcPts val="1958"/>
              </a:lnSpc>
              <a:buNone/>
            </a:pPr>
            <a:r>
              <a:rPr lang="en-US" sz="1350" b="1" dirty="0">
                <a:solidFill>
                  <a:srgbClr val="0E2244"/>
                </a:solidFill>
                <a:latin typeface="Meiryo" pitchFamily="34" charset="0"/>
                <a:ea typeface="Meiryo" pitchFamily="34" charset="-122"/>
                <a:cs typeface="Meiryo" pitchFamily="34" charset="-120"/>
              </a:rPr>
              <a:t>建設系大卒の優秀層を、貴社を志望する母集団から選考し、ESUHAIグループの伴走で「育成型正社員」として採用します。</a:t>
            </a:r>
            <a:endParaRPr lang="en-US" sz="1350" dirty="0"/>
          </a:p>
        </p:txBody>
      </p:sp>
      <p:sp>
        <p:nvSpPr>
          <p:cNvPr id="6" name="Shape 4"/>
          <p:cNvSpPr/>
          <p:nvPr/>
        </p:nvSpPr>
        <p:spPr>
          <a:xfrm>
            <a:off x="548640" y="2121408"/>
            <a:ext cx="2595296" cy="1664208"/>
          </a:xfrm>
          <a:prstGeom prst="roundRect">
            <a:avLst>
              <a:gd name="adj" fmla="val 2747"/>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7" name="Shape 5"/>
          <p:cNvSpPr/>
          <p:nvPr/>
        </p:nvSpPr>
        <p:spPr>
          <a:xfrm>
            <a:off x="768096" y="2322576"/>
            <a:ext cx="713232" cy="219456"/>
          </a:xfrm>
          <a:prstGeom prst="rect">
            <a:avLst/>
          </a:prstGeom>
          <a:solidFill>
            <a:srgbClr val="0E2244"/>
          </a:solidFill>
          <a:ln/>
        </p:spPr>
      </p:sp>
      <p:sp>
        <p:nvSpPr>
          <p:cNvPr id="8" name="Text 6"/>
          <p:cNvSpPr txBox="1"/>
          <p:nvPr/>
        </p:nvSpPr>
        <p:spPr>
          <a:xfrm>
            <a:off x="768096" y="2322576"/>
            <a:ext cx="713232"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WHO</a:t>
            </a:r>
            <a:endParaRPr lang="en-US" sz="800" dirty="0"/>
          </a:p>
        </p:txBody>
      </p:sp>
      <p:sp>
        <p:nvSpPr>
          <p:cNvPr id="9" name="Text 7"/>
          <p:cNvSpPr txBox="1"/>
          <p:nvPr/>
        </p:nvSpPr>
        <p:spPr>
          <a:xfrm>
            <a:off x="1536192" y="2322576"/>
            <a:ext cx="1406576" cy="237744"/>
          </a:xfrm>
          <a:prstGeom prst="rect">
            <a:avLst/>
          </a:prstGeom>
          <a:noFill/>
          <a:ln/>
        </p:spPr>
        <p:txBody>
          <a:bodyPr wrap="square" lIns="0" tIns="0" rIns="0" bIns="0" rtlCol="0" anchor="ctr"/>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誰を</a:t>
            </a:r>
            <a:endParaRPr lang="en-US" sz="1200" dirty="0"/>
          </a:p>
        </p:txBody>
      </p:sp>
      <p:sp>
        <p:nvSpPr>
          <p:cNvPr id="10" name="Text 8"/>
          <p:cNvSpPr txBox="1"/>
          <p:nvPr/>
        </p:nvSpPr>
        <p:spPr>
          <a:xfrm>
            <a:off x="768096" y="2688336"/>
            <a:ext cx="2156384" cy="960120"/>
          </a:xfrm>
          <a:prstGeom prst="rect">
            <a:avLst/>
          </a:prstGeom>
          <a:noFill/>
          <a:ln/>
        </p:spPr>
        <p:txBody>
          <a:bodyPr wrap="square" lIns="0" tIns="0" rIns="0" bIns="0" rtlCol="0" anchor="t"/>
          <a:lstStyle/>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建設系（建築・土木・道路）の大卒／卒業予定者。優秀大学、実務経験不問の人材。</a:t>
            </a:r>
            <a:endParaRPr lang="en-US" sz="1000" dirty="0"/>
          </a:p>
        </p:txBody>
      </p:sp>
      <p:sp>
        <p:nvSpPr>
          <p:cNvPr id="11" name="Shape 9"/>
          <p:cNvSpPr/>
          <p:nvPr/>
        </p:nvSpPr>
        <p:spPr>
          <a:xfrm>
            <a:off x="3381680" y="2121408"/>
            <a:ext cx="2595296" cy="1664208"/>
          </a:xfrm>
          <a:prstGeom prst="roundRect">
            <a:avLst>
              <a:gd name="adj" fmla="val 2747"/>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12" name="Shape 10"/>
          <p:cNvSpPr/>
          <p:nvPr/>
        </p:nvSpPr>
        <p:spPr>
          <a:xfrm>
            <a:off x="3601136" y="2322576"/>
            <a:ext cx="713232" cy="219456"/>
          </a:xfrm>
          <a:prstGeom prst="rect">
            <a:avLst/>
          </a:prstGeom>
          <a:solidFill>
            <a:srgbClr val="0E2244"/>
          </a:solidFill>
          <a:ln/>
        </p:spPr>
      </p:sp>
      <p:sp>
        <p:nvSpPr>
          <p:cNvPr id="13" name="Text 11"/>
          <p:cNvSpPr txBox="1"/>
          <p:nvPr/>
        </p:nvSpPr>
        <p:spPr>
          <a:xfrm>
            <a:off x="3601136" y="2322576"/>
            <a:ext cx="713232"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WHAT</a:t>
            </a:r>
            <a:endParaRPr lang="en-US" sz="800" dirty="0"/>
          </a:p>
        </p:txBody>
      </p:sp>
      <p:sp>
        <p:nvSpPr>
          <p:cNvPr id="14" name="Text 12"/>
          <p:cNvSpPr txBox="1"/>
          <p:nvPr/>
        </p:nvSpPr>
        <p:spPr>
          <a:xfrm>
            <a:off x="4369232" y="2322576"/>
            <a:ext cx="1406576" cy="237744"/>
          </a:xfrm>
          <a:prstGeom prst="rect">
            <a:avLst/>
          </a:prstGeom>
          <a:noFill/>
          <a:ln/>
        </p:spPr>
        <p:txBody>
          <a:bodyPr wrap="square" lIns="0" tIns="0" rIns="0" bIns="0" rtlCol="0" anchor="ctr"/>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何を</a:t>
            </a:r>
            <a:endParaRPr lang="en-US" sz="1200" dirty="0"/>
          </a:p>
        </p:txBody>
      </p:sp>
      <p:sp>
        <p:nvSpPr>
          <p:cNvPr id="15" name="Text 13"/>
          <p:cNvSpPr txBox="1"/>
          <p:nvPr/>
        </p:nvSpPr>
        <p:spPr>
          <a:xfrm>
            <a:off x="3601136" y="2688336"/>
            <a:ext cx="2156384" cy="960120"/>
          </a:xfrm>
          <a:prstGeom prst="rect">
            <a:avLst/>
          </a:prstGeom>
          <a:noFill/>
          <a:ln/>
        </p:spPr>
        <p:txBody>
          <a:bodyPr wrap="square" lIns="0" tIns="0" rIns="0" bIns="0" rtlCol="0" anchor="t"/>
          <a:lstStyle/>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技術系正社員（施工管理者／設計者等）として採用。来日前にESUHAIグループで徹底育成。</a:t>
            </a:r>
            <a:endParaRPr lang="en-US" sz="1000" dirty="0"/>
          </a:p>
        </p:txBody>
      </p:sp>
      <p:sp>
        <p:nvSpPr>
          <p:cNvPr id="16" name="Shape 14"/>
          <p:cNvSpPr/>
          <p:nvPr/>
        </p:nvSpPr>
        <p:spPr>
          <a:xfrm>
            <a:off x="6214720" y="2121408"/>
            <a:ext cx="2595296" cy="1664208"/>
          </a:xfrm>
          <a:prstGeom prst="roundRect">
            <a:avLst>
              <a:gd name="adj" fmla="val 2747"/>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17" name="Shape 15"/>
          <p:cNvSpPr/>
          <p:nvPr/>
        </p:nvSpPr>
        <p:spPr>
          <a:xfrm>
            <a:off x="6434176" y="2322576"/>
            <a:ext cx="713232" cy="219456"/>
          </a:xfrm>
          <a:prstGeom prst="rect">
            <a:avLst/>
          </a:prstGeom>
          <a:solidFill>
            <a:srgbClr val="0E2244"/>
          </a:solidFill>
          <a:ln/>
        </p:spPr>
      </p:sp>
      <p:sp>
        <p:nvSpPr>
          <p:cNvPr id="18" name="Text 16"/>
          <p:cNvSpPr txBox="1"/>
          <p:nvPr/>
        </p:nvSpPr>
        <p:spPr>
          <a:xfrm>
            <a:off x="6434176" y="2322576"/>
            <a:ext cx="713232"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WHEN</a:t>
            </a:r>
            <a:endParaRPr lang="en-US" sz="800" dirty="0"/>
          </a:p>
        </p:txBody>
      </p:sp>
      <p:sp>
        <p:nvSpPr>
          <p:cNvPr id="19" name="Text 17"/>
          <p:cNvSpPr txBox="1"/>
          <p:nvPr/>
        </p:nvSpPr>
        <p:spPr>
          <a:xfrm>
            <a:off x="7202272" y="2322576"/>
            <a:ext cx="1406576" cy="237744"/>
          </a:xfrm>
          <a:prstGeom prst="rect">
            <a:avLst/>
          </a:prstGeom>
          <a:noFill/>
          <a:ln/>
        </p:spPr>
        <p:txBody>
          <a:bodyPr wrap="square" lIns="0" tIns="0" rIns="0" bIns="0" rtlCol="0" anchor="ctr"/>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いつ</a:t>
            </a:r>
            <a:endParaRPr lang="en-US" sz="1200" dirty="0"/>
          </a:p>
        </p:txBody>
      </p:sp>
      <p:sp>
        <p:nvSpPr>
          <p:cNvPr id="20" name="Text 18"/>
          <p:cNvSpPr txBox="1"/>
          <p:nvPr/>
        </p:nvSpPr>
        <p:spPr>
          <a:xfrm>
            <a:off x="6434176" y="2688336"/>
            <a:ext cx="2156384" cy="960120"/>
          </a:xfrm>
          <a:prstGeom prst="rect">
            <a:avLst/>
          </a:prstGeom>
          <a:noFill/>
          <a:ln/>
        </p:spPr>
        <p:txBody>
          <a:bodyPr wrap="square" lIns="0" tIns="0" rIns="0" bIns="0" rtlCol="0" anchor="t"/>
          <a:lstStyle/>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貴社説明会の開催から約2ヶ月で内定。内定の約1ヶ月後にJPCへ入学します。</a:t>
            </a:r>
            <a:endParaRPr lang="en-US" sz="1000" dirty="0"/>
          </a:p>
        </p:txBody>
      </p:sp>
      <p:sp>
        <p:nvSpPr>
          <p:cNvPr id="21" name="Shape 19"/>
          <p:cNvSpPr/>
          <p:nvPr/>
        </p:nvSpPr>
        <p:spPr>
          <a:xfrm>
            <a:off x="9047759" y="2121408"/>
            <a:ext cx="2595296" cy="1664208"/>
          </a:xfrm>
          <a:prstGeom prst="roundRect">
            <a:avLst>
              <a:gd name="adj" fmla="val 2747"/>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22" name="Shape 20"/>
          <p:cNvSpPr/>
          <p:nvPr/>
        </p:nvSpPr>
        <p:spPr>
          <a:xfrm>
            <a:off x="9267215" y="2322576"/>
            <a:ext cx="713232" cy="219456"/>
          </a:xfrm>
          <a:prstGeom prst="rect">
            <a:avLst/>
          </a:prstGeom>
          <a:solidFill>
            <a:srgbClr val="0E2244"/>
          </a:solidFill>
          <a:ln/>
        </p:spPr>
      </p:sp>
      <p:sp>
        <p:nvSpPr>
          <p:cNvPr id="23" name="Text 21"/>
          <p:cNvSpPr txBox="1"/>
          <p:nvPr/>
        </p:nvSpPr>
        <p:spPr>
          <a:xfrm>
            <a:off x="9267215" y="2322576"/>
            <a:ext cx="713232"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WHERE</a:t>
            </a:r>
            <a:endParaRPr lang="en-US" sz="800" dirty="0"/>
          </a:p>
        </p:txBody>
      </p:sp>
      <p:sp>
        <p:nvSpPr>
          <p:cNvPr id="24" name="Text 22"/>
          <p:cNvSpPr txBox="1"/>
          <p:nvPr/>
        </p:nvSpPr>
        <p:spPr>
          <a:xfrm>
            <a:off x="10035311" y="2322576"/>
            <a:ext cx="1406576" cy="237744"/>
          </a:xfrm>
          <a:prstGeom prst="rect">
            <a:avLst/>
          </a:prstGeom>
          <a:noFill/>
          <a:ln/>
        </p:spPr>
        <p:txBody>
          <a:bodyPr wrap="square" lIns="0" tIns="0" rIns="0" bIns="0" rtlCol="0" anchor="ctr"/>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どこで</a:t>
            </a:r>
            <a:endParaRPr lang="en-US" sz="1200" dirty="0"/>
          </a:p>
        </p:txBody>
      </p:sp>
      <p:sp>
        <p:nvSpPr>
          <p:cNvPr id="25" name="Text 23"/>
          <p:cNvSpPr txBox="1"/>
          <p:nvPr/>
        </p:nvSpPr>
        <p:spPr>
          <a:xfrm>
            <a:off x="9267215" y="2688336"/>
            <a:ext cx="2156384" cy="960120"/>
          </a:xfrm>
          <a:prstGeom prst="rect">
            <a:avLst/>
          </a:prstGeom>
          <a:noFill/>
          <a:ln/>
        </p:spPr>
        <p:txBody>
          <a:bodyPr wrap="square" lIns="0" tIns="0" rIns="0" bIns="0" rtlCol="0" anchor="t"/>
          <a:lstStyle/>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説明会・選考は提携大学のキャンパス（ダナン／ホーチミン）。就業は日本国内の貴社。</a:t>
            </a:r>
            <a:endParaRPr lang="en-US" sz="1000" dirty="0"/>
          </a:p>
        </p:txBody>
      </p:sp>
      <p:sp>
        <p:nvSpPr>
          <p:cNvPr id="26" name="Shape 24"/>
          <p:cNvSpPr/>
          <p:nvPr/>
        </p:nvSpPr>
        <p:spPr>
          <a:xfrm>
            <a:off x="548640" y="3968496"/>
            <a:ext cx="2654732" cy="1755648"/>
          </a:xfrm>
          <a:prstGeom prst="roundRect">
            <a:avLst>
              <a:gd name="adj" fmla="val 2604"/>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27" name="Shape 25"/>
          <p:cNvSpPr/>
          <p:nvPr/>
        </p:nvSpPr>
        <p:spPr>
          <a:xfrm>
            <a:off x="768096" y="4169664"/>
            <a:ext cx="713232" cy="219456"/>
          </a:xfrm>
          <a:prstGeom prst="rect">
            <a:avLst/>
          </a:prstGeom>
          <a:solidFill>
            <a:srgbClr val="0E2244"/>
          </a:solidFill>
          <a:ln/>
        </p:spPr>
      </p:sp>
      <p:sp>
        <p:nvSpPr>
          <p:cNvPr id="28" name="Text 26"/>
          <p:cNvSpPr txBox="1"/>
          <p:nvPr/>
        </p:nvSpPr>
        <p:spPr>
          <a:xfrm>
            <a:off x="768096" y="4169664"/>
            <a:ext cx="713232"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WHY</a:t>
            </a:r>
            <a:endParaRPr lang="en-US" sz="800" dirty="0"/>
          </a:p>
        </p:txBody>
      </p:sp>
      <p:sp>
        <p:nvSpPr>
          <p:cNvPr id="29" name="Text 27"/>
          <p:cNvSpPr txBox="1"/>
          <p:nvPr/>
        </p:nvSpPr>
        <p:spPr>
          <a:xfrm>
            <a:off x="1536192" y="4169664"/>
            <a:ext cx="1466012" cy="237744"/>
          </a:xfrm>
          <a:prstGeom prst="rect">
            <a:avLst/>
          </a:prstGeom>
          <a:noFill/>
          <a:ln/>
        </p:spPr>
        <p:txBody>
          <a:bodyPr wrap="square" lIns="0" tIns="0" rIns="0" bIns="0" rtlCol="0" anchor="ctr"/>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なぜ</a:t>
            </a:r>
            <a:endParaRPr lang="en-US" sz="1200" dirty="0"/>
          </a:p>
        </p:txBody>
      </p:sp>
      <p:sp>
        <p:nvSpPr>
          <p:cNvPr id="30" name="Text 28"/>
          <p:cNvSpPr txBox="1"/>
          <p:nvPr/>
        </p:nvSpPr>
        <p:spPr>
          <a:xfrm>
            <a:off x="768096" y="4535424"/>
            <a:ext cx="2215820" cy="1051560"/>
          </a:xfrm>
          <a:prstGeom prst="rect">
            <a:avLst/>
          </a:prstGeom>
          <a:noFill/>
          <a:ln/>
        </p:spPr>
        <p:txBody>
          <a:bodyPr wrap="square" lIns="0" tIns="0" rIns="0" bIns="0" rtlCol="0" anchor="t"/>
          <a:lstStyle/>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建設人材不足の解消と、志望動機に裏づけられた定着する即戦力の確保のため。</a:t>
            </a:r>
            <a:endParaRPr lang="en-US" sz="1000" dirty="0"/>
          </a:p>
        </p:txBody>
      </p:sp>
      <p:sp>
        <p:nvSpPr>
          <p:cNvPr id="31" name="Shape 29"/>
          <p:cNvSpPr/>
          <p:nvPr/>
        </p:nvSpPr>
        <p:spPr>
          <a:xfrm>
            <a:off x="3441116" y="3968496"/>
            <a:ext cx="2654732" cy="1755648"/>
          </a:xfrm>
          <a:prstGeom prst="roundRect">
            <a:avLst>
              <a:gd name="adj" fmla="val 2604"/>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32" name="Shape 30"/>
          <p:cNvSpPr/>
          <p:nvPr/>
        </p:nvSpPr>
        <p:spPr>
          <a:xfrm>
            <a:off x="3660572" y="4169664"/>
            <a:ext cx="713232" cy="219456"/>
          </a:xfrm>
          <a:prstGeom prst="rect">
            <a:avLst/>
          </a:prstGeom>
          <a:solidFill>
            <a:srgbClr val="0E2244"/>
          </a:solidFill>
          <a:ln/>
        </p:spPr>
      </p:sp>
      <p:sp>
        <p:nvSpPr>
          <p:cNvPr id="33" name="Text 31"/>
          <p:cNvSpPr txBox="1"/>
          <p:nvPr/>
        </p:nvSpPr>
        <p:spPr>
          <a:xfrm>
            <a:off x="3660572" y="4169664"/>
            <a:ext cx="713232"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HOW</a:t>
            </a:r>
            <a:endParaRPr lang="en-US" sz="800" dirty="0"/>
          </a:p>
        </p:txBody>
      </p:sp>
      <p:sp>
        <p:nvSpPr>
          <p:cNvPr id="34" name="Text 32"/>
          <p:cNvSpPr txBox="1"/>
          <p:nvPr/>
        </p:nvSpPr>
        <p:spPr>
          <a:xfrm>
            <a:off x="4428668" y="4169664"/>
            <a:ext cx="1466012" cy="237744"/>
          </a:xfrm>
          <a:prstGeom prst="rect">
            <a:avLst/>
          </a:prstGeom>
          <a:noFill/>
          <a:ln/>
        </p:spPr>
        <p:txBody>
          <a:bodyPr wrap="square" lIns="0" tIns="0" rIns="0" bIns="0" rtlCol="0" anchor="ctr"/>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どうやって</a:t>
            </a:r>
            <a:endParaRPr lang="en-US" sz="1200" dirty="0"/>
          </a:p>
        </p:txBody>
      </p:sp>
      <p:sp>
        <p:nvSpPr>
          <p:cNvPr id="35" name="Text 33"/>
          <p:cNvSpPr txBox="1"/>
          <p:nvPr/>
        </p:nvSpPr>
        <p:spPr>
          <a:xfrm>
            <a:off x="3660572" y="4535424"/>
            <a:ext cx="2215820" cy="1051560"/>
          </a:xfrm>
          <a:prstGeom prst="rect">
            <a:avLst/>
          </a:prstGeom>
          <a:noFill/>
          <a:ln/>
        </p:spPr>
        <p:txBody>
          <a:bodyPr wrap="square" lIns="0" tIns="0" rIns="0" bIns="0" rtlCol="0" anchor="t"/>
          <a:lstStyle/>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ESUTECHが大学調整・集客・広告・通訳・選考運営からCoE申請、来日、定着まで伴走。</a:t>
            </a:r>
            <a:endParaRPr lang="en-US" sz="1000" dirty="0"/>
          </a:p>
        </p:txBody>
      </p:sp>
      <p:sp>
        <p:nvSpPr>
          <p:cNvPr id="36" name="Shape 34"/>
          <p:cNvSpPr/>
          <p:nvPr/>
        </p:nvSpPr>
        <p:spPr>
          <a:xfrm>
            <a:off x="6333592" y="3968496"/>
            <a:ext cx="5309464" cy="1755648"/>
          </a:xfrm>
          <a:prstGeom prst="roundRect">
            <a:avLst>
              <a:gd name="adj" fmla="val 2604"/>
            </a:avLst>
          </a:prstGeom>
          <a:solidFill>
            <a:srgbClr val="FFFFFF"/>
          </a:solidFill>
          <a:ln w="12700">
            <a:solidFill>
              <a:srgbClr val="CBD6E4"/>
            </a:solidFill>
            <a:prstDash val="solid"/>
          </a:ln>
          <a:effectLst>
            <a:outerShdw sx="100000" sy="100000" kx="0" ky="0" algn="bl" rotWithShape="0" blurRad="101600" dist="12700" dir="5400000">
              <a:srgbClr val="0E2244">
                <a:alpha val="8000"/>
              </a:srgbClr>
            </a:outerShdw>
          </a:effectLst>
        </p:spPr>
      </p:sp>
      <p:sp>
        <p:nvSpPr>
          <p:cNvPr id="37" name="Shape 35"/>
          <p:cNvSpPr/>
          <p:nvPr/>
        </p:nvSpPr>
        <p:spPr>
          <a:xfrm>
            <a:off x="6589624" y="4169664"/>
            <a:ext cx="1060704" cy="219456"/>
          </a:xfrm>
          <a:prstGeom prst="rect">
            <a:avLst/>
          </a:prstGeom>
          <a:solidFill>
            <a:srgbClr val="C8102E"/>
          </a:solidFill>
          <a:ln/>
        </p:spPr>
      </p:sp>
      <p:sp>
        <p:nvSpPr>
          <p:cNvPr id="38" name="Text 36"/>
          <p:cNvSpPr txBox="1"/>
          <p:nvPr/>
        </p:nvSpPr>
        <p:spPr>
          <a:xfrm>
            <a:off x="6589624" y="4169664"/>
            <a:ext cx="1060704"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HOW MUCH</a:t>
            </a:r>
            <a:endParaRPr lang="en-US" sz="800" dirty="0"/>
          </a:p>
        </p:txBody>
      </p:sp>
      <p:sp>
        <p:nvSpPr>
          <p:cNvPr id="39" name="Text 37"/>
          <p:cNvSpPr txBox="1"/>
          <p:nvPr/>
        </p:nvSpPr>
        <p:spPr>
          <a:xfrm>
            <a:off x="7705192" y="4169664"/>
            <a:ext cx="1371600" cy="237744"/>
          </a:xfrm>
          <a:prstGeom prst="rect">
            <a:avLst/>
          </a:prstGeom>
          <a:noFill/>
          <a:ln/>
        </p:spPr>
        <p:txBody>
          <a:bodyPr wrap="square" lIns="0" tIns="0" rIns="0" bIns="0" rtlCol="0" anchor="ctr"/>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いくら</a:t>
            </a:r>
            <a:endParaRPr lang="en-US" sz="1200" dirty="0"/>
          </a:p>
        </p:txBody>
      </p:sp>
      <p:sp>
        <p:nvSpPr>
          <p:cNvPr id="40" name="Text 38"/>
          <p:cNvSpPr txBox="1"/>
          <p:nvPr/>
        </p:nvSpPr>
        <p:spPr>
          <a:xfrm>
            <a:off x="6589624" y="4535424"/>
            <a:ext cx="4797400" cy="566928"/>
          </a:xfrm>
          <a:prstGeom prst="rect">
            <a:avLst/>
          </a:prstGeom>
          <a:noFill/>
          <a:ln/>
        </p:spPr>
        <p:txBody>
          <a:bodyPr wrap="square" lIns="0" tIns="0" rIns="0" bIns="0" rtlCol="0" anchor="ctr"/>
          <a:lstStyle/>
          <a:p>
            <a:pPr indent="0" marL="0">
              <a:lnSpc>
                <a:spcPts val="2200"/>
              </a:lnSpc>
              <a:buNone/>
            </a:pPr>
            <a:r>
              <a:rPr lang="en-US" sz="1400" b="1" dirty="0">
                <a:solidFill>
                  <a:srgbClr val="1A2230"/>
                </a:solidFill>
                <a:latin typeface="Meiryo" pitchFamily="34" charset="0"/>
                <a:ea typeface="Meiryo" pitchFamily="34" charset="-122"/>
                <a:cs typeface="Meiryo" pitchFamily="34" charset="-120"/>
              </a:rPr>
              <a:t>ご契約の人材採用コンサルティング料／人材紹介料</a:t>
            </a:r>
            <a:endParaRPr lang="en-US" sz="1400" dirty="0"/>
          </a:p>
          <a:p>
            <a:pPr indent="0" marL="0">
              <a:lnSpc>
                <a:spcPts val="2200"/>
              </a:lnSpc>
              <a:buNone/>
            </a:pPr>
            <a:r>
              <a:rPr lang="en-US" sz="1400" b="1" dirty="0">
                <a:solidFill>
                  <a:srgbClr val="C8102E"/>
                </a:solidFill>
                <a:latin typeface="Meiryo" pitchFamily="34" charset="0"/>
                <a:ea typeface="Meiryo" pitchFamily="34" charset="-122"/>
                <a:cs typeface="Meiryo" pitchFamily="34" charset="-120"/>
              </a:rPr>
              <a:t>＋ 学費支援 ＋ 生活支援金。</a:t>
            </a:r>
            <a:endParaRPr lang="en-US" sz="1400" dirty="0"/>
          </a:p>
        </p:txBody>
      </p:sp>
      <p:sp>
        <p:nvSpPr>
          <p:cNvPr id="41" name="Text 39"/>
          <p:cNvSpPr txBox="1"/>
          <p:nvPr/>
        </p:nvSpPr>
        <p:spPr>
          <a:xfrm>
            <a:off x="6589624" y="5175504"/>
            <a:ext cx="4797400" cy="457200"/>
          </a:xfrm>
          <a:prstGeom prst="rect">
            <a:avLst/>
          </a:prstGeom>
          <a:noFill/>
          <a:ln/>
        </p:spPr>
        <p:txBody>
          <a:bodyPr wrap="square" lIns="0" tIns="0" rIns="0" bIns="0" rtlCol="0" anchor="t"/>
          <a:lstStyle/>
          <a:p>
            <a:pPr algn="l" indent="0" marL="0">
              <a:lnSpc>
                <a:spcPts val="1520"/>
              </a:lnSpc>
              <a:buNone/>
            </a:pPr>
            <a:r>
              <a:rPr lang="en-US" sz="950" dirty="0">
                <a:solidFill>
                  <a:srgbClr val="5C6878"/>
                </a:solidFill>
                <a:latin typeface="Meiryo" pitchFamily="34" charset="0"/>
                <a:ea typeface="Meiryo" pitchFamily="34" charset="-122"/>
                <a:cs typeface="Meiryo" pitchFamily="34" charset="-120"/>
              </a:rPr>
              <a:t>※ 募集・選考にかかる弊社職員のホーチミン市外への出張費（旅費交通費）の実費ご負担はお願いいたします。</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050" b="1" spc="200" kern="0" dirty="0">
                <a:solidFill>
                  <a:srgbClr val="C8102E"/>
                </a:solidFill>
                <a:latin typeface="Arial" pitchFamily="34" charset="0"/>
                <a:ea typeface="Arial" pitchFamily="34" charset="-122"/>
                <a:cs typeface="Arial" pitchFamily="34" charset="-120"/>
              </a:rPr>
              <a:t>CAMPUS BRIEFING DESIGN</a:t>
            </a:r>
            <a:endParaRPr lang="en-US" sz="1050" dirty="0"/>
          </a:p>
        </p:txBody>
      </p:sp>
      <p:sp>
        <p:nvSpPr>
          <p:cNvPr id="3" name="Text 1"/>
          <p:cNvSpPr txBox="1"/>
          <p:nvPr/>
        </p:nvSpPr>
        <p:spPr>
          <a:xfrm>
            <a:off x="548640" y="566928"/>
            <a:ext cx="11094415" cy="566928"/>
          </a:xfrm>
          <a:prstGeom prst="rect">
            <a:avLst/>
          </a:prstGeom>
          <a:noFill/>
          <a:ln/>
        </p:spPr>
        <p:txBody>
          <a:bodyPr wrap="square" lIns="0" tIns="0" rIns="0" bIns="0" rtlCol="0" anchor="t"/>
          <a:lstStyle/>
          <a:p>
            <a:pPr indent="0" marL="0">
              <a:buNone/>
            </a:pPr>
            <a:r>
              <a:rPr lang="en-US" sz="2800" b="1" dirty="0">
                <a:solidFill>
                  <a:srgbClr val="0E2244"/>
                </a:solidFill>
                <a:latin typeface="Meiryo" pitchFamily="34" charset="0"/>
                <a:ea typeface="Meiryo" pitchFamily="34" charset="-122"/>
                <a:cs typeface="Meiryo" pitchFamily="34" charset="-120"/>
              </a:rPr>
              <a:t>貴社専用説明会の実施設計</a:t>
            </a:r>
            <a:endParaRPr lang="en-US" sz="2800" dirty="0"/>
          </a:p>
        </p:txBody>
      </p:sp>
      <p:sp>
        <p:nvSpPr>
          <p:cNvPr id="4" name="Shape 2"/>
          <p:cNvSpPr/>
          <p:nvPr/>
        </p:nvSpPr>
        <p:spPr>
          <a:xfrm>
            <a:off x="548640" y="1280160"/>
            <a:ext cx="11094415" cy="621792"/>
          </a:xfrm>
          <a:prstGeom prst="rect">
            <a:avLst/>
          </a:prstGeom>
          <a:solidFill>
            <a:srgbClr val="EEF2F7"/>
          </a:solidFill>
          <a:ln/>
        </p:spPr>
      </p:sp>
      <p:sp>
        <p:nvSpPr>
          <p:cNvPr id="5" name="Text 3"/>
          <p:cNvSpPr txBox="1"/>
          <p:nvPr/>
        </p:nvSpPr>
        <p:spPr>
          <a:xfrm>
            <a:off x="868680" y="1280160"/>
            <a:ext cx="10454335" cy="621792"/>
          </a:xfrm>
          <a:prstGeom prst="rect">
            <a:avLst/>
          </a:prstGeom>
          <a:noFill/>
          <a:ln/>
        </p:spPr>
        <p:txBody>
          <a:bodyPr wrap="square" lIns="0" tIns="0" rIns="0" bIns="0" rtlCol="0" anchor="ctr"/>
          <a:lstStyle/>
          <a:p>
            <a:pPr indent="0" marL="0">
              <a:lnSpc>
                <a:spcPts val="1958"/>
              </a:lnSpc>
              <a:buNone/>
            </a:pPr>
            <a:r>
              <a:rPr lang="en-US" sz="1350" b="1" dirty="0">
                <a:solidFill>
                  <a:srgbClr val="0E2244"/>
                </a:solidFill>
                <a:latin typeface="Meiryo" pitchFamily="34" charset="0"/>
                <a:ea typeface="Meiryo" pitchFamily="34" charset="-122"/>
                <a:cs typeface="Meiryo" pitchFamily="34" charset="-120"/>
              </a:rPr>
              <a:t>「どの企業の説明会か」を明示したうえで集客します。母集団づくりがこのモデルの中核です。</a:t>
            </a:r>
            <a:endParaRPr lang="en-US" sz="1350" dirty="0"/>
          </a:p>
        </p:txBody>
      </p:sp>
      <p:sp>
        <p:nvSpPr>
          <p:cNvPr id="6" name="Shape 4"/>
          <p:cNvSpPr/>
          <p:nvPr/>
        </p:nvSpPr>
        <p:spPr>
          <a:xfrm>
            <a:off x="548640" y="2121408"/>
            <a:ext cx="3200400" cy="4151376"/>
          </a:xfrm>
          <a:prstGeom prst="roundRect">
            <a:avLst>
              <a:gd name="adj" fmla="val 1429"/>
            </a:avLst>
          </a:prstGeom>
          <a:solidFill>
            <a:srgbClr val="0E2244"/>
          </a:solidFill>
          <a:ln w="12700">
            <a:solidFill>
              <a:srgbClr val="0E2244"/>
            </a:solidFill>
            <a:prstDash val="solid"/>
          </a:ln>
          <a:effectLst>
            <a:outerShdw sx="100000" sy="100000" kx="0" ky="0" algn="bl" rotWithShape="0" blurRad="101600" dist="12700" dir="5400000">
              <a:srgbClr val="0E2244">
                <a:alpha val="8000"/>
              </a:srgbClr>
            </a:outerShdw>
          </a:effectLst>
        </p:spPr>
      </p:sp>
      <p:sp>
        <p:nvSpPr>
          <p:cNvPr id="7" name="Text 5"/>
          <p:cNvSpPr txBox="1"/>
          <p:nvPr/>
        </p:nvSpPr>
        <p:spPr>
          <a:xfrm>
            <a:off x="822960" y="2377440"/>
            <a:ext cx="2651760" cy="219456"/>
          </a:xfrm>
          <a:prstGeom prst="rect">
            <a:avLst/>
          </a:prstGeom>
          <a:noFill/>
          <a:ln/>
        </p:spPr>
        <p:txBody>
          <a:bodyPr wrap="square" lIns="0" tIns="0" rIns="0" bIns="0" rtlCol="0" anchor="ctr"/>
          <a:lstStyle/>
          <a:p>
            <a:pPr indent="0" marL="0">
              <a:buNone/>
            </a:pPr>
            <a:r>
              <a:rPr lang="en-US" sz="850" b="1" spc="200" kern="0" dirty="0">
                <a:solidFill>
                  <a:srgbClr val="9BB2CE"/>
                </a:solidFill>
                <a:latin typeface="Arial" pitchFamily="34" charset="0"/>
                <a:ea typeface="Arial" pitchFamily="34" charset="-122"/>
                <a:cs typeface="Arial" pitchFamily="34" charset="-120"/>
              </a:rPr>
              <a:t>TARGET UNIVERSITIES</a:t>
            </a:r>
            <a:endParaRPr lang="en-US" sz="850" dirty="0"/>
          </a:p>
        </p:txBody>
      </p:sp>
      <p:sp>
        <p:nvSpPr>
          <p:cNvPr id="8" name="Text 6"/>
          <p:cNvSpPr txBox="1"/>
          <p:nvPr/>
        </p:nvSpPr>
        <p:spPr>
          <a:xfrm>
            <a:off x="822960" y="2651760"/>
            <a:ext cx="2651760" cy="274320"/>
          </a:xfrm>
          <a:prstGeom prst="rect">
            <a:avLst/>
          </a:prstGeom>
          <a:noFill/>
          <a:ln/>
        </p:spPr>
        <p:txBody>
          <a:bodyPr wrap="square" lIns="0" tIns="0" rIns="0" bIns="0" rtlCol="0" anchor="t"/>
          <a:lstStyle/>
          <a:p>
            <a:pPr algn="l" indent="0" marL="0">
              <a:lnSpc>
                <a:spcPts val="2080"/>
              </a:lnSpc>
              <a:buNone/>
            </a:pPr>
            <a:r>
              <a:rPr lang="en-US" sz="1300" b="1" dirty="0">
                <a:solidFill>
                  <a:srgbClr val="FFFFFF"/>
                </a:solidFill>
                <a:latin typeface="Meiryo" pitchFamily="34" charset="0"/>
                <a:ea typeface="Meiryo" pitchFamily="34" charset="-122"/>
                <a:cs typeface="Meiryo" pitchFamily="34" charset="-120"/>
              </a:rPr>
              <a:t>提携大学（実績校）</a:t>
            </a:r>
            <a:endParaRPr lang="en-US" sz="1300" dirty="0"/>
          </a:p>
        </p:txBody>
      </p:sp>
      <p:sp>
        <p:nvSpPr>
          <p:cNvPr id="9" name="Text 7"/>
          <p:cNvSpPr txBox="1"/>
          <p:nvPr/>
        </p:nvSpPr>
        <p:spPr>
          <a:xfrm>
            <a:off x="841248" y="3108960"/>
            <a:ext cx="2615184" cy="1920240"/>
          </a:xfrm>
          <a:prstGeom prst="rect">
            <a:avLst/>
          </a:prstGeom>
          <a:noFill/>
          <a:ln/>
        </p:spPr>
        <p:txBody>
          <a:bodyPr wrap="square" lIns="0" tIns="0" rIns="0" bIns="0" rtlCol="0" anchor="t"/>
          <a:lstStyle/>
          <a:p>
            <a:pPr marL="342900" indent="-342900">
              <a:lnSpc>
                <a:spcPts val="1783"/>
              </a:lnSpc>
              <a:spcAft>
                <a:spcPts val="1100"/>
              </a:spcAft>
              <a:buSzPct val="100000"/>
              <a:buChar char="▪"/>
            </a:pPr>
            <a:r>
              <a:rPr lang="en-US" sz="1150" dirty="0">
                <a:solidFill>
                  <a:srgbClr val="D6E2F0"/>
                </a:solidFill>
                <a:latin typeface="Meiryo" pitchFamily="34" charset="0"/>
                <a:ea typeface="Meiryo" pitchFamily="34" charset="-122"/>
                <a:cs typeface="Meiryo" pitchFamily="34" charset="-120"/>
              </a:rPr>
              <a:t>ダナン工科大学</a:t>
            </a:r>
            <a:endParaRPr lang="en-US" sz="1150" dirty="0"/>
          </a:p>
          <a:p>
            <a:pPr marL="342900" indent="-342900">
              <a:lnSpc>
                <a:spcPts val="1783"/>
              </a:lnSpc>
              <a:spcAft>
                <a:spcPts val="1100"/>
              </a:spcAft>
              <a:buSzPct val="100000"/>
              <a:buChar char="▪"/>
            </a:pPr>
            <a:r>
              <a:rPr lang="en-US" sz="1150" dirty="0">
                <a:solidFill>
                  <a:srgbClr val="D6E2F0"/>
                </a:solidFill>
                <a:latin typeface="Meiryo" pitchFamily="34" charset="0"/>
                <a:ea typeface="Meiryo" pitchFamily="34" charset="-122"/>
                <a:cs typeface="Meiryo" pitchFamily="34" charset="-120"/>
              </a:rPr>
              <a:t>ダナン技術師範大学</a:t>
            </a:r>
            <a:endParaRPr lang="en-US" sz="1150" dirty="0"/>
          </a:p>
          <a:p>
            <a:pPr marL="342900" indent="-342900">
              <a:lnSpc>
                <a:spcPts val="1783"/>
              </a:lnSpc>
              <a:spcAft>
                <a:spcPts val="1100"/>
              </a:spcAft>
              <a:buSzPct val="100000"/>
              <a:buChar char="▪"/>
            </a:pPr>
            <a:r>
              <a:rPr lang="en-US" sz="1150" dirty="0">
                <a:solidFill>
                  <a:srgbClr val="D6E2F0"/>
                </a:solidFill>
                <a:latin typeface="Meiryo" pitchFamily="34" charset="0"/>
                <a:ea typeface="Meiryo" pitchFamily="34" charset="-122"/>
                <a:cs typeface="Meiryo" pitchFamily="34" charset="-120"/>
              </a:rPr>
              <a:t>ホーチミン工科大学</a:t>
            </a:r>
            <a:endParaRPr lang="en-US" sz="1150" dirty="0"/>
          </a:p>
          <a:p>
            <a:pPr marL="342900" indent="-342900">
              <a:lnSpc>
                <a:spcPts val="1783"/>
              </a:lnSpc>
              <a:spcAft>
                <a:spcPts val="1100"/>
              </a:spcAft>
              <a:buSzPct val="100000"/>
              <a:buChar char="▪"/>
            </a:pPr>
            <a:r>
              <a:rPr lang="en-US" sz="1150" dirty="0">
                <a:solidFill>
                  <a:srgbClr val="D6E2F0"/>
                </a:solidFill>
                <a:latin typeface="Meiryo" pitchFamily="34" charset="0"/>
                <a:ea typeface="Meiryo" pitchFamily="34" charset="-122"/>
                <a:cs typeface="Meiryo" pitchFamily="34" charset="-120"/>
              </a:rPr>
              <a:t>ホーチミン技術師範大学</a:t>
            </a:r>
            <a:endParaRPr lang="en-US" sz="1150" dirty="0"/>
          </a:p>
          <a:p>
            <a:pPr marL="342900" indent="-342900">
              <a:lnSpc>
                <a:spcPts val="1783"/>
              </a:lnSpc>
              <a:spcAft>
                <a:spcPts val="1100"/>
              </a:spcAft>
              <a:buSzPct val="100000"/>
              <a:buChar char="▪"/>
            </a:pPr>
            <a:r>
              <a:rPr lang="en-US" sz="1150" dirty="0">
                <a:solidFill>
                  <a:srgbClr val="D6E2F0"/>
                </a:solidFill>
                <a:latin typeface="Meiryo" pitchFamily="34" charset="0"/>
                <a:ea typeface="Meiryo" pitchFamily="34" charset="-122"/>
                <a:cs typeface="Meiryo" pitchFamily="34" charset="-120"/>
              </a:rPr>
              <a:t>HUTECH大学</a:t>
            </a:r>
            <a:endParaRPr lang="en-US" sz="1150" dirty="0"/>
          </a:p>
        </p:txBody>
      </p:sp>
      <p:sp>
        <p:nvSpPr>
          <p:cNvPr id="10" name="Text 8"/>
          <p:cNvSpPr txBox="1"/>
          <p:nvPr/>
        </p:nvSpPr>
        <p:spPr>
          <a:xfrm>
            <a:off x="822960" y="5230368"/>
            <a:ext cx="2651760" cy="822960"/>
          </a:xfrm>
          <a:prstGeom prst="rect">
            <a:avLst/>
          </a:prstGeom>
          <a:noFill/>
          <a:ln/>
        </p:spPr>
        <p:txBody>
          <a:bodyPr wrap="square" lIns="0" tIns="0" rIns="0" bIns="0" rtlCol="0" anchor="t"/>
          <a:lstStyle/>
          <a:p>
            <a:pPr algn="l" indent="0" marL="0">
              <a:lnSpc>
                <a:spcPts val="1600"/>
              </a:lnSpc>
              <a:buNone/>
            </a:pPr>
            <a:r>
              <a:rPr lang="en-US" sz="1000" dirty="0">
                <a:solidFill>
                  <a:srgbClr val="9BB2CE"/>
                </a:solidFill>
                <a:latin typeface="Meiryo" pitchFamily="34" charset="0"/>
                <a:ea typeface="Meiryo" pitchFamily="34" charset="-122"/>
                <a:cs typeface="Meiryo" pitchFamily="34" charset="-120"/>
              </a:rPr>
              <a:t>実施校は貴社の採用人数・勤務地・求める専攻に応じて選定し、</a:t>
            </a:r>
            <a:endParaRPr lang="en-US" sz="1000" dirty="0"/>
          </a:p>
          <a:p>
            <a:pPr algn="l" indent="0" marL="0">
              <a:lnSpc>
                <a:spcPts val="1600"/>
              </a:lnSpc>
              <a:buNone/>
            </a:pPr>
            <a:r>
              <a:rPr lang="en-US" sz="1000" dirty="0">
                <a:solidFill>
                  <a:srgbClr val="9BB2CE"/>
                </a:solidFill>
                <a:latin typeface="Meiryo" pitchFamily="34" charset="0"/>
                <a:ea typeface="Meiryo" pitchFamily="34" charset="-122"/>
                <a:cs typeface="Meiryo" pitchFamily="34" charset="-120"/>
              </a:rPr>
              <a:t>必要に応じて追加校もご提案します。</a:t>
            </a:r>
            <a:endParaRPr lang="en-US" sz="1000" dirty="0"/>
          </a:p>
        </p:txBody>
      </p:sp>
      <p:sp>
        <p:nvSpPr>
          <p:cNvPr id="11" name="Shape 9"/>
          <p:cNvSpPr/>
          <p:nvPr/>
        </p:nvSpPr>
        <p:spPr>
          <a:xfrm>
            <a:off x="4078224" y="2121408"/>
            <a:ext cx="3654400" cy="1627632"/>
          </a:xfrm>
          <a:prstGeom prst="roundRect">
            <a:avLst>
              <a:gd name="adj" fmla="val 2809"/>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12" name="Shape 10"/>
          <p:cNvSpPr/>
          <p:nvPr/>
        </p:nvSpPr>
        <p:spPr>
          <a:xfrm>
            <a:off x="4315968" y="2359152"/>
            <a:ext cx="274320" cy="274320"/>
          </a:xfrm>
          <a:prstGeom prst="roundRect">
            <a:avLst>
              <a:gd name="adj" fmla="val 10000"/>
            </a:avLst>
          </a:prstGeom>
          <a:solidFill>
            <a:srgbClr val="0E2244"/>
          </a:solidFill>
          <a:ln w="12700">
            <a:solidFill>
              <a:srgbClr val="0E2244"/>
            </a:solidFill>
            <a:prstDash val="solid"/>
          </a:ln>
        </p:spPr>
      </p:sp>
      <p:sp>
        <p:nvSpPr>
          <p:cNvPr id="13" name="Text 11"/>
          <p:cNvSpPr txBox="1"/>
          <p:nvPr/>
        </p:nvSpPr>
        <p:spPr>
          <a:xfrm>
            <a:off x="4315968" y="23591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14" name="Text 12"/>
          <p:cNvSpPr txBox="1"/>
          <p:nvPr/>
        </p:nvSpPr>
        <p:spPr>
          <a:xfrm>
            <a:off x="4700016" y="2359152"/>
            <a:ext cx="2794864" cy="274320"/>
          </a:xfrm>
          <a:prstGeom prst="rect">
            <a:avLst/>
          </a:prstGeom>
          <a:noFill/>
          <a:ln/>
        </p:spPr>
        <p:txBody>
          <a:bodyPr wrap="square" lIns="0" tIns="0" rIns="0" bIns="0" rtlCol="0" anchor="ctr"/>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大学との日程調整・会場確保</a:t>
            </a:r>
            <a:endParaRPr lang="en-US" sz="1200" dirty="0"/>
          </a:p>
        </p:txBody>
      </p:sp>
      <p:sp>
        <p:nvSpPr>
          <p:cNvPr id="15" name="Text 13"/>
          <p:cNvSpPr txBox="1"/>
          <p:nvPr/>
        </p:nvSpPr>
        <p:spPr>
          <a:xfrm>
            <a:off x="4315968" y="2761488"/>
            <a:ext cx="3178912" cy="868680"/>
          </a:xfrm>
          <a:prstGeom prst="rect">
            <a:avLst/>
          </a:prstGeom>
          <a:noFill/>
          <a:ln/>
        </p:spPr>
        <p:txBody>
          <a:bodyPr wrap="square" lIns="0" tIns="0" rIns="0" bIns="0" rtlCol="0" anchor="t"/>
          <a:lstStyle/>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ESUTECHが各大学の就職支援部門と交渉し、教室と実施枠を確保します。貴社にお手間は発生しません。</a:t>
            </a:r>
            <a:endParaRPr lang="en-US" sz="1000" dirty="0"/>
          </a:p>
        </p:txBody>
      </p:sp>
      <p:sp>
        <p:nvSpPr>
          <p:cNvPr id="16" name="Shape 14"/>
          <p:cNvSpPr/>
          <p:nvPr/>
        </p:nvSpPr>
        <p:spPr>
          <a:xfrm>
            <a:off x="7988656" y="2121408"/>
            <a:ext cx="3654400" cy="1627632"/>
          </a:xfrm>
          <a:prstGeom prst="roundRect">
            <a:avLst>
              <a:gd name="adj" fmla="val 2809"/>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17" name="Shape 15"/>
          <p:cNvSpPr/>
          <p:nvPr/>
        </p:nvSpPr>
        <p:spPr>
          <a:xfrm>
            <a:off x="8226400" y="2359152"/>
            <a:ext cx="274320" cy="274320"/>
          </a:xfrm>
          <a:prstGeom prst="roundRect">
            <a:avLst>
              <a:gd name="adj" fmla="val 10000"/>
            </a:avLst>
          </a:prstGeom>
          <a:solidFill>
            <a:srgbClr val="0E2244"/>
          </a:solidFill>
          <a:ln w="12700">
            <a:solidFill>
              <a:srgbClr val="0E2244"/>
            </a:solidFill>
            <a:prstDash val="solid"/>
          </a:ln>
        </p:spPr>
      </p:sp>
      <p:sp>
        <p:nvSpPr>
          <p:cNvPr id="18" name="Text 16"/>
          <p:cNvSpPr txBox="1"/>
          <p:nvPr/>
        </p:nvSpPr>
        <p:spPr>
          <a:xfrm>
            <a:off x="8226400" y="23591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19" name="Text 17"/>
          <p:cNvSpPr txBox="1"/>
          <p:nvPr/>
        </p:nvSpPr>
        <p:spPr>
          <a:xfrm>
            <a:off x="8610448" y="2359152"/>
            <a:ext cx="2794864" cy="274320"/>
          </a:xfrm>
          <a:prstGeom prst="rect">
            <a:avLst/>
          </a:prstGeom>
          <a:noFill/>
          <a:ln/>
        </p:spPr>
        <p:txBody>
          <a:bodyPr wrap="square" lIns="0" tIns="0" rIns="0" bIns="0" rtlCol="0" anchor="ctr"/>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貴社単独での告知（3週間）</a:t>
            </a:r>
            <a:endParaRPr lang="en-US" sz="1200" dirty="0"/>
          </a:p>
        </p:txBody>
      </p:sp>
      <p:sp>
        <p:nvSpPr>
          <p:cNvPr id="20" name="Text 18"/>
          <p:cNvSpPr txBox="1"/>
          <p:nvPr/>
        </p:nvSpPr>
        <p:spPr>
          <a:xfrm>
            <a:off x="8226400" y="2761488"/>
            <a:ext cx="3178912" cy="868680"/>
          </a:xfrm>
          <a:prstGeom prst="rect">
            <a:avLst/>
          </a:prstGeom>
          <a:noFill/>
          <a:ln/>
        </p:spPr>
        <p:txBody>
          <a:bodyPr wrap="square" lIns="0" tIns="0" rIns="0" bIns="0" rtlCol="0" anchor="t"/>
          <a:lstStyle/>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貴社の企業情報・職務内容・待遇を明記した募集広告を、学内掲示・SNS・学科経由で展開します。</a:t>
            </a:r>
            <a:endParaRPr lang="en-US" sz="1000" dirty="0"/>
          </a:p>
        </p:txBody>
      </p:sp>
      <p:sp>
        <p:nvSpPr>
          <p:cNvPr id="21" name="Shape 19"/>
          <p:cNvSpPr/>
          <p:nvPr/>
        </p:nvSpPr>
        <p:spPr>
          <a:xfrm>
            <a:off x="4078224" y="3877056"/>
            <a:ext cx="3654400" cy="1627632"/>
          </a:xfrm>
          <a:prstGeom prst="roundRect">
            <a:avLst>
              <a:gd name="adj" fmla="val 2809"/>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22" name="Shape 20"/>
          <p:cNvSpPr/>
          <p:nvPr/>
        </p:nvSpPr>
        <p:spPr>
          <a:xfrm>
            <a:off x="4315968" y="4114800"/>
            <a:ext cx="274320" cy="274320"/>
          </a:xfrm>
          <a:prstGeom prst="roundRect">
            <a:avLst>
              <a:gd name="adj" fmla="val 10000"/>
            </a:avLst>
          </a:prstGeom>
          <a:solidFill>
            <a:srgbClr val="0E2244"/>
          </a:solidFill>
          <a:ln w="12700">
            <a:solidFill>
              <a:srgbClr val="0E2244"/>
            </a:solidFill>
            <a:prstDash val="solid"/>
          </a:ln>
        </p:spPr>
      </p:sp>
      <p:sp>
        <p:nvSpPr>
          <p:cNvPr id="23" name="Text 21"/>
          <p:cNvSpPr txBox="1"/>
          <p:nvPr/>
        </p:nvSpPr>
        <p:spPr>
          <a:xfrm>
            <a:off x="4315968" y="411480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24" name="Text 22"/>
          <p:cNvSpPr txBox="1"/>
          <p:nvPr/>
        </p:nvSpPr>
        <p:spPr>
          <a:xfrm>
            <a:off x="4700016" y="4114800"/>
            <a:ext cx="2794864" cy="274320"/>
          </a:xfrm>
          <a:prstGeom prst="rect">
            <a:avLst/>
          </a:prstGeom>
          <a:noFill/>
          <a:ln/>
        </p:spPr>
        <p:txBody>
          <a:bodyPr wrap="square" lIns="0" tIns="0" rIns="0" bIns="0" rtlCol="0" anchor="ctr"/>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事前エントリー制</a:t>
            </a:r>
            <a:endParaRPr lang="en-US" sz="1200" dirty="0"/>
          </a:p>
        </p:txBody>
      </p:sp>
      <p:sp>
        <p:nvSpPr>
          <p:cNvPr id="25" name="Text 23"/>
          <p:cNvSpPr txBox="1"/>
          <p:nvPr/>
        </p:nvSpPr>
        <p:spPr>
          <a:xfrm>
            <a:off x="4315968" y="4517136"/>
            <a:ext cx="3178912" cy="868680"/>
          </a:xfrm>
          <a:prstGeom prst="rect">
            <a:avLst/>
          </a:prstGeom>
          <a:noFill/>
          <a:ln/>
        </p:spPr>
        <p:txBody>
          <a:bodyPr wrap="square" lIns="0" tIns="0" rIns="0" bIns="0" rtlCol="0" anchor="t"/>
          <a:lstStyle/>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申込時に志望理由と専攻を提出いただきます。動機のある学生を事前に可視化し、当日の面談精度を上げます。</a:t>
            </a:r>
            <a:endParaRPr lang="en-US" sz="1000" dirty="0"/>
          </a:p>
        </p:txBody>
      </p:sp>
      <p:sp>
        <p:nvSpPr>
          <p:cNvPr id="26" name="Shape 24"/>
          <p:cNvSpPr/>
          <p:nvPr/>
        </p:nvSpPr>
        <p:spPr>
          <a:xfrm>
            <a:off x="7988656" y="3877056"/>
            <a:ext cx="3654400" cy="1627632"/>
          </a:xfrm>
          <a:prstGeom prst="roundRect">
            <a:avLst>
              <a:gd name="adj" fmla="val 2809"/>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27" name="Shape 25"/>
          <p:cNvSpPr/>
          <p:nvPr/>
        </p:nvSpPr>
        <p:spPr>
          <a:xfrm>
            <a:off x="8226400" y="4114800"/>
            <a:ext cx="274320" cy="274320"/>
          </a:xfrm>
          <a:prstGeom prst="roundRect">
            <a:avLst>
              <a:gd name="adj" fmla="val 10000"/>
            </a:avLst>
          </a:prstGeom>
          <a:solidFill>
            <a:srgbClr val="0E2244"/>
          </a:solidFill>
          <a:ln w="12700">
            <a:solidFill>
              <a:srgbClr val="0E2244"/>
            </a:solidFill>
            <a:prstDash val="solid"/>
          </a:ln>
        </p:spPr>
      </p:sp>
      <p:sp>
        <p:nvSpPr>
          <p:cNvPr id="28" name="Text 26"/>
          <p:cNvSpPr txBox="1"/>
          <p:nvPr/>
        </p:nvSpPr>
        <p:spPr>
          <a:xfrm>
            <a:off x="8226400" y="411480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04</a:t>
            </a:r>
            <a:endParaRPr lang="en-US" sz="1000" dirty="0"/>
          </a:p>
        </p:txBody>
      </p:sp>
      <p:sp>
        <p:nvSpPr>
          <p:cNvPr id="29" name="Text 27"/>
          <p:cNvSpPr txBox="1"/>
          <p:nvPr/>
        </p:nvSpPr>
        <p:spPr>
          <a:xfrm>
            <a:off x="8610448" y="4114800"/>
            <a:ext cx="2794864" cy="274320"/>
          </a:xfrm>
          <a:prstGeom prst="rect">
            <a:avLst/>
          </a:prstGeom>
          <a:noFill/>
          <a:ln/>
        </p:spPr>
        <p:txBody>
          <a:bodyPr wrap="square" lIns="0" tIns="0" rIns="0" bIns="0" rtlCol="0" anchor="ctr"/>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説明会当日（貴社ご登壇）</a:t>
            </a:r>
            <a:endParaRPr lang="en-US" sz="1200" dirty="0"/>
          </a:p>
        </p:txBody>
      </p:sp>
      <p:sp>
        <p:nvSpPr>
          <p:cNvPr id="30" name="Text 28"/>
          <p:cNvSpPr txBox="1"/>
          <p:nvPr/>
        </p:nvSpPr>
        <p:spPr>
          <a:xfrm>
            <a:off x="8226400" y="4517136"/>
            <a:ext cx="3178912" cy="868680"/>
          </a:xfrm>
          <a:prstGeom prst="rect">
            <a:avLst/>
          </a:prstGeom>
          <a:noFill/>
          <a:ln/>
        </p:spPr>
        <p:txBody>
          <a:bodyPr wrap="square" lIns="0" tIns="0" rIns="0" bIns="0" rtlCol="0" anchor="t"/>
          <a:lstStyle/>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貴社採用責任者にご登壇いただき、その場で個別質問・一次面談まで実施します。通訳は弊社が手配します。</a:t>
            </a:r>
            <a:endParaRPr lang="en-US" sz="1000" dirty="0"/>
          </a:p>
        </p:txBody>
      </p:sp>
      <p:sp>
        <p:nvSpPr>
          <p:cNvPr id="31" name="Shape 29"/>
          <p:cNvSpPr/>
          <p:nvPr/>
        </p:nvSpPr>
        <p:spPr>
          <a:xfrm>
            <a:off x="4078224" y="5559552"/>
            <a:ext cx="7564831" cy="713232"/>
          </a:xfrm>
          <a:prstGeom prst="roundRect">
            <a:avLst>
              <a:gd name="adj" fmla="val 6410"/>
            </a:avLst>
          </a:prstGeom>
          <a:solidFill>
            <a:srgbClr val="EEF2F7"/>
          </a:solidFill>
          <a:ln w="12700">
            <a:solidFill>
              <a:srgbClr val="DBE3EC"/>
            </a:solidFill>
            <a:prstDash val="solid"/>
          </a:ln>
          <a:effectLst>
            <a:outerShdw sx="100000" sy="100000" kx="0" ky="0" algn="bl" rotWithShape="0" blurRad="101600" dist="12700" dir="5400000">
              <a:srgbClr val="0E2244">
                <a:alpha val="8000"/>
              </a:srgbClr>
            </a:outerShdw>
          </a:effectLst>
        </p:spPr>
      </p:sp>
      <p:sp>
        <p:nvSpPr>
          <p:cNvPr id="32" name="Text 30"/>
          <p:cNvSpPr txBox="1"/>
          <p:nvPr/>
        </p:nvSpPr>
        <p:spPr>
          <a:xfrm>
            <a:off x="4334256" y="5669280"/>
            <a:ext cx="7052767" cy="256032"/>
          </a:xfrm>
          <a:prstGeom prst="rect">
            <a:avLst/>
          </a:prstGeom>
          <a:noFill/>
          <a:ln/>
        </p:spPr>
        <p:txBody>
          <a:bodyPr wrap="square" lIns="0" tIns="0" rIns="0" bIns="0" rtlCol="0" anchor="ctr"/>
          <a:lstStyle/>
          <a:p>
            <a:pPr indent="0" marL="0">
              <a:buNone/>
            </a:pPr>
            <a:r>
              <a:rPr lang="en-US" sz="1150" b="1" dirty="0">
                <a:solidFill>
                  <a:srgbClr val="0E2244"/>
                </a:solidFill>
                <a:latin typeface="Meiryo" pitchFamily="34" charset="0"/>
                <a:ea typeface="Meiryo" pitchFamily="34" charset="-122"/>
                <a:cs typeface="Meiryo" pitchFamily="34" charset="-120"/>
              </a:rPr>
              <a:t>想定規模（目安）：</a:t>
            </a:r>
            <a:pPr indent="0" marL="0">
              <a:buNone/>
            </a:pPr>
            <a:r>
              <a:rPr lang="en-US" sz="1150" dirty="0">
                <a:solidFill>
                  <a:srgbClr val="0E2244"/>
                </a:solidFill>
                <a:latin typeface="Meiryo" pitchFamily="34" charset="0"/>
                <a:ea typeface="Meiryo" pitchFamily="34" charset="-122"/>
                <a:cs typeface="Meiryo" pitchFamily="34" charset="-120"/>
              </a:rPr>
              <a:t>1校あたり参加 30〜50名 を目安に、2〜3校で母集団を形成します。</a:t>
            </a:r>
            <a:endParaRPr lang="en-US" sz="1150" dirty="0"/>
          </a:p>
        </p:txBody>
      </p:sp>
      <p:sp>
        <p:nvSpPr>
          <p:cNvPr id="33" name="Text 31"/>
          <p:cNvSpPr txBox="1"/>
          <p:nvPr/>
        </p:nvSpPr>
        <p:spPr>
          <a:xfrm>
            <a:off x="4334256" y="5961888"/>
            <a:ext cx="7052767" cy="256032"/>
          </a:xfrm>
          <a:prstGeom prst="rect">
            <a:avLst/>
          </a:prstGeom>
          <a:noFill/>
          <a:ln/>
        </p:spPr>
        <p:txBody>
          <a:bodyPr wrap="square" lIns="0" tIns="0" rIns="0" bIns="0" rtlCol="0" anchor="t"/>
          <a:lstStyle/>
          <a:p>
            <a:pPr algn="l" indent="0" marL="0">
              <a:lnSpc>
                <a:spcPts val="1440"/>
              </a:lnSpc>
              <a:buNone/>
            </a:pPr>
            <a:r>
              <a:rPr lang="en-US" sz="900" dirty="0">
                <a:solidFill>
                  <a:srgbClr val="5C6878"/>
                </a:solidFill>
                <a:latin typeface="Meiryo" pitchFamily="34" charset="0"/>
                <a:ea typeface="Meiryo" pitchFamily="34" charset="-122"/>
                <a:cs typeface="Meiryo" pitchFamily="34" charset="-120"/>
              </a:rPr>
              <a:t>※ 参加人数は大学・実施時期・貴社の募集条件により変動します。確定値ではなく計画上の目安としてご覧ください。</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050" b="1" spc="200" kern="0" dirty="0">
                <a:solidFill>
                  <a:srgbClr val="C8102E"/>
                </a:solidFill>
                <a:latin typeface="Arial" pitchFamily="34" charset="0"/>
                <a:ea typeface="Arial" pitchFamily="34" charset="-122"/>
                <a:cs typeface="Arial" pitchFamily="34" charset="-120"/>
              </a:rPr>
              <a:t>BRIEFING STRATEGY</a:t>
            </a:r>
            <a:endParaRPr lang="en-US" sz="1050" dirty="0"/>
          </a:p>
        </p:txBody>
      </p:sp>
      <p:sp>
        <p:nvSpPr>
          <p:cNvPr id="3" name="Text 1"/>
          <p:cNvSpPr txBox="1"/>
          <p:nvPr/>
        </p:nvSpPr>
        <p:spPr>
          <a:xfrm>
            <a:off x="548640" y="566928"/>
            <a:ext cx="11094415" cy="566928"/>
          </a:xfrm>
          <a:prstGeom prst="rect">
            <a:avLst/>
          </a:prstGeom>
          <a:noFill/>
          <a:ln/>
        </p:spPr>
        <p:txBody>
          <a:bodyPr wrap="square" lIns="0" tIns="0" rIns="0" bIns="0" rtlCol="0" anchor="t"/>
          <a:lstStyle/>
          <a:p>
            <a:pPr indent="0" marL="0">
              <a:buNone/>
            </a:pPr>
            <a:r>
              <a:rPr lang="en-US" sz="2800" b="1" dirty="0">
                <a:solidFill>
                  <a:srgbClr val="0E2244"/>
                </a:solidFill>
                <a:latin typeface="Meiryo" pitchFamily="34" charset="0"/>
                <a:ea typeface="Meiryo" pitchFamily="34" charset="-122"/>
                <a:cs typeface="Meiryo" pitchFamily="34" charset="-120"/>
              </a:rPr>
              <a:t>説明会で伝えるべきこと</a:t>
            </a:r>
            <a:endParaRPr lang="en-US" sz="2800" dirty="0"/>
          </a:p>
        </p:txBody>
      </p:sp>
      <p:sp>
        <p:nvSpPr>
          <p:cNvPr id="4" name="Shape 2"/>
          <p:cNvSpPr/>
          <p:nvPr/>
        </p:nvSpPr>
        <p:spPr>
          <a:xfrm>
            <a:off x="548640" y="1280160"/>
            <a:ext cx="11094415" cy="658368"/>
          </a:xfrm>
          <a:prstGeom prst="rect">
            <a:avLst/>
          </a:prstGeom>
          <a:solidFill>
            <a:srgbClr val="EEF2F7"/>
          </a:solidFill>
          <a:ln/>
        </p:spPr>
      </p:sp>
      <p:sp>
        <p:nvSpPr>
          <p:cNvPr id="5" name="Text 3"/>
          <p:cNvSpPr txBox="1"/>
          <p:nvPr/>
        </p:nvSpPr>
        <p:spPr>
          <a:xfrm>
            <a:off x="868680" y="1280160"/>
            <a:ext cx="10454335" cy="658368"/>
          </a:xfrm>
          <a:prstGeom prst="rect">
            <a:avLst/>
          </a:prstGeom>
          <a:noFill/>
          <a:ln/>
        </p:spPr>
        <p:txBody>
          <a:bodyPr wrap="square" lIns="0" tIns="0" rIns="0" bIns="0" rtlCol="0" anchor="ctr"/>
          <a:lstStyle/>
          <a:p>
            <a:pPr indent="0" marL="0">
              <a:lnSpc>
                <a:spcPts val="2030"/>
              </a:lnSpc>
              <a:buNone/>
            </a:pPr>
            <a:r>
              <a:rPr lang="en-US" sz="1400" b="1" dirty="0">
                <a:solidFill>
                  <a:srgbClr val="0E2244"/>
                </a:solidFill>
                <a:latin typeface="Meiryo" pitchFamily="34" charset="0"/>
                <a:ea typeface="Meiryo" pitchFamily="34" charset="-122"/>
                <a:cs typeface="Meiryo" pitchFamily="34" charset="-120"/>
              </a:rPr>
              <a:t>「出稼ぎ」ではなく「日本でのキャリア形成」をイメージさせる、具体的な年収とビジョンの提示が不可欠です。</a:t>
            </a:r>
            <a:endParaRPr lang="en-US" sz="1400" dirty="0"/>
          </a:p>
        </p:txBody>
      </p:sp>
      <p:sp>
        <p:nvSpPr>
          <p:cNvPr id="6" name="Shape 4"/>
          <p:cNvSpPr/>
          <p:nvPr/>
        </p:nvSpPr>
        <p:spPr>
          <a:xfrm>
            <a:off x="548640" y="2194560"/>
            <a:ext cx="2609012" cy="3200400"/>
          </a:xfrm>
          <a:prstGeom prst="roundRect">
            <a:avLst>
              <a:gd name="adj" fmla="val 1752"/>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7" name="Shape 5"/>
          <p:cNvSpPr/>
          <p:nvPr/>
        </p:nvSpPr>
        <p:spPr>
          <a:xfrm>
            <a:off x="768096" y="2432304"/>
            <a:ext cx="274320" cy="274320"/>
          </a:xfrm>
          <a:prstGeom prst="roundRect">
            <a:avLst>
              <a:gd name="adj" fmla="val 10000"/>
            </a:avLst>
          </a:prstGeom>
          <a:solidFill>
            <a:srgbClr val="0E2244"/>
          </a:solidFill>
          <a:ln w="12700">
            <a:solidFill>
              <a:srgbClr val="0E2244"/>
            </a:solidFill>
            <a:prstDash val="solid"/>
          </a:ln>
        </p:spPr>
      </p:sp>
      <p:sp>
        <p:nvSpPr>
          <p:cNvPr id="8" name="Text 6"/>
          <p:cNvSpPr txBox="1"/>
          <p:nvPr/>
        </p:nvSpPr>
        <p:spPr>
          <a:xfrm>
            <a:off x="768096" y="24323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9" name="Text 7"/>
          <p:cNvSpPr txBox="1"/>
          <p:nvPr/>
        </p:nvSpPr>
        <p:spPr>
          <a:xfrm>
            <a:off x="1152144" y="2432304"/>
            <a:ext cx="1786052" cy="274320"/>
          </a:xfrm>
          <a:prstGeom prst="rect">
            <a:avLst/>
          </a:prstGeom>
          <a:noFill/>
          <a:ln/>
        </p:spPr>
        <p:txBody>
          <a:bodyPr wrap="square" lIns="0" tIns="0" rIns="0" bIns="0" rtlCol="0" anchor="ctr"/>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会社・職務紹介</a:t>
            </a:r>
            <a:endParaRPr lang="en-US" sz="1200" dirty="0"/>
          </a:p>
        </p:txBody>
      </p:sp>
      <p:sp>
        <p:nvSpPr>
          <p:cNvPr id="10" name="Text 8"/>
          <p:cNvSpPr txBox="1"/>
          <p:nvPr/>
        </p:nvSpPr>
        <p:spPr>
          <a:xfrm>
            <a:off x="786384" y="2871216"/>
            <a:ext cx="2133524" cy="1828800"/>
          </a:xfrm>
          <a:prstGeom prst="rect">
            <a:avLst/>
          </a:prstGeom>
          <a:noFill/>
          <a:ln/>
        </p:spPr>
        <p:txBody>
          <a:bodyPr wrap="square" lIns="0" tIns="0" rIns="0" bIns="0" rtlCol="0" anchor="t"/>
          <a:lstStyle/>
          <a:p>
            <a:pPr marL="342900" indent="-342900">
              <a:lnSpc>
                <a:spcPts val="1550"/>
              </a:lnSpc>
              <a:spcAft>
                <a:spcPts val="600"/>
              </a:spcAft>
              <a:buSzPct val="100000"/>
              <a:buChar char="▪"/>
            </a:pPr>
            <a:r>
              <a:rPr lang="en-US" sz="1000" dirty="0">
                <a:solidFill>
                  <a:srgbClr val="5C6878"/>
                </a:solidFill>
                <a:latin typeface="Meiryo" pitchFamily="34" charset="0"/>
                <a:ea typeface="Meiryo" pitchFamily="34" charset="-122"/>
                <a:cs typeface="Meiryo" pitchFamily="34" charset="-120"/>
              </a:rPr>
              <a:t>事業内容と業界内での立ち位置</a:t>
            </a:r>
            <a:endParaRPr lang="en-US" sz="1000" dirty="0"/>
          </a:p>
          <a:p>
            <a:pPr marL="342900" indent="-342900">
              <a:lnSpc>
                <a:spcPts val="1550"/>
              </a:lnSpc>
              <a:spcAft>
                <a:spcPts val="600"/>
              </a:spcAft>
              <a:buSzPct val="100000"/>
              <a:buChar char="▪"/>
            </a:pPr>
            <a:r>
              <a:rPr lang="en-US" sz="1000" dirty="0">
                <a:solidFill>
                  <a:srgbClr val="5C6878"/>
                </a:solidFill>
                <a:latin typeface="Meiryo" pitchFamily="34" charset="0"/>
                <a:ea typeface="Meiryo" pitchFamily="34" charset="-122"/>
                <a:cs typeface="Meiryo" pitchFamily="34" charset="-120"/>
              </a:rPr>
              <a:t>誇れる施工実績の視覚的提示</a:t>
            </a:r>
            <a:endParaRPr lang="en-US" sz="1000" dirty="0"/>
          </a:p>
          <a:p>
            <a:pPr marL="342900" indent="-342900">
              <a:lnSpc>
                <a:spcPts val="1550"/>
              </a:lnSpc>
              <a:spcAft>
                <a:spcPts val="600"/>
              </a:spcAft>
              <a:buSzPct val="100000"/>
              <a:buChar char="▪"/>
            </a:pPr>
            <a:r>
              <a:rPr lang="en-US" sz="1000" dirty="0">
                <a:solidFill>
                  <a:srgbClr val="5C6878"/>
                </a:solidFill>
                <a:latin typeface="Meiryo" pitchFamily="34" charset="0"/>
                <a:ea typeface="Meiryo" pitchFamily="34" charset="-122"/>
                <a:cs typeface="Meiryo" pitchFamily="34" charset="-120"/>
              </a:rPr>
              <a:t>施工管理（安全・品質・工程等）の具体的な業務フロー</a:t>
            </a:r>
            <a:endParaRPr lang="en-US" sz="1000" dirty="0"/>
          </a:p>
        </p:txBody>
      </p:sp>
      <p:sp>
        <p:nvSpPr>
          <p:cNvPr id="11" name="Shape 9"/>
          <p:cNvSpPr/>
          <p:nvPr/>
        </p:nvSpPr>
        <p:spPr>
          <a:xfrm>
            <a:off x="3377108" y="2194560"/>
            <a:ext cx="2609012" cy="3200400"/>
          </a:xfrm>
          <a:prstGeom prst="roundRect">
            <a:avLst>
              <a:gd name="adj" fmla="val 1752"/>
            </a:avLst>
          </a:prstGeom>
          <a:solidFill>
            <a:srgbClr val="FFFFFF"/>
          </a:solidFill>
          <a:ln w="12700">
            <a:solidFill>
              <a:srgbClr val="C8102E"/>
            </a:solidFill>
            <a:prstDash val="solid"/>
          </a:ln>
          <a:effectLst>
            <a:outerShdw sx="100000" sy="100000" kx="0" ky="0" algn="bl" rotWithShape="0" blurRad="101600" dist="12700" dir="5400000">
              <a:srgbClr val="0E2244">
                <a:alpha val="8000"/>
              </a:srgbClr>
            </a:outerShdw>
          </a:effectLst>
        </p:spPr>
      </p:sp>
      <p:sp>
        <p:nvSpPr>
          <p:cNvPr id="12" name="Shape 10"/>
          <p:cNvSpPr/>
          <p:nvPr/>
        </p:nvSpPr>
        <p:spPr>
          <a:xfrm>
            <a:off x="5026000" y="2066544"/>
            <a:ext cx="822960" cy="237744"/>
          </a:xfrm>
          <a:prstGeom prst="rect">
            <a:avLst/>
          </a:prstGeom>
          <a:solidFill>
            <a:srgbClr val="C8102E"/>
          </a:solidFill>
          <a:ln/>
        </p:spPr>
      </p:sp>
      <p:sp>
        <p:nvSpPr>
          <p:cNvPr id="13" name="Text 11"/>
          <p:cNvSpPr txBox="1"/>
          <p:nvPr/>
        </p:nvSpPr>
        <p:spPr>
          <a:xfrm>
            <a:off x="5026000" y="2066544"/>
            <a:ext cx="822960" cy="237744"/>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Arial" pitchFamily="34" charset="0"/>
                <a:ea typeface="Arial" pitchFamily="34" charset="-122"/>
                <a:cs typeface="Arial" pitchFamily="34" charset="-120"/>
              </a:rPr>
              <a:t>PRIORITY</a:t>
            </a:r>
            <a:endParaRPr lang="en-US" sz="750" dirty="0"/>
          </a:p>
        </p:txBody>
      </p:sp>
      <p:sp>
        <p:nvSpPr>
          <p:cNvPr id="14" name="Shape 12"/>
          <p:cNvSpPr/>
          <p:nvPr/>
        </p:nvSpPr>
        <p:spPr>
          <a:xfrm>
            <a:off x="3596564" y="2432304"/>
            <a:ext cx="274320" cy="274320"/>
          </a:xfrm>
          <a:prstGeom prst="roundRect">
            <a:avLst>
              <a:gd name="adj" fmla="val 10000"/>
            </a:avLst>
          </a:prstGeom>
          <a:solidFill>
            <a:srgbClr val="C8102E"/>
          </a:solidFill>
          <a:ln w="12700">
            <a:solidFill>
              <a:srgbClr val="C8102E"/>
            </a:solidFill>
            <a:prstDash val="solid"/>
          </a:ln>
        </p:spPr>
      </p:sp>
      <p:sp>
        <p:nvSpPr>
          <p:cNvPr id="15" name="Text 13"/>
          <p:cNvSpPr txBox="1"/>
          <p:nvPr/>
        </p:nvSpPr>
        <p:spPr>
          <a:xfrm>
            <a:off x="3596564" y="24323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16" name="Text 14"/>
          <p:cNvSpPr txBox="1"/>
          <p:nvPr/>
        </p:nvSpPr>
        <p:spPr>
          <a:xfrm>
            <a:off x="3980612" y="2432304"/>
            <a:ext cx="1786052" cy="274320"/>
          </a:xfrm>
          <a:prstGeom prst="rect">
            <a:avLst/>
          </a:prstGeom>
          <a:noFill/>
          <a:ln/>
        </p:spPr>
        <p:txBody>
          <a:bodyPr wrap="square" lIns="0" tIns="0" rIns="0" bIns="0" rtlCol="0" anchor="ctr"/>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待遇の提示（例）</a:t>
            </a:r>
            <a:endParaRPr lang="en-US" sz="1200" dirty="0"/>
          </a:p>
        </p:txBody>
      </p:sp>
      <p:sp>
        <p:nvSpPr>
          <p:cNvPr id="17" name="Shape 15"/>
          <p:cNvSpPr/>
          <p:nvPr/>
        </p:nvSpPr>
        <p:spPr>
          <a:xfrm>
            <a:off x="3614852" y="2871216"/>
            <a:ext cx="2133524" cy="1060704"/>
          </a:xfrm>
          <a:prstGeom prst="rect">
            <a:avLst/>
          </a:prstGeom>
          <a:solidFill>
            <a:srgbClr val="F7F9FC"/>
          </a:solidFill>
          <a:ln/>
        </p:spPr>
      </p:sp>
      <p:sp>
        <p:nvSpPr>
          <p:cNvPr id="18" name="Text 16"/>
          <p:cNvSpPr txBox="1"/>
          <p:nvPr/>
        </p:nvSpPr>
        <p:spPr>
          <a:xfrm>
            <a:off x="3724580" y="2962656"/>
            <a:ext cx="1914068" cy="219456"/>
          </a:xfrm>
          <a:prstGeom prst="rect">
            <a:avLst/>
          </a:prstGeom>
          <a:noFill/>
          <a:ln/>
        </p:spPr>
        <p:txBody>
          <a:bodyPr wrap="square" lIns="0" tIns="0" rIns="0" bIns="0" rtlCol="0" anchor="t"/>
          <a:lstStyle/>
          <a:p>
            <a:pPr algn="l" indent="0" marL="0">
              <a:lnSpc>
                <a:spcPts val="1360"/>
              </a:lnSpc>
              <a:buNone/>
            </a:pPr>
            <a:r>
              <a:rPr lang="en-US" sz="850" dirty="0">
                <a:solidFill>
                  <a:srgbClr val="5C6878"/>
                </a:solidFill>
                <a:latin typeface="Meiryo" pitchFamily="34" charset="0"/>
                <a:ea typeface="Meiryo" pitchFamily="34" charset="-122"/>
                <a:cs typeface="Meiryo" pitchFamily="34" charset="-120"/>
              </a:rPr>
              <a:t>モデル年収例</a:t>
            </a:r>
            <a:endParaRPr lang="en-US" sz="850" dirty="0"/>
          </a:p>
        </p:txBody>
      </p:sp>
      <p:sp>
        <p:nvSpPr>
          <p:cNvPr id="19" name="Text 17"/>
          <p:cNvSpPr txBox="1"/>
          <p:nvPr/>
        </p:nvSpPr>
        <p:spPr>
          <a:xfrm>
            <a:off x="3724580" y="3218688"/>
            <a:ext cx="548640" cy="274320"/>
          </a:xfrm>
          <a:prstGeom prst="rect">
            <a:avLst/>
          </a:prstGeom>
          <a:noFill/>
          <a:ln/>
        </p:spPr>
        <p:txBody>
          <a:bodyPr wrap="square" lIns="0" tIns="0" rIns="0" bIns="0" rtlCol="0" anchor="ctr"/>
          <a:lstStyle/>
          <a:p>
            <a:pPr algn="l" indent="0" marL="0">
              <a:lnSpc>
                <a:spcPts val="1600"/>
              </a:lnSpc>
              <a:buNone/>
            </a:pPr>
            <a:r>
              <a:rPr lang="en-US" sz="1000" dirty="0">
                <a:solidFill>
                  <a:srgbClr val="1A2230"/>
                </a:solidFill>
                <a:latin typeface="Meiryo" pitchFamily="34" charset="0"/>
                <a:ea typeface="Meiryo" pitchFamily="34" charset="-122"/>
                <a:cs typeface="Meiryo" pitchFamily="34" charset="-120"/>
              </a:rPr>
              <a:t>30歳</a:t>
            </a:r>
            <a:endParaRPr lang="en-US" sz="1000" dirty="0"/>
          </a:p>
        </p:txBody>
      </p:sp>
      <p:sp>
        <p:nvSpPr>
          <p:cNvPr id="20" name="Text 18"/>
          <p:cNvSpPr txBox="1"/>
          <p:nvPr/>
        </p:nvSpPr>
        <p:spPr>
          <a:xfrm>
            <a:off x="4200068" y="3218688"/>
            <a:ext cx="1438580" cy="274320"/>
          </a:xfrm>
          <a:prstGeom prst="rect">
            <a:avLst/>
          </a:prstGeom>
          <a:noFill/>
          <a:ln/>
        </p:spPr>
        <p:txBody>
          <a:bodyPr wrap="square" lIns="0" tIns="0" rIns="0" bIns="0" rtlCol="0" anchor="ctr"/>
          <a:lstStyle/>
          <a:p>
            <a:pPr algn="r" indent="0" marL="0">
              <a:buNone/>
            </a:pPr>
            <a:r>
              <a:rPr lang="en-US" sz="1350" b="1" dirty="0">
                <a:solidFill>
                  <a:srgbClr val="C8102E"/>
                </a:solidFill>
                <a:latin typeface="Meiryo" pitchFamily="34" charset="0"/>
                <a:ea typeface="Meiryo" pitchFamily="34" charset="-122"/>
                <a:cs typeface="Meiryo" pitchFamily="34" charset="-120"/>
              </a:rPr>
              <a:t>530〜720</a:t>
            </a:r>
            <a:pPr algn="r" indent="0" marL="0">
              <a:buNone/>
            </a:pPr>
            <a:r>
              <a:rPr lang="en-US" sz="850" dirty="0">
                <a:solidFill>
                  <a:srgbClr val="1A2230"/>
                </a:solidFill>
                <a:latin typeface="Meiryo" pitchFamily="34" charset="0"/>
                <a:ea typeface="Meiryo" pitchFamily="34" charset="-122"/>
                <a:cs typeface="Meiryo" pitchFamily="34" charset="-120"/>
              </a:rPr>
              <a:t> 万円</a:t>
            </a:r>
            <a:endParaRPr lang="en-US" sz="1350" dirty="0"/>
          </a:p>
        </p:txBody>
      </p:sp>
      <p:sp>
        <p:nvSpPr>
          <p:cNvPr id="21" name="Text 19"/>
          <p:cNvSpPr txBox="1"/>
          <p:nvPr/>
        </p:nvSpPr>
        <p:spPr>
          <a:xfrm>
            <a:off x="3724580" y="3566160"/>
            <a:ext cx="548640" cy="274320"/>
          </a:xfrm>
          <a:prstGeom prst="rect">
            <a:avLst/>
          </a:prstGeom>
          <a:noFill/>
          <a:ln/>
        </p:spPr>
        <p:txBody>
          <a:bodyPr wrap="square" lIns="0" tIns="0" rIns="0" bIns="0" rtlCol="0" anchor="ctr"/>
          <a:lstStyle/>
          <a:p>
            <a:pPr algn="l" indent="0" marL="0">
              <a:lnSpc>
                <a:spcPts val="1600"/>
              </a:lnSpc>
              <a:buNone/>
            </a:pPr>
            <a:r>
              <a:rPr lang="en-US" sz="1000" dirty="0">
                <a:solidFill>
                  <a:srgbClr val="1A2230"/>
                </a:solidFill>
                <a:latin typeface="Meiryo" pitchFamily="34" charset="0"/>
                <a:ea typeface="Meiryo" pitchFamily="34" charset="-122"/>
                <a:cs typeface="Meiryo" pitchFamily="34" charset="-120"/>
              </a:rPr>
              <a:t>40歳</a:t>
            </a:r>
            <a:endParaRPr lang="en-US" sz="1000" dirty="0"/>
          </a:p>
        </p:txBody>
      </p:sp>
      <p:sp>
        <p:nvSpPr>
          <p:cNvPr id="22" name="Text 20"/>
          <p:cNvSpPr txBox="1"/>
          <p:nvPr/>
        </p:nvSpPr>
        <p:spPr>
          <a:xfrm>
            <a:off x="4200068" y="3566160"/>
            <a:ext cx="1438580" cy="274320"/>
          </a:xfrm>
          <a:prstGeom prst="rect">
            <a:avLst/>
          </a:prstGeom>
          <a:noFill/>
          <a:ln/>
        </p:spPr>
        <p:txBody>
          <a:bodyPr wrap="square" lIns="0" tIns="0" rIns="0" bIns="0" rtlCol="0" anchor="ctr"/>
          <a:lstStyle/>
          <a:p>
            <a:pPr algn="r" indent="0" marL="0">
              <a:buNone/>
            </a:pPr>
            <a:r>
              <a:rPr lang="en-US" sz="1350" b="1" dirty="0">
                <a:solidFill>
                  <a:srgbClr val="C8102E"/>
                </a:solidFill>
                <a:latin typeface="Meiryo" pitchFamily="34" charset="0"/>
                <a:ea typeface="Meiryo" pitchFamily="34" charset="-122"/>
                <a:cs typeface="Meiryo" pitchFamily="34" charset="-120"/>
              </a:rPr>
              <a:t>800〜1,100</a:t>
            </a:r>
            <a:pPr algn="r" indent="0" marL="0">
              <a:buNone/>
            </a:pPr>
            <a:r>
              <a:rPr lang="en-US" sz="850" dirty="0">
                <a:solidFill>
                  <a:srgbClr val="1A2230"/>
                </a:solidFill>
                <a:latin typeface="Meiryo" pitchFamily="34" charset="0"/>
                <a:ea typeface="Meiryo" pitchFamily="34" charset="-122"/>
                <a:cs typeface="Meiryo" pitchFamily="34" charset="-120"/>
              </a:rPr>
              <a:t> 万円</a:t>
            </a:r>
            <a:endParaRPr lang="en-US" sz="1350" dirty="0"/>
          </a:p>
        </p:txBody>
      </p:sp>
      <p:sp>
        <p:nvSpPr>
          <p:cNvPr id="23" name="Text 21"/>
          <p:cNvSpPr txBox="1"/>
          <p:nvPr/>
        </p:nvSpPr>
        <p:spPr>
          <a:xfrm>
            <a:off x="3614852" y="4078224"/>
            <a:ext cx="2133524" cy="1097280"/>
          </a:xfrm>
          <a:prstGeom prst="rect">
            <a:avLst/>
          </a:prstGeom>
          <a:noFill/>
          <a:ln/>
        </p:spPr>
        <p:txBody>
          <a:bodyPr wrap="square" lIns="0" tIns="0" rIns="0" bIns="0" rtlCol="0" anchor="t"/>
          <a:lstStyle/>
          <a:p>
            <a:pPr marL="342900" indent="-342900">
              <a:lnSpc>
                <a:spcPts val="1550"/>
              </a:lnSpc>
              <a:spcAft>
                <a:spcPts val="600"/>
              </a:spcAft>
              <a:buSzPct val="100000"/>
              <a:buChar char="▪"/>
            </a:pPr>
            <a:r>
              <a:rPr lang="en-US" sz="1000" dirty="0">
                <a:solidFill>
                  <a:srgbClr val="5C6878"/>
                </a:solidFill>
                <a:latin typeface="Meiryo" pitchFamily="34" charset="0"/>
                <a:ea typeface="Meiryo" pitchFamily="34" charset="-122"/>
                <a:cs typeface="Meiryo" pitchFamily="34" charset="-120"/>
              </a:rPr>
              <a:t>賞与・昇給制度の明確化</a:t>
            </a:r>
            <a:endParaRPr lang="en-US" sz="1000" dirty="0"/>
          </a:p>
          <a:p>
            <a:pPr marL="342900" indent="-342900">
              <a:lnSpc>
                <a:spcPts val="1550"/>
              </a:lnSpc>
              <a:spcAft>
                <a:spcPts val="600"/>
              </a:spcAft>
              <a:buSzPct val="100000"/>
              <a:buChar char="▪"/>
            </a:pPr>
            <a:r>
              <a:rPr lang="en-US" sz="1000" dirty="0">
                <a:solidFill>
                  <a:srgbClr val="5C6878"/>
                </a:solidFill>
                <a:latin typeface="Meiryo" pitchFamily="34" charset="0"/>
                <a:ea typeface="Meiryo" pitchFamily="34" charset="-122"/>
                <a:cs typeface="Meiryo" pitchFamily="34" charset="-120"/>
              </a:rPr>
              <a:t>奨学金返済支援等の独自制度</a:t>
            </a:r>
            <a:endParaRPr lang="en-US" sz="1000" dirty="0"/>
          </a:p>
        </p:txBody>
      </p:sp>
      <p:sp>
        <p:nvSpPr>
          <p:cNvPr id="24" name="Shape 22"/>
          <p:cNvSpPr/>
          <p:nvPr/>
        </p:nvSpPr>
        <p:spPr>
          <a:xfrm>
            <a:off x="6205576" y="2194560"/>
            <a:ext cx="2609012" cy="3200400"/>
          </a:xfrm>
          <a:prstGeom prst="roundRect">
            <a:avLst>
              <a:gd name="adj" fmla="val 1752"/>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25" name="Shape 23"/>
          <p:cNvSpPr/>
          <p:nvPr/>
        </p:nvSpPr>
        <p:spPr>
          <a:xfrm>
            <a:off x="6425032" y="2432304"/>
            <a:ext cx="274320" cy="274320"/>
          </a:xfrm>
          <a:prstGeom prst="roundRect">
            <a:avLst>
              <a:gd name="adj" fmla="val 10000"/>
            </a:avLst>
          </a:prstGeom>
          <a:solidFill>
            <a:srgbClr val="0E2244"/>
          </a:solidFill>
          <a:ln w="12700">
            <a:solidFill>
              <a:srgbClr val="0E2244"/>
            </a:solidFill>
            <a:prstDash val="solid"/>
          </a:ln>
        </p:spPr>
      </p:sp>
      <p:sp>
        <p:nvSpPr>
          <p:cNvPr id="26" name="Text 24"/>
          <p:cNvSpPr txBox="1"/>
          <p:nvPr/>
        </p:nvSpPr>
        <p:spPr>
          <a:xfrm>
            <a:off x="6425032" y="24323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27" name="Text 25"/>
          <p:cNvSpPr txBox="1"/>
          <p:nvPr/>
        </p:nvSpPr>
        <p:spPr>
          <a:xfrm>
            <a:off x="6809080" y="2432304"/>
            <a:ext cx="1786052" cy="274320"/>
          </a:xfrm>
          <a:prstGeom prst="rect">
            <a:avLst/>
          </a:prstGeom>
          <a:noFill/>
          <a:ln/>
        </p:spPr>
        <p:txBody>
          <a:bodyPr wrap="square" lIns="0" tIns="0" rIns="0" bIns="0" rtlCol="0" anchor="ctr"/>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キャリアプラン</a:t>
            </a:r>
            <a:endParaRPr lang="en-US" sz="1200" dirty="0"/>
          </a:p>
        </p:txBody>
      </p:sp>
      <p:sp>
        <p:nvSpPr>
          <p:cNvPr id="28" name="Text 26"/>
          <p:cNvSpPr txBox="1"/>
          <p:nvPr/>
        </p:nvSpPr>
        <p:spPr>
          <a:xfrm>
            <a:off x="6443320" y="2907792"/>
            <a:ext cx="2133524" cy="201168"/>
          </a:xfrm>
          <a:prstGeom prst="rect">
            <a:avLst/>
          </a:prstGeom>
          <a:noFill/>
          <a:ln/>
        </p:spPr>
        <p:txBody>
          <a:bodyPr wrap="square" lIns="0" tIns="0" rIns="0" bIns="0" rtlCol="0" anchor="t"/>
          <a:lstStyle/>
          <a:p>
            <a:pPr algn="l" indent="0" marL="0">
              <a:lnSpc>
                <a:spcPts val="1360"/>
              </a:lnSpc>
              <a:buNone/>
            </a:pPr>
            <a:r>
              <a:rPr lang="en-US" sz="850" dirty="0">
                <a:solidFill>
                  <a:srgbClr val="5C6878"/>
                </a:solidFill>
                <a:latin typeface="Meiryo" pitchFamily="34" charset="0"/>
                <a:ea typeface="Meiryo" pitchFamily="34" charset="-122"/>
                <a:cs typeface="Meiryo" pitchFamily="34" charset="-120"/>
              </a:rPr>
              <a:t>取得目標資格</a:t>
            </a:r>
            <a:endParaRPr lang="en-US" sz="850" dirty="0"/>
          </a:p>
        </p:txBody>
      </p:sp>
      <p:sp>
        <p:nvSpPr>
          <p:cNvPr id="29" name="Text 27"/>
          <p:cNvSpPr txBox="1"/>
          <p:nvPr/>
        </p:nvSpPr>
        <p:spPr>
          <a:xfrm>
            <a:off x="6443320" y="3145536"/>
            <a:ext cx="2133524" cy="640080"/>
          </a:xfrm>
          <a:prstGeom prst="rect">
            <a:avLst/>
          </a:prstGeom>
          <a:noFill/>
          <a:ln/>
        </p:spPr>
        <p:txBody>
          <a:bodyPr wrap="square" lIns="0" tIns="0" rIns="0" bIns="0" rtlCol="0" anchor="t"/>
          <a:lstStyle/>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施工管理技士等の国家資格取得を全面的にバックアップ</a:t>
            </a:r>
            <a:endParaRPr lang="en-US" sz="1000" dirty="0"/>
          </a:p>
        </p:txBody>
      </p:sp>
      <p:sp>
        <p:nvSpPr>
          <p:cNvPr id="30" name="Text 28"/>
          <p:cNvSpPr txBox="1"/>
          <p:nvPr/>
        </p:nvSpPr>
        <p:spPr>
          <a:xfrm>
            <a:off x="6443320" y="3858768"/>
            <a:ext cx="2133524" cy="201168"/>
          </a:xfrm>
          <a:prstGeom prst="rect">
            <a:avLst/>
          </a:prstGeom>
          <a:noFill/>
          <a:ln/>
        </p:spPr>
        <p:txBody>
          <a:bodyPr wrap="square" lIns="0" tIns="0" rIns="0" bIns="0" rtlCol="0" anchor="t"/>
          <a:lstStyle/>
          <a:p>
            <a:pPr algn="l" indent="0" marL="0">
              <a:lnSpc>
                <a:spcPts val="1360"/>
              </a:lnSpc>
              <a:buNone/>
            </a:pPr>
            <a:r>
              <a:rPr lang="en-US" sz="850" dirty="0">
                <a:solidFill>
                  <a:srgbClr val="5C6878"/>
                </a:solidFill>
                <a:latin typeface="Meiryo" pitchFamily="34" charset="0"/>
                <a:ea typeface="Meiryo" pitchFamily="34" charset="-122"/>
                <a:cs typeface="Meiryo" pitchFamily="34" charset="-120"/>
              </a:rPr>
              <a:t>キャリアパス</a:t>
            </a:r>
            <a:endParaRPr lang="en-US" sz="850" dirty="0"/>
          </a:p>
        </p:txBody>
      </p:sp>
      <p:sp>
        <p:nvSpPr>
          <p:cNvPr id="31" name="Text 29"/>
          <p:cNvSpPr txBox="1"/>
          <p:nvPr/>
        </p:nvSpPr>
        <p:spPr>
          <a:xfrm>
            <a:off x="6443320" y="4096512"/>
            <a:ext cx="2133524" cy="1005840"/>
          </a:xfrm>
          <a:prstGeom prst="rect">
            <a:avLst/>
          </a:prstGeom>
          <a:noFill/>
          <a:ln/>
        </p:spPr>
        <p:txBody>
          <a:bodyPr wrap="square" lIns="0" tIns="0" rIns="0" bIns="0" rtlCol="0" anchor="ctr"/>
          <a:lstStyle/>
          <a:p>
            <a:pPr indent="0" marL="0">
              <a:lnSpc>
                <a:spcPts val="2000"/>
              </a:lnSpc>
              <a:buNone/>
            </a:pPr>
            <a:r>
              <a:rPr lang="en-US" sz="1050" b="1" dirty="0">
                <a:solidFill>
                  <a:srgbClr val="C8102E"/>
                </a:solidFill>
                <a:latin typeface="Meiryo" pitchFamily="34" charset="0"/>
                <a:ea typeface="Meiryo" pitchFamily="34" charset="-122"/>
                <a:cs typeface="Meiryo" pitchFamily="34" charset="-120"/>
              </a:rPr>
              <a:t>5年後：</a:t>
            </a:r>
            <a:pPr indent="0" marL="0">
              <a:lnSpc>
                <a:spcPts val="2000"/>
              </a:lnSpc>
              <a:buNone/>
            </a:pPr>
            <a:r>
              <a:rPr lang="en-US" sz="1050" dirty="0">
                <a:solidFill>
                  <a:srgbClr val="1A2230"/>
                </a:solidFill>
                <a:latin typeface="Meiryo" pitchFamily="34" charset="0"/>
                <a:ea typeface="Meiryo" pitchFamily="34" charset="-122"/>
                <a:cs typeface="Meiryo" pitchFamily="34" charset="-120"/>
              </a:rPr>
              <a:t>現場主任・リーダー</a:t>
            </a:r>
            <a:endParaRPr lang="en-US" sz="1050" dirty="0"/>
          </a:p>
          <a:p>
            <a:pPr indent="0" marL="0">
              <a:lnSpc>
                <a:spcPts val="2000"/>
              </a:lnSpc>
              <a:buNone/>
            </a:pPr>
            <a:r>
              <a:rPr lang="en-US" sz="1050" b="1" dirty="0">
                <a:solidFill>
                  <a:srgbClr val="C8102E"/>
                </a:solidFill>
                <a:latin typeface="Meiryo" pitchFamily="34" charset="0"/>
                <a:ea typeface="Meiryo" pitchFamily="34" charset="-122"/>
                <a:cs typeface="Meiryo" pitchFamily="34" charset="-120"/>
              </a:rPr>
              <a:t>10年後：</a:t>
            </a:r>
            <a:pPr indent="0" marL="0">
              <a:lnSpc>
                <a:spcPts val="2000"/>
              </a:lnSpc>
              <a:buNone/>
            </a:pPr>
            <a:r>
              <a:rPr lang="en-US" sz="1050" dirty="0">
                <a:solidFill>
                  <a:srgbClr val="1A2230"/>
                </a:solidFill>
                <a:latin typeface="Meiryo" pitchFamily="34" charset="0"/>
                <a:ea typeface="Meiryo" pitchFamily="34" charset="-122"/>
                <a:cs typeface="Meiryo" pitchFamily="34" charset="-120"/>
              </a:rPr>
              <a:t>現場所長・管理職</a:t>
            </a:r>
            <a:endParaRPr lang="en-US" sz="1050" dirty="0"/>
          </a:p>
        </p:txBody>
      </p:sp>
      <p:sp>
        <p:nvSpPr>
          <p:cNvPr id="32" name="Shape 30"/>
          <p:cNvSpPr/>
          <p:nvPr/>
        </p:nvSpPr>
        <p:spPr>
          <a:xfrm>
            <a:off x="9034043" y="2194560"/>
            <a:ext cx="2609012" cy="3200400"/>
          </a:xfrm>
          <a:prstGeom prst="roundRect">
            <a:avLst>
              <a:gd name="adj" fmla="val 1752"/>
            </a:avLst>
          </a:prstGeom>
          <a:solidFill>
            <a:srgbClr val="0E2244"/>
          </a:solidFill>
          <a:ln w="12700">
            <a:solidFill>
              <a:srgbClr val="0E2244"/>
            </a:solidFill>
            <a:prstDash val="solid"/>
          </a:ln>
          <a:effectLst>
            <a:outerShdw sx="100000" sy="100000" kx="0" ky="0" algn="bl" rotWithShape="0" blurRad="101600" dist="12700" dir="5400000">
              <a:srgbClr val="0E2244">
                <a:alpha val="8000"/>
              </a:srgbClr>
            </a:outerShdw>
          </a:effectLst>
        </p:spPr>
      </p:sp>
      <p:sp>
        <p:nvSpPr>
          <p:cNvPr id="33" name="Shape 31"/>
          <p:cNvSpPr/>
          <p:nvPr/>
        </p:nvSpPr>
        <p:spPr>
          <a:xfrm>
            <a:off x="9253499" y="2432304"/>
            <a:ext cx="274320" cy="274320"/>
          </a:xfrm>
          <a:prstGeom prst="roundRect">
            <a:avLst>
              <a:gd name="adj" fmla="val 10000"/>
            </a:avLst>
          </a:prstGeom>
          <a:solidFill>
            <a:srgbClr val="C8102E"/>
          </a:solidFill>
          <a:ln w="12700">
            <a:solidFill>
              <a:srgbClr val="C8102E"/>
            </a:solidFill>
            <a:prstDash val="solid"/>
          </a:ln>
        </p:spPr>
      </p:sp>
      <p:sp>
        <p:nvSpPr>
          <p:cNvPr id="34" name="Text 32"/>
          <p:cNvSpPr txBox="1"/>
          <p:nvPr/>
        </p:nvSpPr>
        <p:spPr>
          <a:xfrm>
            <a:off x="9253499" y="24323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04</a:t>
            </a:r>
            <a:endParaRPr lang="en-US" sz="1000" dirty="0"/>
          </a:p>
        </p:txBody>
      </p:sp>
      <p:sp>
        <p:nvSpPr>
          <p:cNvPr id="35" name="Text 33"/>
          <p:cNvSpPr txBox="1"/>
          <p:nvPr/>
        </p:nvSpPr>
        <p:spPr>
          <a:xfrm>
            <a:off x="9637547" y="2432304"/>
            <a:ext cx="1786052" cy="274320"/>
          </a:xfrm>
          <a:prstGeom prst="rect">
            <a:avLst/>
          </a:prstGeom>
          <a:noFill/>
          <a:ln/>
        </p:spPr>
        <p:txBody>
          <a:bodyPr wrap="square" lIns="0" tIns="0" rIns="0" bIns="0" rtlCol="0" anchor="ctr"/>
          <a:lstStyle/>
          <a:p>
            <a:pPr algn="l" indent="0" marL="0">
              <a:lnSpc>
                <a:spcPts val="1920"/>
              </a:lnSpc>
              <a:buNone/>
            </a:pPr>
            <a:r>
              <a:rPr lang="en-US" sz="1200" b="1" dirty="0">
                <a:solidFill>
                  <a:srgbClr val="FFFFFF"/>
                </a:solidFill>
                <a:latin typeface="Meiryo" pitchFamily="34" charset="0"/>
                <a:ea typeface="Meiryo" pitchFamily="34" charset="-122"/>
                <a:cs typeface="Meiryo" pitchFamily="34" charset="-120"/>
              </a:rPr>
              <a:t>支援制度の提示</a:t>
            </a:r>
            <a:endParaRPr lang="en-US" sz="1200" dirty="0"/>
          </a:p>
        </p:txBody>
      </p:sp>
      <p:sp>
        <p:nvSpPr>
          <p:cNvPr id="36" name="Text 34"/>
          <p:cNvSpPr txBox="1"/>
          <p:nvPr/>
        </p:nvSpPr>
        <p:spPr>
          <a:xfrm>
            <a:off x="9271787" y="2907792"/>
            <a:ext cx="2133524" cy="640080"/>
          </a:xfrm>
          <a:prstGeom prst="rect">
            <a:avLst/>
          </a:prstGeom>
          <a:noFill/>
          <a:ln/>
        </p:spPr>
        <p:txBody>
          <a:bodyPr wrap="square" lIns="0" tIns="0" rIns="0" bIns="0" rtlCol="0" anchor="t"/>
          <a:lstStyle/>
          <a:p>
            <a:pPr algn="l" indent="0" marL="0">
              <a:lnSpc>
                <a:spcPts val="1680"/>
              </a:lnSpc>
              <a:buNone/>
            </a:pPr>
            <a:r>
              <a:rPr lang="en-US" sz="1050" dirty="0">
                <a:solidFill>
                  <a:srgbClr val="D6E2F0"/>
                </a:solidFill>
                <a:latin typeface="Meiryo" pitchFamily="34" charset="0"/>
                <a:ea typeface="Meiryo" pitchFamily="34" charset="-122"/>
                <a:cs typeface="Meiryo" pitchFamily="34" charset="-120"/>
              </a:rPr>
              <a:t>学費支援・生活支援金を、貴社の制度としてご説明ください。</a:t>
            </a:r>
            <a:endParaRPr lang="en-US" sz="1050" dirty="0"/>
          </a:p>
        </p:txBody>
      </p:sp>
      <p:sp>
        <p:nvSpPr>
          <p:cNvPr id="37" name="Text 35"/>
          <p:cNvSpPr txBox="1"/>
          <p:nvPr/>
        </p:nvSpPr>
        <p:spPr>
          <a:xfrm>
            <a:off x="9271787" y="3657600"/>
            <a:ext cx="2133524" cy="1463040"/>
          </a:xfrm>
          <a:prstGeom prst="rect">
            <a:avLst/>
          </a:prstGeom>
          <a:noFill/>
          <a:ln/>
        </p:spPr>
        <p:txBody>
          <a:bodyPr wrap="square" lIns="0" tIns="0" rIns="0" bIns="0" rtlCol="0" anchor="t"/>
          <a:lstStyle/>
          <a:p>
            <a:pPr algn="l" indent="0" marL="0">
              <a:lnSpc>
                <a:spcPts val="1760"/>
              </a:lnSpc>
              <a:buNone/>
            </a:pPr>
            <a:r>
              <a:rPr lang="en-US" sz="1100" b="1" dirty="0">
                <a:solidFill>
                  <a:srgbClr val="FFFFFF"/>
                </a:solidFill>
                <a:latin typeface="Meiryo" pitchFamily="34" charset="0"/>
                <a:ea typeface="Meiryo" pitchFamily="34" charset="-122"/>
                <a:cs typeface="Meiryo" pitchFamily="34" charset="-120"/>
              </a:rPr>
              <a:t>「入社前から投資してくれる会社」という事実が、企業規模の差を超えて志望度を決定づけます。</a:t>
            </a:r>
            <a:endParaRPr lang="en-US" sz="1100" dirty="0"/>
          </a:p>
        </p:txBody>
      </p:sp>
      <p:sp>
        <p:nvSpPr>
          <p:cNvPr id="38" name="Shape 36"/>
          <p:cNvSpPr/>
          <p:nvPr/>
        </p:nvSpPr>
        <p:spPr>
          <a:xfrm>
            <a:off x="548640" y="5632704"/>
            <a:ext cx="11094415" cy="658368"/>
          </a:xfrm>
          <a:prstGeom prst="rect">
            <a:avLst/>
          </a:prstGeom>
          <a:solidFill>
            <a:srgbClr val="0E2244"/>
          </a:solidFill>
          <a:ln/>
        </p:spPr>
      </p:sp>
      <p:sp>
        <p:nvSpPr>
          <p:cNvPr id="39" name="Text 37"/>
          <p:cNvSpPr txBox="1"/>
          <p:nvPr/>
        </p:nvSpPr>
        <p:spPr>
          <a:xfrm>
            <a:off x="859536" y="5632704"/>
            <a:ext cx="10472623" cy="658368"/>
          </a:xfrm>
          <a:prstGeom prst="rect">
            <a:avLst/>
          </a:prstGeom>
          <a:noFill/>
          <a:ln/>
        </p:spPr>
        <p:txBody>
          <a:bodyPr wrap="square" lIns="0" tIns="0" rIns="0" bIns="0" rtlCol="0" anchor="ctr"/>
          <a:lstStyle/>
          <a:p>
            <a:pPr indent="0" marL="0">
              <a:buNone/>
            </a:pPr>
            <a:r>
              <a:rPr lang="en-US" sz="1200" b="1" dirty="0">
                <a:solidFill>
                  <a:srgbClr val="F3D6DB"/>
                </a:solidFill>
                <a:latin typeface="Meiryo" pitchFamily="34" charset="0"/>
                <a:ea typeface="Meiryo" pitchFamily="34" charset="-122"/>
                <a:cs typeface="Meiryo" pitchFamily="34" charset="-120"/>
              </a:rPr>
              <a:t>メッセージ　</a:t>
            </a:r>
            <a:pPr indent="0" marL="0">
              <a:buNone/>
            </a:pPr>
            <a:r>
              <a:rPr lang="en-US" sz="1200" dirty="0">
                <a:solidFill>
                  <a:srgbClr val="FFFFFF"/>
                </a:solidFill>
                <a:latin typeface="Meiryo" pitchFamily="34" charset="0"/>
                <a:ea typeface="Meiryo" pitchFamily="34" charset="-122"/>
                <a:cs typeface="Meiryo" pitchFamily="34" charset="-120"/>
              </a:rPr>
              <a:t>単なる労働力ではなく「共に歩むパートナー」として。企業の真摯な姿勢が、定着率の向上に直結します。</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050" b="1" spc="200" kern="0" dirty="0">
                <a:solidFill>
                  <a:srgbClr val="C8102E"/>
                </a:solidFill>
                <a:latin typeface="Arial" pitchFamily="34" charset="0"/>
                <a:ea typeface="Arial" pitchFamily="34" charset="-122"/>
                <a:cs typeface="Arial" pitchFamily="34" charset="-120"/>
              </a:rPr>
              <a:t>SCHEDULE PROPOSAL</a:t>
            </a:r>
            <a:endParaRPr lang="en-US" sz="1050" dirty="0"/>
          </a:p>
        </p:txBody>
      </p:sp>
      <p:sp>
        <p:nvSpPr>
          <p:cNvPr id="3" name="Text 1"/>
          <p:cNvSpPr txBox="1"/>
          <p:nvPr/>
        </p:nvSpPr>
        <p:spPr>
          <a:xfrm>
            <a:off x="548640" y="566928"/>
            <a:ext cx="11094415" cy="566928"/>
          </a:xfrm>
          <a:prstGeom prst="rect">
            <a:avLst/>
          </a:prstGeom>
          <a:noFill/>
          <a:ln/>
        </p:spPr>
        <p:txBody>
          <a:bodyPr wrap="square" lIns="0" tIns="0" rIns="0" bIns="0" rtlCol="0" anchor="t"/>
          <a:lstStyle/>
          <a:p>
            <a:pPr indent="0" marL="0">
              <a:buNone/>
            </a:pPr>
            <a:r>
              <a:rPr lang="en-US" sz="2800" b="1" dirty="0">
                <a:solidFill>
                  <a:srgbClr val="0E2244"/>
                </a:solidFill>
                <a:latin typeface="Meiryo" pitchFamily="34" charset="0"/>
                <a:ea typeface="Meiryo" pitchFamily="34" charset="-122"/>
                <a:cs typeface="Meiryo" pitchFamily="34" charset="-120"/>
              </a:rPr>
              <a:t>スケジュール（貴社説明会 起点）</a:t>
            </a:r>
            <a:endParaRPr lang="en-US" sz="2800" dirty="0"/>
          </a:p>
        </p:txBody>
      </p:sp>
      <p:sp>
        <p:nvSpPr>
          <p:cNvPr id="4" name="Shape 2"/>
          <p:cNvSpPr/>
          <p:nvPr/>
        </p:nvSpPr>
        <p:spPr>
          <a:xfrm>
            <a:off x="548640" y="1280160"/>
            <a:ext cx="11094415" cy="621792"/>
          </a:xfrm>
          <a:prstGeom prst="rect">
            <a:avLst/>
          </a:prstGeom>
          <a:solidFill>
            <a:srgbClr val="EEF2F7"/>
          </a:solidFill>
          <a:ln/>
        </p:spPr>
      </p:sp>
      <p:sp>
        <p:nvSpPr>
          <p:cNvPr id="5" name="Text 3"/>
          <p:cNvSpPr txBox="1"/>
          <p:nvPr/>
        </p:nvSpPr>
        <p:spPr>
          <a:xfrm>
            <a:off x="868680" y="1280160"/>
            <a:ext cx="10454335" cy="621792"/>
          </a:xfrm>
          <a:prstGeom prst="rect">
            <a:avLst/>
          </a:prstGeom>
          <a:noFill/>
          <a:ln/>
        </p:spPr>
        <p:txBody>
          <a:bodyPr wrap="square" lIns="0" tIns="0" rIns="0" bIns="0" rtlCol="0" anchor="ctr"/>
          <a:lstStyle/>
          <a:p>
            <a:pPr indent="0" marL="0">
              <a:lnSpc>
                <a:spcPts val="1958"/>
              </a:lnSpc>
              <a:buNone/>
            </a:pPr>
            <a:r>
              <a:rPr lang="en-US" sz="1350" b="1" dirty="0">
                <a:solidFill>
                  <a:srgbClr val="0E2244"/>
                </a:solidFill>
                <a:latin typeface="Meiryo" pitchFamily="34" charset="0"/>
                <a:ea typeface="Meiryo" pitchFamily="34" charset="-122"/>
                <a:cs typeface="Meiryo" pitchFamily="34" charset="-120"/>
              </a:rPr>
              <a:t>起点は貴社にて実施条件をご確定いただいた時点です。以下は 2026年10月に着手した場合の例です。</a:t>
            </a:r>
            <a:endParaRPr lang="en-US" sz="1350" dirty="0"/>
          </a:p>
        </p:txBody>
      </p:sp>
      <p:sp>
        <p:nvSpPr>
          <p:cNvPr id="6" name="Shape 4"/>
          <p:cNvSpPr/>
          <p:nvPr/>
        </p:nvSpPr>
        <p:spPr>
          <a:xfrm>
            <a:off x="548640" y="2103120"/>
            <a:ext cx="3539642" cy="1874520"/>
          </a:xfrm>
          <a:prstGeom prst="roundRect">
            <a:avLst>
              <a:gd name="adj" fmla="val 2439"/>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7" name="Text 5"/>
          <p:cNvSpPr txBox="1"/>
          <p:nvPr/>
        </p:nvSpPr>
        <p:spPr>
          <a:xfrm>
            <a:off x="786384" y="2304288"/>
            <a:ext cx="1005840" cy="201168"/>
          </a:xfrm>
          <a:prstGeom prst="rect">
            <a:avLst/>
          </a:prstGeom>
          <a:noFill/>
          <a:ln/>
        </p:spPr>
        <p:txBody>
          <a:bodyPr wrap="square" lIns="0" tIns="0" rIns="0" bIns="0" rtlCol="0" anchor="ctr"/>
          <a:lstStyle/>
          <a:p>
            <a:pPr indent="0" marL="0">
              <a:buNone/>
            </a:pPr>
            <a:r>
              <a:rPr lang="en-US" sz="850" b="1" spc="100" kern="0" dirty="0">
                <a:solidFill>
                  <a:srgbClr val="C8102E"/>
                </a:solidFill>
                <a:latin typeface="Arial" pitchFamily="34" charset="0"/>
                <a:ea typeface="Arial" pitchFamily="34" charset="-122"/>
                <a:cs typeface="Arial" pitchFamily="34" charset="-120"/>
              </a:rPr>
              <a:t>STEP 01</a:t>
            </a:r>
            <a:endParaRPr lang="en-US" sz="850" dirty="0"/>
          </a:p>
        </p:txBody>
      </p:sp>
      <p:sp>
        <p:nvSpPr>
          <p:cNvPr id="8" name="Text 6"/>
          <p:cNvSpPr txBox="1"/>
          <p:nvPr/>
        </p:nvSpPr>
        <p:spPr>
          <a:xfrm>
            <a:off x="1792224" y="2286000"/>
            <a:ext cx="2058314" cy="237744"/>
          </a:xfrm>
          <a:prstGeom prst="rect">
            <a:avLst/>
          </a:prstGeom>
          <a:noFill/>
          <a:ln/>
        </p:spPr>
        <p:txBody>
          <a:bodyPr wrap="square" lIns="0" tIns="0" rIns="0" bIns="0" rtlCol="0" anchor="t"/>
          <a:lstStyle/>
          <a:p>
            <a:pPr algn="r" indent="0" marL="0">
              <a:lnSpc>
                <a:spcPts val="1680"/>
              </a:lnSpc>
              <a:buNone/>
            </a:pPr>
            <a:r>
              <a:rPr lang="en-US" sz="1050" b="1" dirty="0">
                <a:solidFill>
                  <a:srgbClr val="0E2244"/>
                </a:solidFill>
                <a:latin typeface="Meiryo" pitchFamily="34" charset="0"/>
                <a:ea typeface="Meiryo" pitchFamily="34" charset="-122"/>
                <a:cs typeface="Meiryo" pitchFamily="34" charset="-120"/>
              </a:rPr>
              <a:t>起点〜2週間</a:t>
            </a:r>
            <a:endParaRPr lang="en-US" sz="1050" dirty="0"/>
          </a:p>
        </p:txBody>
      </p:sp>
      <p:sp>
        <p:nvSpPr>
          <p:cNvPr id="9" name="Text 7"/>
          <p:cNvSpPr txBox="1"/>
          <p:nvPr/>
        </p:nvSpPr>
        <p:spPr>
          <a:xfrm>
            <a:off x="786384" y="2560320"/>
            <a:ext cx="3064154" cy="219456"/>
          </a:xfrm>
          <a:prstGeom prst="rect">
            <a:avLst/>
          </a:prstGeom>
          <a:noFill/>
          <a:ln/>
        </p:spPr>
        <p:txBody>
          <a:bodyPr wrap="square" lIns="0" tIns="0" rIns="0" bIns="0" rtlCol="0" anchor="t"/>
          <a:lstStyle/>
          <a:p>
            <a:pPr algn="l" indent="0" marL="0">
              <a:lnSpc>
                <a:spcPts val="1440"/>
              </a:lnSpc>
              <a:buNone/>
            </a:pPr>
            <a:r>
              <a:rPr lang="en-US" sz="900" dirty="0">
                <a:solidFill>
                  <a:srgbClr val="8A97A8"/>
                </a:solidFill>
                <a:latin typeface="Meiryo" pitchFamily="34" charset="0"/>
                <a:ea typeface="Meiryo" pitchFamily="34" charset="-122"/>
                <a:cs typeface="Meiryo" pitchFamily="34" charset="-120"/>
              </a:rPr>
              <a:t>例：2026年10月</a:t>
            </a:r>
            <a:endParaRPr lang="en-US" sz="900" dirty="0"/>
          </a:p>
        </p:txBody>
      </p:sp>
      <p:sp>
        <p:nvSpPr>
          <p:cNvPr id="10" name="Text 8"/>
          <p:cNvSpPr txBox="1"/>
          <p:nvPr/>
        </p:nvSpPr>
        <p:spPr>
          <a:xfrm>
            <a:off x="786384" y="2834640"/>
            <a:ext cx="3064154" cy="384048"/>
          </a:xfrm>
          <a:prstGeom prst="rect">
            <a:avLst/>
          </a:prstGeom>
          <a:noFill/>
          <a:ln/>
        </p:spPr>
        <p:txBody>
          <a:bodyPr wrap="square" lIns="0" tIns="0" rIns="0" bIns="0" rtlCol="0" anchor="t"/>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実施条件の確定・大学調整</a:t>
            </a:r>
            <a:endParaRPr lang="en-US" sz="1200" dirty="0"/>
          </a:p>
        </p:txBody>
      </p:sp>
      <p:sp>
        <p:nvSpPr>
          <p:cNvPr id="11" name="Text 9"/>
          <p:cNvSpPr txBox="1"/>
          <p:nvPr/>
        </p:nvSpPr>
        <p:spPr>
          <a:xfrm>
            <a:off x="786384" y="3291840"/>
            <a:ext cx="3064154" cy="621792"/>
          </a:xfrm>
          <a:prstGeom prst="rect">
            <a:avLst/>
          </a:prstGeom>
          <a:noFill/>
          <a:ln/>
        </p:spPr>
        <p:txBody>
          <a:bodyPr wrap="square" lIns="0" tIns="0" rIns="0" bIns="0" rtlCol="0" anchor="t"/>
          <a:lstStyle/>
          <a:p>
            <a:pPr algn="l" indent="0" marL="0">
              <a:lnSpc>
                <a:spcPts val="1520"/>
              </a:lnSpc>
              <a:buNone/>
            </a:pPr>
            <a:r>
              <a:rPr lang="en-US" sz="950" dirty="0">
                <a:solidFill>
                  <a:srgbClr val="5C6878"/>
                </a:solidFill>
                <a:latin typeface="Meiryo" pitchFamily="34" charset="0"/>
                <a:ea typeface="Meiryo" pitchFamily="34" charset="-122"/>
                <a:cs typeface="Meiryo" pitchFamily="34" charset="-120"/>
              </a:rPr>
              <a:t>採用人数・待遇・支援条件を確定し、ESUTECHが対象大学と実施日程を調整します。</a:t>
            </a:r>
            <a:endParaRPr lang="en-US" sz="950" dirty="0"/>
          </a:p>
        </p:txBody>
      </p:sp>
      <p:sp>
        <p:nvSpPr>
          <p:cNvPr id="12" name="Shape 10"/>
          <p:cNvSpPr/>
          <p:nvPr/>
        </p:nvSpPr>
        <p:spPr>
          <a:xfrm>
            <a:off x="4326026" y="2103120"/>
            <a:ext cx="3539642" cy="1874520"/>
          </a:xfrm>
          <a:prstGeom prst="roundRect">
            <a:avLst>
              <a:gd name="adj" fmla="val 2439"/>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13" name="Text 11"/>
          <p:cNvSpPr txBox="1"/>
          <p:nvPr/>
        </p:nvSpPr>
        <p:spPr>
          <a:xfrm>
            <a:off x="4563770" y="2304288"/>
            <a:ext cx="1005840" cy="201168"/>
          </a:xfrm>
          <a:prstGeom prst="rect">
            <a:avLst/>
          </a:prstGeom>
          <a:noFill/>
          <a:ln/>
        </p:spPr>
        <p:txBody>
          <a:bodyPr wrap="square" lIns="0" tIns="0" rIns="0" bIns="0" rtlCol="0" anchor="ctr"/>
          <a:lstStyle/>
          <a:p>
            <a:pPr indent="0" marL="0">
              <a:buNone/>
            </a:pPr>
            <a:r>
              <a:rPr lang="en-US" sz="850" b="1" spc="100" kern="0" dirty="0">
                <a:solidFill>
                  <a:srgbClr val="C8102E"/>
                </a:solidFill>
                <a:latin typeface="Arial" pitchFamily="34" charset="0"/>
                <a:ea typeface="Arial" pitchFamily="34" charset="-122"/>
                <a:cs typeface="Arial" pitchFamily="34" charset="-120"/>
              </a:rPr>
              <a:t>STEP 02</a:t>
            </a:r>
            <a:endParaRPr lang="en-US" sz="850" dirty="0"/>
          </a:p>
        </p:txBody>
      </p:sp>
      <p:sp>
        <p:nvSpPr>
          <p:cNvPr id="14" name="Text 12"/>
          <p:cNvSpPr txBox="1"/>
          <p:nvPr/>
        </p:nvSpPr>
        <p:spPr>
          <a:xfrm>
            <a:off x="5569610" y="2286000"/>
            <a:ext cx="2058314" cy="237744"/>
          </a:xfrm>
          <a:prstGeom prst="rect">
            <a:avLst/>
          </a:prstGeom>
          <a:noFill/>
          <a:ln/>
        </p:spPr>
        <p:txBody>
          <a:bodyPr wrap="square" lIns="0" tIns="0" rIns="0" bIns="0" rtlCol="0" anchor="t"/>
          <a:lstStyle/>
          <a:p>
            <a:pPr algn="r" indent="0" marL="0">
              <a:lnSpc>
                <a:spcPts val="1680"/>
              </a:lnSpc>
              <a:buNone/>
            </a:pPr>
            <a:r>
              <a:rPr lang="en-US" sz="1050" b="1" dirty="0">
                <a:solidFill>
                  <a:srgbClr val="0E2244"/>
                </a:solidFill>
                <a:latin typeface="Meiryo" pitchFamily="34" charset="0"/>
                <a:ea typeface="Meiryo" pitchFamily="34" charset="-122"/>
                <a:cs typeface="Meiryo" pitchFamily="34" charset="-120"/>
              </a:rPr>
              <a:t>調整完了後 3週間</a:t>
            </a:r>
            <a:endParaRPr lang="en-US" sz="1050" dirty="0"/>
          </a:p>
        </p:txBody>
      </p:sp>
      <p:sp>
        <p:nvSpPr>
          <p:cNvPr id="15" name="Text 13"/>
          <p:cNvSpPr txBox="1"/>
          <p:nvPr/>
        </p:nvSpPr>
        <p:spPr>
          <a:xfrm>
            <a:off x="4563770" y="2560320"/>
            <a:ext cx="3064154" cy="219456"/>
          </a:xfrm>
          <a:prstGeom prst="rect">
            <a:avLst/>
          </a:prstGeom>
          <a:noFill/>
          <a:ln/>
        </p:spPr>
        <p:txBody>
          <a:bodyPr wrap="square" lIns="0" tIns="0" rIns="0" bIns="0" rtlCol="0" anchor="t"/>
          <a:lstStyle/>
          <a:p>
            <a:pPr algn="l" indent="0" marL="0">
              <a:lnSpc>
                <a:spcPts val="1440"/>
              </a:lnSpc>
              <a:buNone/>
            </a:pPr>
            <a:r>
              <a:rPr lang="en-US" sz="900" dirty="0">
                <a:solidFill>
                  <a:srgbClr val="8A97A8"/>
                </a:solidFill>
                <a:latin typeface="Meiryo" pitchFamily="34" charset="0"/>
                <a:ea typeface="Meiryo" pitchFamily="34" charset="-122"/>
                <a:cs typeface="Meiryo" pitchFamily="34" charset="-120"/>
              </a:rPr>
              <a:t>例：2026年11月</a:t>
            </a:r>
            <a:endParaRPr lang="en-US" sz="900" dirty="0"/>
          </a:p>
        </p:txBody>
      </p:sp>
      <p:sp>
        <p:nvSpPr>
          <p:cNvPr id="16" name="Text 14"/>
          <p:cNvSpPr txBox="1"/>
          <p:nvPr/>
        </p:nvSpPr>
        <p:spPr>
          <a:xfrm>
            <a:off x="4563770" y="2834640"/>
            <a:ext cx="3064154" cy="384048"/>
          </a:xfrm>
          <a:prstGeom prst="rect">
            <a:avLst/>
          </a:prstGeom>
          <a:noFill/>
          <a:ln/>
        </p:spPr>
        <p:txBody>
          <a:bodyPr wrap="square" lIns="0" tIns="0" rIns="0" bIns="0" rtlCol="0" anchor="t"/>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貴社単独の告知・エントリー受付</a:t>
            </a:r>
            <a:endParaRPr lang="en-US" sz="1200" dirty="0"/>
          </a:p>
        </p:txBody>
      </p:sp>
      <p:sp>
        <p:nvSpPr>
          <p:cNvPr id="17" name="Text 15"/>
          <p:cNvSpPr txBox="1"/>
          <p:nvPr/>
        </p:nvSpPr>
        <p:spPr>
          <a:xfrm>
            <a:off x="4563770" y="3291840"/>
            <a:ext cx="3064154" cy="621792"/>
          </a:xfrm>
          <a:prstGeom prst="rect">
            <a:avLst/>
          </a:prstGeom>
          <a:noFill/>
          <a:ln/>
        </p:spPr>
        <p:txBody>
          <a:bodyPr wrap="square" lIns="0" tIns="0" rIns="0" bIns="0" rtlCol="0" anchor="t"/>
          <a:lstStyle/>
          <a:p>
            <a:pPr algn="l" indent="0" marL="0">
              <a:lnSpc>
                <a:spcPts val="1520"/>
              </a:lnSpc>
              <a:buNone/>
            </a:pPr>
            <a:r>
              <a:rPr lang="en-US" sz="950" dirty="0">
                <a:solidFill>
                  <a:srgbClr val="5C6878"/>
                </a:solidFill>
                <a:latin typeface="Meiryo" pitchFamily="34" charset="0"/>
                <a:ea typeface="Meiryo" pitchFamily="34" charset="-122"/>
                <a:cs typeface="Meiryo" pitchFamily="34" charset="-120"/>
              </a:rPr>
              <a:t>貴社名を前面に出した募集広告を展開し、志望理由つきの事前エントリーを受け付けます。</a:t>
            </a:r>
            <a:endParaRPr lang="en-US" sz="950" dirty="0"/>
          </a:p>
        </p:txBody>
      </p:sp>
      <p:sp>
        <p:nvSpPr>
          <p:cNvPr id="18" name="Shape 16"/>
          <p:cNvSpPr/>
          <p:nvPr/>
        </p:nvSpPr>
        <p:spPr>
          <a:xfrm>
            <a:off x="8103413" y="2103120"/>
            <a:ext cx="3539642" cy="1874520"/>
          </a:xfrm>
          <a:prstGeom prst="roundRect">
            <a:avLst>
              <a:gd name="adj" fmla="val 2439"/>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19" name="Text 17"/>
          <p:cNvSpPr txBox="1"/>
          <p:nvPr/>
        </p:nvSpPr>
        <p:spPr>
          <a:xfrm>
            <a:off x="8341157" y="2304288"/>
            <a:ext cx="1005840" cy="201168"/>
          </a:xfrm>
          <a:prstGeom prst="rect">
            <a:avLst/>
          </a:prstGeom>
          <a:noFill/>
          <a:ln/>
        </p:spPr>
        <p:txBody>
          <a:bodyPr wrap="square" lIns="0" tIns="0" rIns="0" bIns="0" rtlCol="0" anchor="ctr"/>
          <a:lstStyle/>
          <a:p>
            <a:pPr indent="0" marL="0">
              <a:buNone/>
            </a:pPr>
            <a:r>
              <a:rPr lang="en-US" sz="850" b="1" spc="100" kern="0" dirty="0">
                <a:solidFill>
                  <a:srgbClr val="C8102E"/>
                </a:solidFill>
                <a:latin typeface="Arial" pitchFamily="34" charset="0"/>
                <a:ea typeface="Arial" pitchFamily="34" charset="-122"/>
                <a:cs typeface="Arial" pitchFamily="34" charset="-120"/>
              </a:rPr>
              <a:t>STEP 03</a:t>
            </a:r>
            <a:endParaRPr lang="en-US" sz="850" dirty="0"/>
          </a:p>
        </p:txBody>
      </p:sp>
      <p:sp>
        <p:nvSpPr>
          <p:cNvPr id="20" name="Text 18"/>
          <p:cNvSpPr txBox="1"/>
          <p:nvPr/>
        </p:nvSpPr>
        <p:spPr>
          <a:xfrm>
            <a:off x="9346997" y="2286000"/>
            <a:ext cx="2058314" cy="237744"/>
          </a:xfrm>
          <a:prstGeom prst="rect">
            <a:avLst/>
          </a:prstGeom>
          <a:noFill/>
          <a:ln/>
        </p:spPr>
        <p:txBody>
          <a:bodyPr wrap="square" lIns="0" tIns="0" rIns="0" bIns="0" rtlCol="0" anchor="t"/>
          <a:lstStyle/>
          <a:p>
            <a:pPr algn="r" indent="0" marL="0">
              <a:lnSpc>
                <a:spcPts val="1680"/>
              </a:lnSpc>
              <a:buNone/>
            </a:pPr>
            <a:r>
              <a:rPr lang="en-US" sz="1050" b="1" dirty="0">
                <a:solidFill>
                  <a:srgbClr val="0E2244"/>
                </a:solidFill>
                <a:latin typeface="Meiryo" pitchFamily="34" charset="0"/>
                <a:ea typeface="Meiryo" pitchFamily="34" charset="-122"/>
                <a:cs typeface="Meiryo" pitchFamily="34" charset="-120"/>
              </a:rPr>
              <a:t>告知から3週間後</a:t>
            </a:r>
            <a:endParaRPr lang="en-US" sz="1050" dirty="0"/>
          </a:p>
        </p:txBody>
      </p:sp>
      <p:sp>
        <p:nvSpPr>
          <p:cNvPr id="21" name="Text 19"/>
          <p:cNvSpPr txBox="1"/>
          <p:nvPr/>
        </p:nvSpPr>
        <p:spPr>
          <a:xfrm>
            <a:off x="8341157" y="2560320"/>
            <a:ext cx="3064154" cy="219456"/>
          </a:xfrm>
          <a:prstGeom prst="rect">
            <a:avLst/>
          </a:prstGeom>
          <a:noFill/>
          <a:ln/>
        </p:spPr>
        <p:txBody>
          <a:bodyPr wrap="square" lIns="0" tIns="0" rIns="0" bIns="0" rtlCol="0" anchor="t"/>
          <a:lstStyle/>
          <a:p>
            <a:pPr algn="l" indent="0" marL="0">
              <a:lnSpc>
                <a:spcPts val="1440"/>
              </a:lnSpc>
              <a:buNone/>
            </a:pPr>
            <a:r>
              <a:rPr lang="en-US" sz="900" dirty="0">
                <a:solidFill>
                  <a:srgbClr val="8A97A8"/>
                </a:solidFill>
                <a:latin typeface="Meiryo" pitchFamily="34" charset="0"/>
                <a:ea typeface="Meiryo" pitchFamily="34" charset="-122"/>
                <a:cs typeface="Meiryo" pitchFamily="34" charset="-120"/>
              </a:rPr>
              <a:t>例：2026年12月上旬</a:t>
            </a:r>
            <a:endParaRPr lang="en-US" sz="900" dirty="0"/>
          </a:p>
        </p:txBody>
      </p:sp>
      <p:sp>
        <p:nvSpPr>
          <p:cNvPr id="22" name="Text 20"/>
          <p:cNvSpPr txBox="1"/>
          <p:nvPr/>
        </p:nvSpPr>
        <p:spPr>
          <a:xfrm>
            <a:off x="8341157" y="2834640"/>
            <a:ext cx="3064154" cy="384048"/>
          </a:xfrm>
          <a:prstGeom prst="rect">
            <a:avLst/>
          </a:prstGeom>
          <a:noFill/>
          <a:ln/>
        </p:spPr>
        <p:txBody>
          <a:bodyPr wrap="square" lIns="0" tIns="0" rIns="0" bIns="0" rtlCol="0" anchor="t"/>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貴社説明会（大学キャンパス）</a:t>
            </a:r>
            <a:endParaRPr lang="en-US" sz="1200" dirty="0"/>
          </a:p>
        </p:txBody>
      </p:sp>
      <p:sp>
        <p:nvSpPr>
          <p:cNvPr id="23" name="Text 21"/>
          <p:cNvSpPr txBox="1"/>
          <p:nvPr/>
        </p:nvSpPr>
        <p:spPr>
          <a:xfrm>
            <a:off x="8341157" y="3291840"/>
            <a:ext cx="3064154" cy="621792"/>
          </a:xfrm>
          <a:prstGeom prst="rect">
            <a:avLst/>
          </a:prstGeom>
          <a:noFill/>
          <a:ln/>
        </p:spPr>
        <p:txBody>
          <a:bodyPr wrap="square" lIns="0" tIns="0" rIns="0" bIns="0" rtlCol="0" anchor="t"/>
          <a:lstStyle/>
          <a:p>
            <a:pPr algn="l" indent="0" marL="0">
              <a:lnSpc>
                <a:spcPts val="1520"/>
              </a:lnSpc>
              <a:buNone/>
            </a:pPr>
            <a:r>
              <a:rPr lang="en-US" sz="950" dirty="0">
                <a:solidFill>
                  <a:srgbClr val="5C6878"/>
                </a:solidFill>
                <a:latin typeface="Meiryo" pitchFamily="34" charset="0"/>
                <a:ea typeface="Meiryo" pitchFamily="34" charset="-122"/>
                <a:cs typeface="Meiryo" pitchFamily="34" charset="-120"/>
              </a:rPr>
              <a:t>対象校を巡回して実施。来越が難しい場合はオンライン開催も可能です。</a:t>
            </a:r>
            <a:endParaRPr lang="en-US" sz="950" dirty="0"/>
          </a:p>
        </p:txBody>
      </p:sp>
      <p:sp>
        <p:nvSpPr>
          <p:cNvPr id="24" name="Shape 22"/>
          <p:cNvSpPr/>
          <p:nvPr/>
        </p:nvSpPr>
        <p:spPr>
          <a:xfrm>
            <a:off x="548640" y="4160520"/>
            <a:ext cx="3539642" cy="1874520"/>
          </a:xfrm>
          <a:prstGeom prst="roundRect">
            <a:avLst>
              <a:gd name="adj" fmla="val 2439"/>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25" name="Text 23"/>
          <p:cNvSpPr txBox="1"/>
          <p:nvPr/>
        </p:nvSpPr>
        <p:spPr>
          <a:xfrm>
            <a:off x="786384" y="4361688"/>
            <a:ext cx="1005840" cy="201168"/>
          </a:xfrm>
          <a:prstGeom prst="rect">
            <a:avLst/>
          </a:prstGeom>
          <a:noFill/>
          <a:ln/>
        </p:spPr>
        <p:txBody>
          <a:bodyPr wrap="square" lIns="0" tIns="0" rIns="0" bIns="0" rtlCol="0" anchor="ctr"/>
          <a:lstStyle/>
          <a:p>
            <a:pPr indent="0" marL="0">
              <a:buNone/>
            </a:pPr>
            <a:r>
              <a:rPr lang="en-US" sz="850" b="1" spc="100" kern="0" dirty="0">
                <a:solidFill>
                  <a:srgbClr val="C8102E"/>
                </a:solidFill>
                <a:latin typeface="Arial" pitchFamily="34" charset="0"/>
                <a:ea typeface="Arial" pitchFamily="34" charset="-122"/>
                <a:cs typeface="Arial" pitchFamily="34" charset="-120"/>
              </a:rPr>
              <a:t>STEP 04</a:t>
            </a:r>
            <a:endParaRPr lang="en-US" sz="850" dirty="0"/>
          </a:p>
        </p:txBody>
      </p:sp>
      <p:sp>
        <p:nvSpPr>
          <p:cNvPr id="26" name="Text 24"/>
          <p:cNvSpPr txBox="1"/>
          <p:nvPr/>
        </p:nvSpPr>
        <p:spPr>
          <a:xfrm>
            <a:off x="1792224" y="4343400"/>
            <a:ext cx="2058314" cy="237744"/>
          </a:xfrm>
          <a:prstGeom prst="rect">
            <a:avLst/>
          </a:prstGeom>
          <a:noFill/>
          <a:ln/>
        </p:spPr>
        <p:txBody>
          <a:bodyPr wrap="square" lIns="0" tIns="0" rIns="0" bIns="0" rtlCol="0" anchor="t"/>
          <a:lstStyle/>
          <a:p>
            <a:pPr algn="r" indent="0" marL="0">
              <a:lnSpc>
                <a:spcPts val="1680"/>
              </a:lnSpc>
              <a:buNone/>
            </a:pPr>
            <a:r>
              <a:rPr lang="en-US" sz="1050" b="1" dirty="0">
                <a:solidFill>
                  <a:srgbClr val="0E2244"/>
                </a:solidFill>
                <a:latin typeface="Meiryo" pitchFamily="34" charset="0"/>
                <a:ea typeface="Meiryo" pitchFamily="34" charset="-122"/>
                <a:cs typeface="Meiryo" pitchFamily="34" charset="-120"/>
              </a:rPr>
              <a:t>説明会から1週間前後</a:t>
            </a:r>
            <a:endParaRPr lang="en-US" sz="1050" dirty="0"/>
          </a:p>
        </p:txBody>
      </p:sp>
      <p:sp>
        <p:nvSpPr>
          <p:cNvPr id="27" name="Text 25"/>
          <p:cNvSpPr txBox="1"/>
          <p:nvPr/>
        </p:nvSpPr>
        <p:spPr>
          <a:xfrm>
            <a:off x="786384" y="4617720"/>
            <a:ext cx="3064154" cy="219456"/>
          </a:xfrm>
          <a:prstGeom prst="rect">
            <a:avLst/>
          </a:prstGeom>
          <a:noFill/>
          <a:ln/>
        </p:spPr>
        <p:txBody>
          <a:bodyPr wrap="square" lIns="0" tIns="0" rIns="0" bIns="0" rtlCol="0" anchor="t"/>
          <a:lstStyle/>
          <a:p>
            <a:pPr algn="l" indent="0" marL="0">
              <a:lnSpc>
                <a:spcPts val="1440"/>
              </a:lnSpc>
              <a:buNone/>
            </a:pPr>
            <a:r>
              <a:rPr lang="en-US" sz="900" dirty="0">
                <a:solidFill>
                  <a:srgbClr val="8A97A8"/>
                </a:solidFill>
                <a:latin typeface="Meiryo" pitchFamily="34" charset="0"/>
                <a:ea typeface="Meiryo" pitchFamily="34" charset="-122"/>
                <a:cs typeface="Meiryo" pitchFamily="34" charset="-120"/>
              </a:rPr>
              <a:t>例：2026年12月中旬</a:t>
            </a:r>
            <a:endParaRPr lang="en-US" sz="900" dirty="0"/>
          </a:p>
        </p:txBody>
      </p:sp>
      <p:sp>
        <p:nvSpPr>
          <p:cNvPr id="28" name="Text 26"/>
          <p:cNvSpPr txBox="1"/>
          <p:nvPr/>
        </p:nvSpPr>
        <p:spPr>
          <a:xfrm>
            <a:off x="786384" y="4892040"/>
            <a:ext cx="3064154" cy="384048"/>
          </a:xfrm>
          <a:prstGeom prst="rect">
            <a:avLst/>
          </a:prstGeom>
          <a:noFill/>
          <a:ln/>
        </p:spPr>
        <p:txBody>
          <a:bodyPr wrap="square" lIns="0" tIns="0" rIns="0" bIns="0" rtlCol="0" anchor="t"/>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選考・最終面接</a:t>
            </a:r>
            <a:endParaRPr lang="en-US" sz="1200" dirty="0"/>
          </a:p>
        </p:txBody>
      </p:sp>
      <p:sp>
        <p:nvSpPr>
          <p:cNvPr id="29" name="Text 27"/>
          <p:cNvSpPr txBox="1"/>
          <p:nvPr/>
        </p:nvSpPr>
        <p:spPr>
          <a:xfrm>
            <a:off x="786384" y="5349240"/>
            <a:ext cx="3064154" cy="621792"/>
          </a:xfrm>
          <a:prstGeom prst="rect">
            <a:avLst/>
          </a:prstGeom>
          <a:noFill/>
          <a:ln/>
        </p:spPr>
        <p:txBody>
          <a:bodyPr wrap="square" lIns="0" tIns="0" rIns="0" bIns="0" rtlCol="0" anchor="t"/>
          <a:lstStyle/>
          <a:p>
            <a:pPr algn="l" indent="0" marL="0">
              <a:lnSpc>
                <a:spcPts val="1520"/>
              </a:lnSpc>
              <a:buNone/>
            </a:pPr>
            <a:r>
              <a:rPr lang="en-US" sz="950" dirty="0">
                <a:solidFill>
                  <a:srgbClr val="5C6878"/>
                </a:solidFill>
                <a:latin typeface="Meiryo" pitchFamily="34" charset="0"/>
                <a:ea typeface="Meiryo" pitchFamily="34" charset="-122"/>
                <a:cs typeface="Meiryo" pitchFamily="34" charset="-120"/>
              </a:rPr>
              <a:t>最終面接を実施し、即日または数日以内に内定通知を行います。</a:t>
            </a:r>
            <a:endParaRPr lang="en-US" sz="950" dirty="0"/>
          </a:p>
        </p:txBody>
      </p:sp>
      <p:sp>
        <p:nvSpPr>
          <p:cNvPr id="30" name="Shape 28"/>
          <p:cNvSpPr/>
          <p:nvPr/>
        </p:nvSpPr>
        <p:spPr>
          <a:xfrm>
            <a:off x="4326026" y="4160520"/>
            <a:ext cx="3539642" cy="1874520"/>
          </a:xfrm>
          <a:prstGeom prst="roundRect">
            <a:avLst>
              <a:gd name="adj" fmla="val 2439"/>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31" name="Text 29"/>
          <p:cNvSpPr txBox="1"/>
          <p:nvPr/>
        </p:nvSpPr>
        <p:spPr>
          <a:xfrm>
            <a:off x="4563770" y="4361688"/>
            <a:ext cx="1005840" cy="201168"/>
          </a:xfrm>
          <a:prstGeom prst="rect">
            <a:avLst/>
          </a:prstGeom>
          <a:noFill/>
          <a:ln/>
        </p:spPr>
        <p:txBody>
          <a:bodyPr wrap="square" lIns="0" tIns="0" rIns="0" bIns="0" rtlCol="0" anchor="ctr"/>
          <a:lstStyle/>
          <a:p>
            <a:pPr indent="0" marL="0">
              <a:buNone/>
            </a:pPr>
            <a:r>
              <a:rPr lang="en-US" sz="850" b="1" spc="100" kern="0" dirty="0">
                <a:solidFill>
                  <a:srgbClr val="C8102E"/>
                </a:solidFill>
                <a:latin typeface="Arial" pitchFamily="34" charset="0"/>
                <a:ea typeface="Arial" pitchFamily="34" charset="-122"/>
                <a:cs typeface="Arial" pitchFamily="34" charset="-120"/>
              </a:rPr>
              <a:t>STEP 05</a:t>
            </a:r>
            <a:endParaRPr lang="en-US" sz="850" dirty="0"/>
          </a:p>
        </p:txBody>
      </p:sp>
      <p:sp>
        <p:nvSpPr>
          <p:cNvPr id="32" name="Text 30"/>
          <p:cNvSpPr txBox="1"/>
          <p:nvPr/>
        </p:nvSpPr>
        <p:spPr>
          <a:xfrm>
            <a:off x="5569610" y="4343400"/>
            <a:ext cx="2058314" cy="237744"/>
          </a:xfrm>
          <a:prstGeom prst="rect">
            <a:avLst/>
          </a:prstGeom>
          <a:noFill/>
          <a:ln/>
        </p:spPr>
        <p:txBody>
          <a:bodyPr wrap="square" lIns="0" tIns="0" rIns="0" bIns="0" rtlCol="0" anchor="t"/>
          <a:lstStyle/>
          <a:p>
            <a:pPr algn="r" indent="0" marL="0">
              <a:lnSpc>
                <a:spcPts val="1680"/>
              </a:lnSpc>
              <a:buNone/>
            </a:pPr>
            <a:r>
              <a:rPr lang="en-US" sz="1050" b="1" dirty="0">
                <a:solidFill>
                  <a:srgbClr val="0E2244"/>
                </a:solidFill>
                <a:latin typeface="Meiryo" pitchFamily="34" charset="0"/>
                <a:ea typeface="Meiryo" pitchFamily="34" charset="-122"/>
                <a:cs typeface="Meiryo" pitchFamily="34" charset="-120"/>
              </a:rPr>
              <a:t>内定から約1ヶ月</a:t>
            </a:r>
            <a:endParaRPr lang="en-US" sz="1050" dirty="0"/>
          </a:p>
        </p:txBody>
      </p:sp>
      <p:sp>
        <p:nvSpPr>
          <p:cNvPr id="33" name="Text 31"/>
          <p:cNvSpPr txBox="1"/>
          <p:nvPr/>
        </p:nvSpPr>
        <p:spPr>
          <a:xfrm>
            <a:off x="4563770" y="4617720"/>
            <a:ext cx="3064154" cy="219456"/>
          </a:xfrm>
          <a:prstGeom prst="rect">
            <a:avLst/>
          </a:prstGeom>
          <a:noFill/>
          <a:ln/>
        </p:spPr>
        <p:txBody>
          <a:bodyPr wrap="square" lIns="0" tIns="0" rIns="0" bIns="0" rtlCol="0" anchor="t"/>
          <a:lstStyle/>
          <a:p>
            <a:pPr algn="l" indent="0" marL="0">
              <a:lnSpc>
                <a:spcPts val="1440"/>
              </a:lnSpc>
              <a:buNone/>
            </a:pPr>
            <a:r>
              <a:rPr lang="en-US" sz="900" dirty="0">
                <a:solidFill>
                  <a:srgbClr val="8A97A8"/>
                </a:solidFill>
                <a:latin typeface="Meiryo" pitchFamily="34" charset="0"/>
                <a:ea typeface="Meiryo" pitchFamily="34" charset="-122"/>
                <a:cs typeface="Meiryo" pitchFamily="34" charset="-120"/>
              </a:rPr>
              <a:t>例：2027年1〜2月</a:t>
            </a:r>
            <a:endParaRPr lang="en-US" sz="900" dirty="0"/>
          </a:p>
        </p:txBody>
      </p:sp>
      <p:sp>
        <p:nvSpPr>
          <p:cNvPr id="34" name="Text 32"/>
          <p:cNvSpPr txBox="1"/>
          <p:nvPr/>
        </p:nvSpPr>
        <p:spPr>
          <a:xfrm>
            <a:off x="4563770" y="4892040"/>
            <a:ext cx="3064154" cy="384048"/>
          </a:xfrm>
          <a:prstGeom prst="rect">
            <a:avLst/>
          </a:prstGeom>
          <a:noFill/>
          <a:ln/>
        </p:spPr>
        <p:txBody>
          <a:bodyPr wrap="square" lIns="0" tIns="0" rIns="0" bIns="0" rtlCol="0" anchor="t"/>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内定式・契約 → JPC入学・開講</a:t>
            </a:r>
            <a:endParaRPr lang="en-US" sz="1200" dirty="0"/>
          </a:p>
        </p:txBody>
      </p:sp>
      <p:sp>
        <p:nvSpPr>
          <p:cNvPr id="35" name="Text 33"/>
          <p:cNvSpPr txBox="1"/>
          <p:nvPr/>
        </p:nvSpPr>
        <p:spPr>
          <a:xfrm>
            <a:off x="4563770" y="5349240"/>
            <a:ext cx="3064154" cy="621792"/>
          </a:xfrm>
          <a:prstGeom prst="rect">
            <a:avLst/>
          </a:prstGeom>
          <a:noFill/>
          <a:ln/>
        </p:spPr>
        <p:txBody>
          <a:bodyPr wrap="square" lIns="0" tIns="0" rIns="0" bIns="0" rtlCol="0" anchor="t"/>
          <a:lstStyle/>
          <a:p>
            <a:pPr algn="l" indent="0" marL="0">
              <a:lnSpc>
                <a:spcPts val="1520"/>
              </a:lnSpc>
              <a:buNone/>
            </a:pPr>
            <a:r>
              <a:rPr lang="en-US" sz="950" dirty="0">
                <a:solidFill>
                  <a:srgbClr val="5C6878"/>
                </a:solidFill>
                <a:latin typeface="Meiryo" pitchFamily="34" charset="0"/>
                <a:ea typeface="Meiryo" pitchFamily="34" charset="-122"/>
                <a:cs typeface="Meiryo" pitchFamily="34" charset="-120"/>
              </a:rPr>
              <a:t>JPC（KAIZEN）へ入学。日本語・技術教育を開始し、支援金の支給もスタートします。</a:t>
            </a:r>
            <a:endParaRPr lang="en-US" sz="950" dirty="0"/>
          </a:p>
        </p:txBody>
      </p:sp>
      <p:sp>
        <p:nvSpPr>
          <p:cNvPr id="36" name="Shape 34"/>
          <p:cNvSpPr/>
          <p:nvPr/>
        </p:nvSpPr>
        <p:spPr>
          <a:xfrm>
            <a:off x="8103413" y="4160520"/>
            <a:ext cx="3539642" cy="1874520"/>
          </a:xfrm>
          <a:prstGeom prst="roundRect">
            <a:avLst>
              <a:gd name="adj" fmla="val 2439"/>
            </a:avLst>
          </a:prstGeom>
          <a:solidFill>
            <a:srgbClr val="0E2244"/>
          </a:solidFill>
          <a:ln w="12700">
            <a:solidFill>
              <a:srgbClr val="0E2244"/>
            </a:solidFill>
            <a:prstDash val="solid"/>
          </a:ln>
          <a:effectLst>
            <a:outerShdw sx="100000" sy="100000" kx="0" ky="0" algn="bl" rotWithShape="0" blurRad="101600" dist="12700" dir="5400000">
              <a:srgbClr val="0E2244">
                <a:alpha val="8000"/>
              </a:srgbClr>
            </a:outerShdw>
          </a:effectLst>
        </p:spPr>
      </p:sp>
      <p:sp>
        <p:nvSpPr>
          <p:cNvPr id="37" name="Text 35"/>
          <p:cNvSpPr txBox="1"/>
          <p:nvPr/>
        </p:nvSpPr>
        <p:spPr>
          <a:xfrm>
            <a:off x="8341157" y="4361688"/>
            <a:ext cx="1005840" cy="201168"/>
          </a:xfrm>
          <a:prstGeom prst="rect">
            <a:avLst/>
          </a:prstGeom>
          <a:noFill/>
          <a:ln/>
        </p:spPr>
        <p:txBody>
          <a:bodyPr wrap="square" lIns="0" tIns="0" rIns="0" bIns="0" rtlCol="0" anchor="ctr"/>
          <a:lstStyle/>
          <a:p>
            <a:pPr indent="0" marL="0">
              <a:buNone/>
            </a:pPr>
            <a:r>
              <a:rPr lang="en-US" sz="850" b="1" spc="100" kern="0" dirty="0">
                <a:solidFill>
                  <a:srgbClr val="F3D6DB"/>
                </a:solidFill>
                <a:latin typeface="Arial" pitchFamily="34" charset="0"/>
                <a:ea typeface="Arial" pitchFamily="34" charset="-122"/>
                <a:cs typeface="Arial" pitchFamily="34" charset="-120"/>
              </a:rPr>
              <a:t>STEP 06</a:t>
            </a:r>
            <a:endParaRPr lang="en-US" sz="850" dirty="0"/>
          </a:p>
        </p:txBody>
      </p:sp>
      <p:sp>
        <p:nvSpPr>
          <p:cNvPr id="38" name="Text 36"/>
          <p:cNvSpPr txBox="1"/>
          <p:nvPr/>
        </p:nvSpPr>
        <p:spPr>
          <a:xfrm>
            <a:off x="9346997" y="4343400"/>
            <a:ext cx="2058314" cy="237744"/>
          </a:xfrm>
          <a:prstGeom prst="rect">
            <a:avLst/>
          </a:prstGeom>
          <a:noFill/>
          <a:ln/>
        </p:spPr>
        <p:txBody>
          <a:bodyPr wrap="square" lIns="0" tIns="0" rIns="0" bIns="0" rtlCol="0" anchor="t"/>
          <a:lstStyle/>
          <a:p>
            <a:pPr algn="r" indent="0" marL="0">
              <a:lnSpc>
                <a:spcPts val="1680"/>
              </a:lnSpc>
              <a:buNone/>
            </a:pPr>
            <a:r>
              <a:rPr lang="en-US" sz="1050" b="1" dirty="0">
                <a:solidFill>
                  <a:srgbClr val="FFFFFF"/>
                </a:solidFill>
                <a:latin typeface="Meiryo" pitchFamily="34" charset="0"/>
                <a:ea typeface="Meiryo" pitchFamily="34" charset="-122"/>
                <a:cs typeface="Meiryo" pitchFamily="34" charset="-120"/>
              </a:rPr>
              <a:t>入学から約15ヶ月</a:t>
            </a:r>
            <a:endParaRPr lang="en-US" sz="1050" dirty="0"/>
          </a:p>
        </p:txBody>
      </p:sp>
      <p:sp>
        <p:nvSpPr>
          <p:cNvPr id="39" name="Text 37"/>
          <p:cNvSpPr txBox="1"/>
          <p:nvPr/>
        </p:nvSpPr>
        <p:spPr>
          <a:xfrm>
            <a:off x="8341157" y="4617720"/>
            <a:ext cx="3064154" cy="219456"/>
          </a:xfrm>
          <a:prstGeom prst="rect">
            <a:avLst/>
          </a:prstGeom>
          <a:noFill/>
          <a:ln/>
        </p:spPr>
        <p:txBody>
          <a:bodyPr wrap="square" lIns="0" tIns="0" rIns="0" bIns="0" rtlCol="0" anchor="t"/>
          <a:lstStyle/>
          <a:p>
            <a:pPr algn="l" indent="0" marL="0">
              <a:lnSpc>
                <a:spcPts val="1440"/>
              </a:lnSpc>
              <a:buNone/>
            </a:pPr>
            <a:r>
              <a:rPr lang="en-US" sz="900" dirty="0">
                <a:solidFill>
                  <a:srgbClr val="9BB2CE"/>
                </a:solidFill>
                <a:latin typeface="Meiryo" pitchFamily="34" charset="0"/>
                <a:ea typeface="Meiryo" pitchFamily="34" charset="-122"/>
                <a:cs typeface="Meiryo" pitchFamily="34" charset="-120"/>
              </a:rPr>
              <a:t>例：2028年4〜5月</a:t>
            </a:r>
            <a:endParaRPr lang="en-US" sz="900" dirty="0"/>
          </a:p>
        </p:txBody>
      </p:sp>
      <p:sp>
        <p:nvSpPr>
          <p:cNvPr id="40" name="Text 38"/>
          <p:cNvSpPr txBox="1"/>
          <p:nvPr/>
        </p:nvSpPr>
        <p:spPr>
          <a:xfrm>
            <a:off x="8341157" y="4892040"/>
            <a:ext cx="3064154" cy="384048"/>
          </a:xfrm>
          <a:prstGeom prst="rect">
            <a:avLst/>
          </a:prstGeom>
          <a:noFill/>
          <a:ln/>
        </p:spPr>
        <p:txBody>
          <a:bodyPr wrap="square" lIns="0" tIns="0" rIns="0" bIns="0" rtlCol="0" anchor="t"/>
          <a:lstStyle/>
          <a:p>
            <a:pPr algn="l" indent="0" marL="0">
              <a:lnSpc>
                <a:spcPts val="1920"/>
              </a:lnSpc>
              <a:buNone/>
            </a:pPr>
            <a:r>
              <a:rPr lang="en-US" sz="1200" b="1" dirty="0">
                <a:solidFill>
                  <a:srgbClr val="FFFFFF"/>
                </a:solidFill>
                <a:latin typeface="Meiryo" pitchFamily="34" charset="0"/>
                <a:ea typeface="Meiryo" pitchFamily="34" charset="-122"/>
                <a:cs typeface="Meiryo" pitchFamily="34" charset="-120"/>
              </a:rPr>
              <a:t>N3合格・CoE申請 → 来日・入社</a:t>
            </a:r>
            <a:endParaRPr lang="en-US" sz="1200" dirty="0"/>
          </a:p>
        </p:txBody>
      </p:sp>
      <p:sp>
        <p:nvSpPr>
          <p:cNvPr id="41" name="Text 39"/>
          <p:cNvSpPr txBox="1"/>
          <p:nvPr/>
        </p:nvSpPr>
        <p:spPr>
          <a:xfrm>
            <a:off x="8341157" y="5349240"/>
            <a:ext cx="3064154" cy="621792"/>
          </a:xfrm>
          <a:prstGeom prst="rect">
            <a:avLst/>
          </a:prstGeom>
          <a:noFill/>
          <a:ln/>
        </p:spPr>
        <p:txBody>
          <a:bodyPr wrap="square" lIns="0" tIns="0" rIns="0" bIns="0" rtlCol="0" anchor="t"/>
          <a:lstStyle/>
          <a:p>
            <a:pPr algn="l" indent="0" marL="0">
              <a:lnSpc>
                <a:spcPts val="1520"/>
              </a:lnSpc>
              <a:buNone/>
            </a:pPr>
            <a:r>
              <a:rPr lang="en-US" sz="950" dirty="0">
                <a:solidFill>
                  <a:srgbClr val="C9D8EA"/>
                </a:solidFill>
                <a:latin typeface="Meiryo" pitchFamily="34" charset="0"/>
                <a:ea typeface="Meiryo" pitchFamily="34" charset="-122"/>
                <a:cs typeface="Meiryo" pitchFamily="34" charset="-120"/>
              </a:rPr>
              <a:t>高度な日本語学習（N3）と在留資格申請を経て、日本でのキャリアがスタートします。</a:t>
            </a:r>
            <a:endParaRPr lang="en-US" sz="950" dirty="0"/>
          </a:p>
        </p:txBody>
      </p:sp>
      <p:sp>
        <p:nvSpPr>
          <p:cNvPr id="42" name="Text 40"/>
          <p:cNvSpPr txBox="1"/>
          <p:nvPr/>
        </p:nvSpPr>
        <p:spPr>
          <a:xfrm>
            <a:off x="548640" y="6144768"/>
            <a:ext cx="11094415" cy="365760"/>
          </a:xfrm>
          <a:prstGeom prst="rect">
            <a:avLst/>
          </a:prstGeom>
          <a:noFill/>
          <a:ln/>
        </p:spPr>
        <p:txBody>
          <a:bodyPr wrap="square" lIns="0" tIns="0" rIns="0" bIns="0" rtlCol="0" anchor="t"/>
          <a:lstStyle/>
          <a:p>
            <a:pPr algn="l" indent="0" marL="0">
              <a:lnSpc>
                <a:spcPts val="1440"/>
              </a:lnSpc>
              <a:buNone/>
            </a:pPr>
            <a:r>
              <a:rPr lang="en-US" sz="900" dirty="0">
                <a:solidFill>
                  <a:srgbClr val="5C6878"/>
                </a:solidFill>
                <a:latin typeface="Meiryo" pitchFamily="34" charset="0"/>
                <a:ea typeface="Meiryo" pitchFamily="34" charset="-122"/>
                <a:cs typeface="Meiryo" pitchFamily="34" charset="-120"/>
              </a:rPr>
              <a:t>※ 学習期間（約15ヶ月）と支援金額は前回提案から変更ありません。ベトナムの学事日程・卒業時期により、対象学年と実施月は調整が必要です。</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050" b="1" spc="200" kern="0" dirty="0">
                <a:solidFill>
                  <a:srgbClr val="C8102E"/>
                </a:solidFill>
                <a:latin typeface="Arial" pitchFamily="34" charset="0"/>
                <a:ea typeface="Arial" pitchFamily="34" charset="-122"/>
                <a:cs typeface="Arial" pitchFamily="34" charset="-120"/>
              </a:rPr>
              <a:t>FINANCIAL SUPPORT SCHEME</a:t>
            </a:r>
            <a:endParaRPr lang="en-US" sz="1050" dirty="0"/>
          </a:p>
        </p:txBody>
      </p:sp>
      <p:sp>
        <p:nvSpPr>
          <p:cNvPr id="3" name="Text 1"/>
          <p:cNvSpPr txBox="1"/>
          <p:nvPr/>
        </p:nvSpPr>
        <p:spPr>
          <a:xfrm>
            <a:off x="548640" y="566928"/>
            <a:ext cx="11094415" cy="566928"/>
          </a:xfrm>
          <a:prstGeom prst="rect">
            <a:avLst/>
          </a:prstGeom>
          <a:noFill/>
          <a:ln/>
        </p:spPr>
        <p:txBody>
          <a:bodyPr wrap="square" lIns="0" tIns="0" rIns="0" bIns="0" rtlCol="0" anchor="t"/>
          <a:lstStyle/>
          <a:p>
            <a:pPr indent="0" marL="0">
              <a:buNone/>
            </a:pPr>
            <a:r>
              <a:rPr lang="en-US" sz="2800" b="1" dirty="0">
                <a:solidFill>
                  <a:srgbClr val="0E2244"/>
                </a:solidFill>
                <a:latin typeface="Meiryo" pitchFamily="34" charset="0"/>
                <a:ea typeface="Meiryo" pitchFamily="34" charset="-122"/>
                <a:cs typeface="Meiryo" pitchFamily="34" charset="-120"/>
              </a:rPr>
              <a:t>奨学金・生活支援金の仕組み（案）</a:t>
            </a:r>
            <a:endParaRPr lang="en-US" sz="2800" dirty="0"/>
          </a:p>
        </p:txBody>
      </p:sp>
      <p:sp>
        <p:nvSpPr>
          <p:cNvPr id="4" name="Text 2"/>
          <p:cNvSpPr txBox="1"/>
          <p:nvPr/>
        </p:nvSpPr>
        <p:spPr>
          <a:xfrm>
            <a:off x="548640" y="1371600"/>
            <a:ext cx="3931920" cy="548640"/>
          </a:xfrm>
          <a:prstGeom prst="rect">
            <a:avLst/>
          </a:prstGeom>
          <a:noFill/>
          <a:ln/>
        </p:spPr>
        <p:txBody>
          <a:bodyPr wrap="square" lIns="0" tIns="0" rIns="0" bIns="0" rtlCol="0" anchor="t"/>
          <a:lstStyle/>
          <a:p>
            <a:pPr algn="l" indent="0" marL="0">
              <a:lnSpc>
                <a:spcPts val="1840"/>
              </a:lnSpc>
              <a:buNone/>
            </a:pPr>
            <a:r>
              <a:rPr lang="en-US" sz="1150" dirty="0">
                <a:solidFill>
                  <a:srgbClr val="5C6878"/>
                </a:solidFill>
                <a:latin typeface="Meiryo" pitchFamily="34" charset="0"/>
                <a:ea typeface="Meiryo" pitchFamily="34" charset="-122"/>
                <a:cs typeface="Meiryo" pitchFamily="34" charset="-120"/>
              </a:rPr>
              <a:t>学生の学習意欲を維持し、確実な来日へ繋げるための経済的支援スキームです。</a:t>
            </a:r>
            <a:endParaRPr lang="en-US" sz="1150" dirty="0"/>
          </a:p>
        </p:txBody>
      </p:sp>
      <p:sp>
        <p:nvSpPr>
          <p:cNvPr id="5" name="Shape 3"/>
          <p:cNvSpPr/>
          <p:nvPr/>
        </p:nvSpPr>
        <p:spPr>
          <a:xfrm>
            <a:off x="548640" y="2048256"/>
            <a:ext cx="3931920" cy="2194560"/>
          </a:xfrm>
          <a:prstGeom prst="roundRect">
            <a:avLst>
              <a:gd name="adj" fmla="val 2083"/>
            </a:avLst>
          </a:prstGeom>
          <a:solidFill>
            <a:srgbClr val="EEF2F7"/>
          </a:solidFill>
          <a:ln w="12700">
            <a:solidFill>
              <a:srgbClr val="DBE3EC"/>
            </a:solidFill>
            <a:prstDash val="solid"/>
          </a:ln>
          <a:effectLst>
            <a:outerShdw sx="100000" sy="100000" kx="0" ky="0" algn="bl" rotWithShape="0" blurRad="101600" dist="12700" dir="5400000">
              <a:srgbClr val="0E2244">
                <a:alpha val="8000"/>
              </a:srgbClr>
            </a:outerShdw>
          </a:effectLst>
        </p:spPr>
      </p:sp>
      <p:sp>
        <p:nvSpPr>
          <p:cNvPr id="6" name="Text 4"/>
          <p:cNvSpPr txBox="1"/>
          <p:nvPr/>
        </p:nvSpPr>
        <p:spPr>
          <a:xfrm>
            <a:off x="841248" y="2286000"/>
            <a:ext cx="3346704" cy="1737360"/>
          </a:xfrm>
          <a:prstGeom prst="rect">
            <a:avLst/>
          </a:prstGeom>
          <a:noFill/>
          <a:ln/>
        </p:spPr>
        <p:txBody>
          <a:bodyPr wrap="square" lIns="0" tIns="0" rIns="0" bIns="0" rtlCol="0" anchor="ctr"/>
          <a:lstStyle/>
          <a:p>
            <a:pPr indent="0" marL="0">
              <a:lnSpc>
                <a:spcPts val="3000"/>
              </a:lnSpc>
              <a:buNone/>
            </a:pPr>
            <a:r>
              <a:rPr lang="en-US" sz="1450" b="1" dirty="0">
                <a:solidFill>
                  <a:srgbClr val="0E2244"/>
                </a:solidFill>
                <a:latin typeface="Meiryo" pitchFamily="34" charset="0"/>
                <a:ea typeface="Meiryo" pitchFamily="34" charset="-122"/>
                <a:cs typeface="Meiryo" pitchFamily="34" charset="-120"/>
              </a:rPr>
              <a:t>N3合格・CoE発行を条件とした</a:t>
            </a:r>
            <a:pPr indent="0" marL="0">
              <a:lnSpc>
                <a:spcPts val="3000"/>
              </a:lnSpc>
              <a:buNone/>
            </a:pPr>
            <a:r>
              <a:rPr lang="en-US" sz="1450" b="1" dirty="0">
                <a:solidFill>
                  <a:srgbClr val="C8102E"/>
                </a:solidFill>
                <a:latin typeface="Meiryo" pitchFamily="34" charset="0"/>
                <a:ea typeface="Meiryo" pitchFamily="34" charset="-122"/>
                <a:cs typeface="Meiryo" pitchFamily="34" charset="-120"/>
              </a:rPr>
              <a:t>学費支援</a:t>
            </a:r>
            <a:pPr indent="0" marL="0">
              <a:lnSpc>
                <a:spcPts val="3000"/>
              </a:lnSpc>
              <a:buNone/>
            </a:pPr>
            <a:r>
              <a:rPr lang="en-US" sz="1450" b="1" dirty="0">
                <a:solidFill>
                  <a:srgbClr val="0E2244"/>
                </a:solidFill>
                <a:latin typeface="Meiryo" pitchFamily="34" charset="0"/>
                <a:ea typeface="Meiryo" pitchFamily="34" charset="-122"/>
                <a:cs typeface="Meiryo" pitchFamily="34" charset="-120"/>
              </a:rPr>
              <a:t>と</a:t>
            </a:r>
            <a:pPr indent="0" marL="0">
              <a:lnSpc>
                <a:spcPts val="3000"/>
              </a:lnSpc>
              <a:buNone/>
            </a:pPr>
            <a:r>
              <a:rPr lang="en-US" sz="1450" b="1" dirty="0">
                <a:solidFill>
                  <a:srgbClr val="C8102E"/>
                </a:solidFill>
                <a:latin typeface="Meiryo" pitchFamily="34" charset="0"/>
                <a:ea typeface="Meiryo" pitchFamily="34" charset="-122"/>
                <a:cs typeface="Meiryo" pitchFamily="34" charset="-120"/>
              </a:rPr>
              <a:t>月々の生活支援</a:t>
            </a:r>
            <a:pPr indent="0" marL="0">
              <a:lnSpc>
                <a:spcPts val="3000"/>
              </a:lnSpc>
              <a:buNone/>
            </a:pPr>
            <a:r>
              <a:rPr lang="en-US" sz="1450" b="1" dirty="0">
                <a:solidFill>
                  <a:srgbClr val="0E2244"/>
                </a:solidFill>
                <a:latin typeface="Meiryo" pitchFamily="34" charset="0"/>
                <a:ea typeface="Meiryo" pitchFamily="34" charset="-122"/>
                <a:cs typeface="Meiryo" pitchFamily="34" charset="-120"/>
              </a:rPr>
              <a:t>により、学生のコミットメントを高めます。</a:t>
            </a:r>
            <a:endParaRPr lang="en-US" sz="1450" dirty="0"/>
          </a:p>
        </p:txBody>
      </p:sp>
      <p:sp>
        <p:nvSpPr>
          <p:cNvPr id="7" name="Shape 5"/>
          <p:cNvSpPr/>
          <p:nvPr/>
        </p:nvSpPr>
        <p:spPr>
          <a:xfrm>
            <a:off x="548640" y="4425696"/>
            <a:ext cx="3931920" cy="969264"/>
          </a:xfrm>
          <a:prstGeom prst="roundRect">
            <a:avLst>
              <a:gd name="adj" fmla="val 4717"/>
            </a:avLst>
          </a:prstGeom>
          <a:solidFill>
            <a:srgbClr val="FFFFFF"/>
          </a:solidFill>
          <a:ln w="12700">
            <a:solidFill>
              <a:srgbClr val="CBD6E4"/>
            </a:solidFill>
            <a:prstDash val="solid"/>
          </a:ln>
          <a:effectLst>
            <a:outerShdw sx="100000" sy="100000" kx="0" ky="0" algn="bl" rotWithShape="0" blurRad="101600" dist="12700" dir="5400000">
              <a:srgbClr val="0E2244">
                <a:alpha val="8000"/>
              </a:srgbClr>
            </a:outerShdw>
          </a:effectLst>
        </p:spPr>
      </p:sp>
      <p:sp>
        <p:nvSpPr>
          <p:cNvPr id="8" name="Text 6"/>
          <p:cNvSpPr txBox="1"/>
          <p:nvPr/>
        </p:nvSpPr>
        <p:spPr>
          <a:xfrm>
            <a:off x="841248" y="4590288"/>
            <a:ext cx="3346704" cy="640080"/>
          </a:xfrm>
          <a:prstGeom prst="rect">
            <a:avLst/>
          </a:prstGeom>
          <a:noFill/>
          <a:ln/>
        </p:spPr>
        <p:txBody>
          <a:bodyPr wrap="square" lIns="0" tIns="0" rIns="0" bIns="0" rtlCol="0" anchor="t"/>
          <a:lstStyle/>
          <a:p>
            <a:pPr algn="l" indent="0" marL="0">
              <a:lnSpc>
                <a:spcPts val="1920"/>
              </a:lnSpc>
              <a:buNone/>
            </a:pPr>
            <a:r>
              <a:rPr lang="en-US" sz="1200" b="1" dirty="0">
                <a:solidFill>
                  <a:srgbClr val="0E2244"/>
                </a:solidFill>
                <a:latin typeface="Meiryo" pitchFamily="34" charset="0"/>
                <a:ea typeface="Meiryo" pitchFamily="34" charset="-122"/>
                <a:cs typeface="Meiryo" pitchFamily="34" charset="-120"/>
              </a:rPr>
              <a:t>本スキームは前回提案から</a:t>
            </a:r>
            <a:endParaRPr lang="en-US" sz="1200" dirty="0"/>
          </a:p>
          <a:p>
            <a:pPr algn="l" indent="0" marL="0">
              <a:lnSpc>
                <a:spcPts val="1920"/>
              </a:lnSpc>
              <a:buNone/>
            </a:pPr>
            <a:r>
              <a:rPr lang="en-US" sz="1200" b="1" dirty="0">
                <a:solidFill>
                  <a:srgbClr val="0E2244"/>
                </a:solidFill>
                <a:latin typeface="Meiryo" pitchFamily="34" charset="0"/>
                <a:ea typeface="Meiryo" pitchFamily="34" charset="-122"/>
                <a:cs typeface="Meiryo" pitchFamily="34" charset="-120"/>
              </a:rPr>
              <a:t>一切変更しておりません。</a:t>
            </a:r>
            <a:endParaRPr lang="en-US" sz="1200" dirty="0"/>
          </a:p>
        </p:txBody>
      </p:sp>
      <p:sp>
        <p:nvSpPr>
          <p:cNvPr id="9" name="Text 7"/>
          <p:cNvSpPr txBox="1"/>
          <p:nvPr/>
        </p:nvSpPr>
        <p:spPr>
          <a:xfrm>
            <a:off x="548640" y="5577840"/>
            <a:ext cx="3931920" cy="640080"/>
          </a:xfrm>
          <a:prstGeom prst="rect">
            <a:avLst/>
          </a:prstGeom>
          <a:noFill/>
          <a:ln/>
        </p:spPr>
        <p:txBody>
          <a:bodyPr wrap="square" lIns="0" tIns="0" rIns="0" bIns="0" rtlCol="0" anchor="t"/>
          <a:lstStyle/>
          <a:p>
            <a:pPr algn="l" indent="0" marL="0">
              <a:lnSpc>
                <a:spcPts val="1440"/>
              </a:lnSpc>
              <a:buNone/>
            </a:pPr>
            <a:r>
              <a:rPr lang="en-US" sz="900" dirty="0">
                <a:solidFill>
                  <a:srgbClr val="5C6878"/>
                </a:solidFill>
                <a:latin typeface="Meiryo" pitchFamily="34" charset="0"/>
                <a:ea typeface="Meiryo" pitchFamily="34" charset="-122"/>
                <a:cs typeface="Meiryo" pitchFamily="34" charset="-120"/>
              </a:rPr>
              <a:t>※ 金額・期間は標準モデルです。最終的な条件は貴社にてご決定いただきます。</a:t>
            </a:r>
            <a:endParaRPr lang="en-US" sz="900" dirty="0"/>
          </a:p>
        </p:txBody>
      </p:sp>
      <p:sp>
        <p:nvSpPr>
          <p:cNvPr id="10" name="Shape 8"/>
          <p:cNvSpPr/>
          <p:nvPr/>
        </p:nvSpPr>
        <p:spPr>
          <a:xfrm>
            <a:off x="4846320" y="1371600"/>
            <a:ext cx="6796735" cy="1700784"/>
          </a:xfrm>
          <a:prstGeom prst="roundRect">
            <a:avLst>
              <a:gd name="adj" fmla="val 2688"/>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11" name="Text 9"/>
          <p:cNvSpPr txBox="1"/>
          <p:nvPr/>
        </p:nvSpPr>
        <p:spPr>
          <a:xfrm>
            <a:off x="5120640" y="1572768"/>
            <a:ext cx="1463040" cy="219456"/>
          </a:xfrm>
          <a:prstGeom prst="rect">
            <a:avLst/>
          </a:prstGeom>
          <a:noFill/>
          <a:ln/>
        </p:spPr>
        <p:txBody>
          <a:bodyPr wrap="square" lIns="0" tIns="0" rIns="0" bIns="0" rtlCol="0" anchor="t"/>
          <a:lstStyle/>
          <a:p>
            <a:pPr algn="l" indent="0" marL="0">
              <a:lnSpc>
                <a:spcPts val="1360"/>
              </a:lnSpc>
              <a:buNone/>
            </a:pPr>
            <a:r>
              <a:rPr lang="en-US" sz="850" b="1" dirty="0">
                <a:solidFill>
                  <a:srgbClr val="C8102E"/>
                </a:solidFill>
                <a:latin typeface="Meiryo" pitchFamily="34" charset="0"/>
                <a:ea typeface="Meiryo" pitchFamily="34" charset="-122"/>
                <a:cs typeface="Meiryo" pitchFamily="34" charset="-120"/>
              </a:rPr>
              <a:t>SUPPORT 01</a:t>
            </a:r>
            <a:endParaRPr lang="en-US" sz="850" dirty="0"/>
          </a:p>
        </p:txBody>
      </p:sp>
      <p:sp>
        <p:nvSpPr>
          <p:cNvPr id="12" name="Text 10"/>
          <p:cNvSpPr txBox="1"/>
          <p:nvPr/>
        </p:nvSpPr>
        <p:spPr>
          <a:xfrm>
            <a:off x="5120640" y="1828800"/>
            <a:ext cx="2194560" cy="329184"/>
          </a:xfrm>
          <a:prstGeom prst="rect">
            <a:avLst/>
          </a:prstGeom>
          <a:noFill/>
          <a:ln/>
        </p:spPr>
        <p:txBody>
          <a:bodyPr wrap="square" lIns="0" tIns="0" rIns="0" bIns="0" rtlCol="0" anchor="t"/>
          <a:lstStyle/>
          <a:p>
            <a:pPr algn="l" indent="0" marL="0">
              <a:lnSpc>
                <a:spcPts val="2560"/>
              </a:lnSpc>
              <a:buNone/>
            </a:pPr>
            <a:r>
              <a:rPr lang="en-US" sz="1600" b="1" dirty="0">
                <a:solidFill>
                  <a:srgbClr val="1A2230"/>
                </a:solidFill>
                <a:latin typeface="Meiryo" pitchFamily="34" charset="0"/>
                <a:ea typeface="Meiryo" pitchFamily="34" charset="-122"/>
                <a:cs typeface="Meiryo" pitchFamily="34" charset="-120"/>
              </a:rPr>
              <a:t>学費一部支援</a:t>
            </a:r>
            <a:endParaRPr lang="en-US" sz="1600" dirty="0"/>
          </a:p>
        </p:txBody>
      </p:sp>
      <p:sp>
        <p:nvSpPr>
          <p:cNvPr id="13" name="Text 11"/>
          <p:cNvSpPr txBox="1"/>
          <p:nvPr/>
        </p:nvSpPr>
        <p:spPr>
          <a:xfrm>
            <a:off x="7223760" y="1792224"/>
            <a:ext cx="4144975" cy="402336"/>
          </a:xfrm>
          <a:prstGeom prst="rect">
            <a:avLst/>
          </a:prstGeom>
          <a:noFill/>
          <a:ln/>
        </p:spPr>
        <p:txBody>
          <a:bodyPr wrap="square" lIns="0" tIns="0" rIns="0" bIns="0" rtlCol="0" anchor="ctr"/>
          <a:lstStyle/>
          <a:p>
            <a:pPr algn="r" indent="0" marL="0">
              <a:buNone/>
            </a:pPr>
            <a:r>
              <a:rPr lang="en-US" sz="1750" b="1" dirty="0">
                <a:solidFill>
                  <a:srgbClr val="0E2244"/>
                </a:solidFill>
                <a:latin typeface="Meiryo" pitchFamily="34" charset="0"/>
                <a:ea typeface="Meiryo" pitchFamily="34" charset="-122"/>
                <a:cs typeface="Meiryo" pitchFamily="34" charset="-120"/>
              </a:rPr>
              <a:t>30,000,000〜60,000,000</a:t>
            </a:r>
            <a:pPr algn="r" indent="0" marL="0">
              <a:buNone/>
            </a:pPr>
            <a:r>
              <a:rPr lang="en-US" sz="1000" dirty="0">
                <a:solidFill>
                  <a:srgbClr val="5C6878"/>
                </a:solidFill>
                <a:latin typeface="Meiryo" pitchFamily="34" charset="0"/>
                <a:ea typeface="Meiryo" pitchFamily="34" charset="-122"/>
                <a:cs typeface="Meiryo" pitchFamily="34" charset="-120"/>
              </a:rPr>
              <a:t> VND / 人</a:t>
            </a:r>
            <a:endParaRPr lang="en-US" sz="1750" dirty="0"/>
          </a:p>
        </p:txBody>
      </p:sp>
      <p:sp>
        <p:nvSpPr>
          <p:cNvPr id="14" name="Shape 12"/>
          <p:cNvSpPr/>
          <p:nvPr/>
        </p:nvSpPr>
        <p:spPr>
          <a:xfrm>
            <a:off x="5120640" y="2340864"/>
            <a:ext cx="6248095" cy="512064"/>
          </a:xfrm>
          <a:prstGeom prst="rect">
            <a:avLst/>
          </a:prstGeom>
          <a:solidFill>
            <a:srgbClr val="EEF2F7"/>
          </a:solidFill>
          <a:ln/>
        </p:spPr>
      </p:sp>
      <p:sp>
        <p:nvSpPr>
          <p:cNvPr id="15" name="Text 13"/>
          <p:cNvSpPr txBox="1"/>
          <p:nvPr/>
        </p:nvSpPr>
        <p:spPr>
          <a:xfrm>
            <a:off x="5303520" y="2340864"/>
            <a:ext cx="5882335" cy="512064"/>
          </a:xfrm>
          <a:prstGeom prst="rect">
            <a:avLst/>
          </a:prstGeom>
          <a:noFill/>
          <a:ln/>
        </p:spPr>
        <p:txBody>
          <a:bodyPr wrap="square" lIns="0" tIns="0" rIns="0" bIns="0" rtlCol="0" anchor="ctr"/>
          <a:lstStyle/>
          <a:p>
            <a:pPr algn="l" indent="0" marL="0">
              <a:lnSpc>
                <a:spcPts val="1680"/>
              </a:lnSpc>
              <a:buNone/>
            </a:pPr>
            <a:r>
              <a:rPr lang="en-US" sz="1050" dirty="0">
                <a:solidFill>
                  <a:srgbClr val="0E2244"/>
                </a:solidFill>
                <a:latin typeface="Meiryo" pitchFamily="34" charset="0"/>
                <a:ea typeface="Meiryo" pitchFamily="34" charset="-122"/>
                <a:cs typeface="Meiryo" pitchFamily="34" charset="-120"/>
              </a:rPr>
              <a:t>✓　JLPT N3合格およびCoE発行後に、ESUHAIへお振り込みいただきます。</a:t>
            </a:r>
            <a:endParaRPr lang="en-US" sz="1050" dirty="0"/>
          </a:p>
        </p:txBody>
      </p:sp>
      <p:sp>
        <p:nvSpPr>
          <p:cNvPr id="16" name="Shape 14"/>
          <p:cNvSpPr/>
          <p:nvPr/>
        </p:nvSpPr>
        <p:spPr>
          <a:xfrm>
            <a:off x="4846320" y="3200400"/>
            <a:ext cx="6796735" cy="1737360"/>
          </a:xfrm>
          <a:prstGeom prst="roundRect">
            <a:avLst>
              <a:gd name="adj" fmla="val 2632"/>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17" name="Text 15"/>
          <p:cNvSpPr txBox="1"/>
          <p:nvPr/>
        </p:nvSpPr>
        <p:spPr>
          <a:xfrm>
            <a:off x="5120640" y="3401568"/>
            <a:ext cx="1463040" cy="219456"/>
          </a:xfrm>
          <a:prstGeom prst="rect">
            <a:avLst/>
          </a:prstGeom>
          <a:noFill/>
          <a:ln/>
        </p:spPr>
        <p:txBody>
          <a:bodyPr wrap="square" lIns="0" tIns="0" rIns="0" bIns="0" rtlCol="0" anchor="t"/>
          <a:lstStyle/>
          <a:p>
            <a:pPr algn="l" indent="0" marL="0">
              <a:lnSpc>
                <a:spcPts val="1360"/>
              </a:lnSpc>
              <a:buNone/>
            </a:pPr>
            <a:r>
              <a:rPr lang="en-US" sz="850" b="1" dirty="0">
                <a:solidFill>
                  <a:srgbClr val="C8102E"/>
                </a:solidFill>
                <a:latin typeface="Meiryo" pitchFamily="34" charset="0"/>
                <a:ea typeface="Meiryo" pitchFamily="34" charset="-122"/>
                <a:cs typeface="Meiryo" pitchFamily="34" charset="-120"/>
              </a:rPr>
              <a:t>SUPPORT 02</a:t>
            </a:r>
            <a:endParaRPr lang="en-US" sz="850" dirty="0"/>
          </a:p>
        </p:txBody>
      </p:sp>
      <p:sp>
        <p:nvSpPr>
          <p:cNvPr id="18" name="Text 16"/>
          <p:cNvSpPr txBox="1"/>
          <p:nvPr/>
        </p:nvSpPr>
        <p:spPr>
          <a:xfrm>
            <a:off x="5120640" y="3657600"/>
            <a:ext cx="2194560" cy="329184"/>
          </a:xfrm>
          <a:prstGeom prst="rect">
            <a:avLst/>
          </a:prstGeom>
          <a:noFill/>
          <a:ln/>
        </p:spPr>
        <p:txBody>
          <a:bodyPr wrap="square" lIns="0" tIns="0" rIns="0" bIns="0" rtlCol="0" anchor="t"/>
          <a:lstStyle/>
          <a:p>
            <a:pPr algn="l" indent="0" marL="0">
              <a:lnSpc>
                <a:spcPts val="2560"/>
              </a:lnSpc>
              <a:buNone/>
            </a:pPr>
            <a:r>
              <a:rPr lang="en-US" sz="1600" b="1" dirty="0">
                <a:solidFill>
                  <a:srgbClr val="1A2230"/>
                </a:solidFill>
                <a:latin typeface="Meiryo" pitchFamily="34" charset="0"/>
                <a:ea typeface="Meiryo" pitchFamily="34" charset="-122"/>
                <a:cs typeface="Meiryo" pitchFamily="34" charset="-120"/>
              </a:rPr>
              <a:t>生活支援金</a:t>
            </a:r>
            <a:endParaRPr lang="en-US" sz="1600" dirty="0"/>
          </a:p>
        </p:txBody>
      </p:sp>
      <p:sp>
        <p:nvSpPr>
          <p:cNvPr id="19" name="Text 17"/>
          <p:cNvSpPr txBox="1"/>
          <p:nvPr/>
        </p:nvSpPr>
        <p:spPr>
          <a:xfrm>
            <a:off x="7498080" y="3621024"/>
            <a:ext cx="3870655" cy="402336"/>
          </a:xfrm>
          <a:prstGeom prst="rect">
            <a:avLst/>
          </a:prstGeom>
          <a:noFill/>
          <a:ln/>
        </p:spPr>
        <p:txBody>
          <a:bodyPr wrap="square" lIns="0" tIns="0" rIns="0" bIns="0" rtlCol="0" anchor="ctr"/>
          <a:lstStyle/>
          <a:p>
            <a:pPr algn="r" indent="0" marL="0">
              <a:buNone/>
            </a:pPr>
            <a:r>
              <a:rPr lang="en-US" sz="2100" b="1" dirty="0">
                <a:solidFill>
                  <a:srgbClr val="0E2244"/>
                </a:solidFill>
                <a:latin typeface="Meiryo" pitchFamily="34" charset="0"/>
                <a:ea typeface="Meiryo" pitchFamily="34" charset="-122"/>
                <a:cs typeface="Meiryo" pitchFamily="34" charset="-120"/>
              </a:rPr>
              <a:t>2,000,000</a:t>
            </a:r>
            <a:pPr algn="r" indent="0" marL="0">
              <a:buNone/>
            </a:pPr>
            <a:r>
              <a:rPr lang="en-US" sz="1000" dirty="0">
                <a:solidFill>
                  <a:srgbClr val="5C6878"/>
                </a:solidFill>
                <a:latin typeface="Meiryo" pitchFamily="34" charset="0"/>
                <a:ea typeface="Meiryo" pitchFamily="34" charset="-122"/>
                <a:cs typeface="Meiryo" pitchFamily="34" charset="-120"/>
              </a:rPr>
              <a:t> VND / 月</a:t>
            </a:r>
            <a:endParaRPr lang="en-US" sz="2100" dirty="0"/>
          </a:p>
        </p:txBody>
      </p:sp>
      <p:sp>
        <p:nvSpPr>
          <p:cNvPr id="20" name="Text 18"/>
          <p:cNvSpPr txBox="1"/>
          <p:nvPr/>
        </p:nvSpPr>
        <p:spPr>
          <a:xfrm>
            <a:off x="5120640" y="4206240"/>
            <a:ext cx="2011680" cy="201168"/>
          </a:xfrm>
          <a:prstGeom prst="rect">
            <a:avLst/>
          </a:prstGeom>
          <a:noFill/>
          <a:ln/>
        </p:spPr>
        <p:txBody>
          <a:bodyPr wrap="square" lIns="0" tIns="0" rIns="0" bIns="0" rtlCol="0" anchor="t"/>
          <a:lstStyle/>
          <a:p>
            <a:pPr algn="l" indent="0" marL="0">
              <a:lnSpc>
                <a:spcPts val="1360"/>
              </a:lnSpc>
              <a:buNone/>
            </a:pPr>
            <a:r>
              <a:rPr lang="en-US" sz="850" dirty="0">
                <a:solidFill>
                  <a:srgbClr val="5C6878"/>
                </a:solidFill>
                <a:latin typeface="Meiryo" pitchFamily="34" charset="0"/>
                <a:ea typeface="Meiryo" pitchFamily="34" charset="-122"/>
                <a:cs typeface="Meiryo" pitchFamily="34" charset="-120"/>
              </a:rPr>
              <a:t>DURATION</a:t>
            </a:r>
            <a:endParaRPr lang="en-US" sz="850" dirty="0"/>
          </a:p>
        </p:txBody>
      </p:sp>
      <p:sp>
        <p:nvSpPr>
          <p:cNvPr id="21" name="Text 19"/>
          <p:cNvSpPr txBox="1"/>
          <p:nvPr/>
        </p:nvSpPr>
        <p:spPr>
          <a:xfrm>
            <a:off x="5120640" y="4443984"/>
            <a:ext cx="2377440" cy="274320"/>
          </a:xfrm>
          <a:prstGeom prst="rect">
            <a:avLst/>
          </a:prstGeom>
          <a:noFill/>
          <a:ln/>
        </p:spPr>
        <p:txBody>
          <a:bodyPr wrap="square" lIns="0" tIns="0" rIns="0" bIns="0" rtlCol="0" anchor="t"/>
          <a:lstStyle/>
          <a:p>
            <a:pPr algn="l" indent="0" marL="0">
              <a:lnSpc>
                <a:spcPts val="1840"/>
              </a:lnSpc>
              <a:buNone/>
            </a:pPr>
            <a:r>
              <a:rPr lang="en-US" sz="1150" dirty="0">
                <a:solidFill>
                  <a:srgbClr val="1A2230"/>
                </a:solidFill>
                <a:latin typeface="Meiryo" pitchFamily="34" charset="0"/>
                <a:ea typeface="Meiryo" pitchFamily="34" charset="-122"/>
                <a:cs typeface="Meiryo" pitchFamily="34" charset="-120"/>
              </a:rPr>
              <a:t>学習期間中（約15ヶ月）</a:t>
            </a:r>
            <a:endParaRPr lang="en-US" sz="1150" dirty="0"/>
          </a:p>
        </p:txBody>
      </p:sp>
      <p:sp>
        <p:nvSpPr>
          <p:cNvPr id="22" name="Text 20"/>
          <p:cNvSpPr txBox="1"/>
          <p:nvPr/>
        </p:nvSpPr>
        <p:spPr>
          <a:xfrm>
            <a:off x="7772400" y="4206240"/>
            <a:ext cx="2194560" cy="201168"/>
          </a:xfrm>
          <a:prstGeom prst="rect">
            <a:avLst/>
          </a:prstGeom>
          <a:noFill/>
          <a:ln/>
        </p:spPr>
        <p:txBody>
          <a:bodyPr wrap="square" lIns="0" tIns="0" rIns="0" bIns="0" rtlCol="0" anchor="t"/>
          <a:lstStyle/>
          <a:p>
            <a:pPr algn="l" indent="0" marL="0">
              <a:lnSpc>
                <a:spcPts val="1360"/>
              </a:lnSpc>
              <a:buNone/>
            </a:pPr>
            <a:r>
              <a:rPr lang="en-US" sz="850" dirty="0">
                <a:solidFill>
                  <a:srgbClr val="5C6878"/>
                </a:solidFill>
                <a:latin typeface="Meiryo" pitchFamily="34" charset="0"/>
                <a:ea typeface="Meiryo" pitchFamily="34" charset="-122"/>
                <a:cs typeface="Meiryo" pitchFamily="34" charset="-120"/>
              </a:rPr>
              <a:t>PAYMENT FLOW</a:t>
            </a:r>
            <a:endParaRPr lang="en-US" sz="850" dirty="0"/>
          </a:p>
        </p:txBody>
      </p:sp>
      <p:sp>
        <p:nvSpPr>
          <p:cNvPr id="23" name="Text 21"/>
          <p:cNvSpPr txBox="1"/>
          <p:nvPr/>
        </p:nvSpPr>
        <p:spPr>
          <a:xfrm>
            <a:off x="7772400" y="4443984"/>
            <a:ext cx="2743200" cy="274320"/>
          </a:xfrm>
          <a:prstGeom prst="rect">
            <a:avLst/>
          </a:prstGeom>
          <a:noFill/>
          <a:ln/>
        </p:spPr>
        <p:txBody>
          <a:bodyPr wrap="square" lIns="0" tIns="0" rIns="0" bIns="0" rtlCol="0" anchor="t"/>
          <a:lstStyle/>
          <a:p>
            <a:pPr algn="l" indent="0" marL="0">
              <a:lnSpc>
                <a:spcPts val="1840"/>
              </a:lnSpc>
              <a:buNone/>
            </a:pPr>
            <a:r>
              <a:rPr lang="en-US" sz="1150" dirty="0">
                <a:solidFill>
                  <a:srgbClr val="1A2230"/>
                </a:solidFill>
                <a:latin typeface="Meiryo" pitchFamily="34" charset="0"/>
                <a:ea typeface="Meiryo" pitchFamily="34" charset="-122"/>
                <a:cs typeface="Meiryo" pitchFamily="34" charset="-120"/>
              </a:rPr>
              <a:t>四半期毎前払い → 現金支給</a:t>
            </a:r>
            <a:endParaRPr lang="en-US" sz="1150" dirty="0"/>
          </a:p>
        </p:txBody>
      </p:sp>
      <p:sp>
        <p:nvSpPr>
          <p:cNvPr id="24" name="Shape 22"/>
          <p:cNvSpPr/>
          <p:nvPr/>
        </p:nvSpPr>
        <p:spPr>
          <a:xfrm>
            <a:off x="4846320" y="5084064"/>
            <a:ext cx="6796735" cy="1133856"/>
          </a:xfrm>
          <a:prstGeom prst="roundRect">
            <a:avLst>
              <a:gd name="adj" fmla="val 4032"/>
            </a:avLst>
          </a:prstGeom>
          <a:solidFill>
            <a:srgbClr val="0E2244"/>
          </a:solidFill>
          <a:ln w="12700">
            <a:solidFill>
              <a:srgbClr val="0E2244"/>
            </a:solidFill>
            <a:prstDash val="solid"/>
          </a:ln>
          <a:effectLst>
            <a:outerShdw sx="100000" sy="100000" kx="0" ky="0" algn="bl" rotWithShape="0" blurRad="101600" dist="12700" dir="5400000">
              <a:srgbClr val="0E2244">
                <a:alpha val="8000"/>
              </a:srgbClr>
            </a:outerShdw>
          </a:effectLst>
        </p:spPr>
      </p:sp>
      <p:sp>
        <p:nvSpPr>
          <p:cNvPr id="25" name="Text 23"/>
          <p:cNvSpPr txBox="1"/>
          <p:nvPr/>
        </p:nvSpPr>
        <p:spPr>
          <a:xfrm>
            <a:off x="5157216" y="5285232"/>
            <a:ext cx="2377440" cy="219456"/>
          </a:xfrm>
          <a:prstGeom prst="rect">
            <a:avLst/>
          </a:prstGeom>
          <a:noFill/>
          <a:ln/>
        </p:spPr>
        <p:txBody>
          <a:bodyPr wrap="square" lIns="0" tIns="0" rIns="0" bIns="0" rtlCol="0" anchor="t"/>
          <a:lstStyle/>
          <a:p>
            <a:pPr algn="l" indent="0" marL="0">
              <a:lnSpc>
                <a:spcPts val="1360"/>
              </a:lnSpc>
              <a:buNone/>
            </a:pPr>
            <a:r>
              <a:rPr lang="en-US" sz="850" dirty="0">
                <a:solidFill>
                  <a:srgbClr val="9BB2CE"/>
                </a:solidFill>
                <a:latin typeface="Meiryo" pitchFamily="34" charset="0"/>
                <a:ea typeface="Meiryo" pitchFamily="34" charset="-122"/>
                <a:cs typeface="Meiryo" pitchFamily="34" charset="-120"/>
              </a:rPr>
              <a:t>TOTAL INVESTMENT</a:t>
            </a:r>
            <a:endParaRPr lang="en-US" sz="850" dirty="0"/>
          </a:p>
        </p:txBody>
      </p:sp>
      <p:sp>
        <p:nvSpPr>
          <p:cNvPr id="26" name="Text 24"/>
          <p:cNvSpPr txBox="1"/>
          <p:nvPr/>
        </p:nvSpPr>
        <p:spPr>
          <a:xfrm>
            <a:off x="5157216" y="5541264"/>
            <a:ext cx="2743200" cy="310896"/>
          </a:xfrm>
          <a:prstGeom prst="rect">
            <a:avLst/>
          </a:prstGeom>
          <a:noFill/>
          <a:ln/>
        </p:spPr>
        <p:txBody>
          <a:bodyPr wrap="square" lIns="0" tIns="0" rIns="0" bIns="0" rtlCol="0" anchor="t"/>
          <a:lstStyle/>
          <a:p>
            <a:pPr algn="l" indent="0" marL="0">
              <a:lnSpc>
                <a:spcPts val="2080"/>
              </a:lnSpc>
              <a:buNone/>
            </a:pPr>
            <a:r>
              <a:rPr lang="en-US" sz="1300" dirty="0">
                <a:solidFill>
                  <a:srgbClr val="FFFFFF"/>
                </a:solidFill>
                <a:latin typeface="Meiryo" pitchFamily="34" charset="0"/>
                <a:ea typeface="Meiryo" pitchFamily="34" charset="-122"/>
                <a:cs typeface="Meiryo" pitchFamily="34" charset="-120"/>
              </a:rPr>
              <a:t>1人あたり総額目安（案）</a:t>
            </a:r>
            <a:endParaRPr lang="en-US" sz="1300" dirty="0"/>
          </a:p>
        </p:txBody>
      </p:sp>
      <p:sp>
        <p:nvSpPr>
          <p:cNvPr id="27" name="Text 25"/>
          <p:cNvSpPr txBox="1"/>
          <p:nvPr/>
        </p:nvSpPr>
        <p:spPr>
          <a:xfrm>
            <a:off x="8138160" y="5358384"/>
            <a:ext cx="3193999" cy="585216"/>
          </a:xfrm>
          <a:prstGeom prst="rect">
            <a:avLst/>
          </a:prstGeom>
          <a:noFill/>
          <a:ln/>
        </p:spPr>
        <p:txBody>
          <a:bodyPr wrap="square" lIns="0" tIns="0" rIns="0" bIns="0" rtlCol="0" anchor="ctr"/>
          <a:lstStyle/>
          <a:p>
            <a:pPr algn="r" indent="0" marL="0">
              <a:buNone/>
            </a:pPr>
            <a:r>
              <a:rPr lang="en-US" sz="3000" b="1" dirty="0">
                <a:solidFill>
                  <a:srgbClr val="FFFFFF"/>
                </a:solidFill>
                <a:latin typeface="Meiryo" pitchFamily="34" charset="0"/>
                <a:ea typeface="Meiryo" pitchFamily="34" charset="-122"/>
                <a:cs typeface="Meiryo" pitchFamily="34" charset="-120"/>
              </a:rPr>
              <a:t>34万〜54万</a:t>
            </a:r>
            <a:pPr algn="r" indent="0" marL="0">
              <a:buNone/>
            </a:pPr>
            <a:r>
              <a:rPr lang="en-US" sz="1200" dirty="0">
                <a:solidFill>
                  <a:srgbClr val="C9D8EA"/>
                </a:solidFill>
                <a:latin typeface="Meiryo" pitchFamily="34" charset="0"/>
                <a:ea typeface="Meiryo" pitchFamily="34" charset="-122"/>
                <a:cs typeface="Meiryo" pitchFamily="34" charset="-120"/>
              </a:rPr>
              <a:t> 円 JPY</a:t>
            </a:r>
            <a:endParaRPr lang="en-US" sz="3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050" b="1" spc="200" kern="0" dirty="0">
                <a:solidFill>
                  <a:srgbClr val="C8102E"/>
                </a:solidFill>
                <a:latin typeface="Arial" pitchFamily="34" charset="0"/>
                <a:ea typeface="Arial" pitchFamily="34" charset="-122"/>
                <a:cs typeface="Arial" pitchFamily="34" charset="-120"/>
              </a:rPr>
              <a:t>COST &amp; RISK MANAGEMENT</a:t>
            </a:r>
            <a:endParaRPr lang="en-US" sz="1050" dirty="0"/>
          </a:p>
        </p:txBody>
      </p:sp>
      <p:sp>
        <p:nvSpPr>
          <p:cNvPr id="3" name="Text 1"/>
          <p:cNvSpPr txBox="1"/>
          <p:nvPr/>
        </p:nvSpPr>
        <p:spPr>
          <a:xfrm>
            <a:off x="548640" y="566928"/>
            <a:ext cx="11094415" cy="566928"/>
          </a:xfrm>
          <a:prstGeom prst="rect">
            <a:avLst/>
          </a:prstGeom>
          <a:noFill/>
          <a:ln/>
        </p:spPr>
        <p:txBody>
          <a:bodyPr wrap="square" lIns="0" tIns="0" rIns="0" bIns="0" rtlCol="0" anchor="t"/>
          <a:lstStyle/>
          <a:p>
            <a:pPr indent="0" marL="0">
              <a:buNone/>
            </a:pPr>
            <a:r>
              <a:rPr lang="en-US" sz="2800" b="1" dirty="0">
                <a:solidFill>
                  <a:srgbClr val="0E2244"/>
                </a:solidFill>
                <a:latin typeface="Meiryo" pitchFamily="34" charset="0"/>
                <a:ea typeface="Meiryo" pitchFamily="34" charset="-122"/>
                <a:cs typeface="Meiryo" pitchFamily="34" charset="-120"/>
              </a:rPr>
              <a:t>費用と企業リスクの限定</a:t>
            </a:r>
            <a:endParaRPr lang="en-US" sz="2800" dirty="0"/>
          </a:p>
        </p:txBody>
      </p:sp>
      <p:sp>
        <p:nvSpPr>
          <p:cNvPr id="4" name="Shape 2"/>
          <p:cNvSpPr/>
          <p:nvPr/>
        </p:nvSpPr>
        <p:spPr>
          <a:xfrm>
            <a:off x="548640" y="1280160"/>
            <a:ext cx="11094415" cy="621792"/>
          </a:xfrm>
          <a:prstGeom prst="rect">
            <a:avLst/>
          </a:prstGeom>
          <a:solidFill>
            <a:srgbClr val="EEF2F7"/>
          </a:solidFill>
          <a:ln/>
        </p:spPr>
      </p:sp>
      <p:sp>
        <p:nvSpPr>
          <p:cNvPr id="5" name="Text 3"/>
          <p:cNvSpPr txBox="1"/>
          <p:nvPr/>
        </p:nvSpPr>
        <p:spPr>
          <a:xfrm>
            <a:off x="868680" y="1280160"/>
            <a:ext cx="10454335" cy="621792"/>
          </a:xfrm>
          <a:prstGeom prst="rect">
            <a:avLst/>
          </a:prstGeom>
          <a:noFill/>
          <a:ln/>
        </p:spPr>
        <p:txBody>
          <a:bodyPr wrap="square" lIns="0" tIns="0" rIns="0" bIns="0" rtlCol="0" anchor="ctr"/>
          <a:lstStyle/>
          <a:p>
            <a:pPr indent="0" marL="0">
              <a:lnSpc>
                <a:spcPts val="2030"/>
              </a:lnSpc>
              <a:buNone/>
            </a:pPr>
            <a:r>
              <a:rPr lang="en-US" sz="1400" b="1" dirty="0">
                <a:solidFill>
                  <a:srgbClr val="0E2244"/>
                </a:solidFill>
                <a:latin typeface="Meiryo" pitchFamily="34" charset="0"/>
                <a:ea typeface="Meiryo" pitchFamily="34" charset="-122"/>
                <a:cs typeface="Meiryo" pitchFamily="34" charset="-120"/>
              </a:rPr>
              <a:t>企業の投資リスクを最小化し、追加費用の発生しない安全な設計となっています。</a:t>
            </a:r>
            <a:endParaRPr lang="en-US" sz="1400" dirty="0"/>
          </a:p>
        </p:txBody>
      </p:sp>
      <p:sp>
        <p:nvSpPr>
          <p:cNvPr id="6" name="Shape 4"/>
          <p:cNvSpPr/>
          <p:nvPr/>
        </p:nvSpPr>
        <p:spPr>
          <a:xfrm>
            <a:off x="548640" y="2121408"/>
            <a:ext cx="6355080" cy="1700784"/>
          </a:xfrm>
          <a:prstGeom prst="roundRect">
            <a:avLst>
              <a:gd name="adj" fmla="val 2688"/>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7" name="Text 5"/>
          <p:cNvSpPr txBox="1"/>
          <p:nvPr/>
        </p:nvSpPr>
        <p:spPr>
          <a:xfrm>
            <a:off x="822960" y="2322576"/>
            <a:ext cx="5806440" cy="292608"/>
          </a:xfrm>
          <a:prstGeom prst="rect">
            <a:avLst/>
          </a:prstGeom>
          <a:noFill/>
          <a:ln/>
        </p:spPr>
        <p:txBody>
          <a:bodyPr wrap="square" lIns="0" tIns="0" rIns="0" bIns="0" rtlCol="0" anchor="t"/>
          <a:lstStyle/>
          <a:p>
            <a:pPr algn="l" indent="0" marL="0">
              <a:lnSpc>
                <a:spcPts val="2240"/>
              </a:lnSpc>
              <a:buNone/>
            </a:pPr>
            <a:r>
              <a:rPr lang="en-US" sz="1400" b="1" dirty="0">
                <a:solidFill>
                  <a:srgbClr val="1A2230"/>
                </a:solidFill>
                <a:latin typeface="Meiryo" pitchFamily="34" charset="0"/>
                <a:ea typeface="Meiryo" pitchFamily="34" charset="-122"/>
                <a:cs typeface="Meiryo" pitchFamily="34" charset="-120"/>
              </a:rPr>
              <a:t>負担項目の明確化</a:t>
            </a:r>
            <a:endParaRPr lang="en-US" sz="1400" dirty="0"/>
          </a:p>
        </p:txBody>
      </p:sp>
      <p:sp>
        <p:nvSpPr>
          <p:cNvPr id="8" name="Text 6"/>
          <p:cNvSpPr txBox="1"/>
          <p:nvPr/>
        </p:nvSpPr>
        <p:spPr>
          <a:xfrm>
            <a:off x="841248" y="2743200"/>
            <a:ext cx="5769864" cy="640080"/>
          </a:xfrm>
          <a:prstGeom prst="rect">
            <a:avLst/>
          </a:prstGeom>
          <a:noFill/>
          <a:ln/>
        </p:spPr>
        <p:txBody>
          <a:bodyPr wrap="square" lIns="0" tIns="0" rIns="0" bIns="0" rtlCol="0" anchor="t"/>
          <a:lstStyle/>
          <a:p>
            <a:pPr marL="342900" indent="-342900">
              <a:lnSpc>
                <a:spcPts val="1783"/>
              </a:lnSpc>
              <a:spcAft>
                <a:spcPts val="600"/>
              </a:spcAft>
              <a:buSzPct val="100000"/>
              <a:buChar char="▪"/>
            </a:pPr>
            <a:r>
              <a:rPr lang="en-US" sz="1150" dirty="0">
                <a:solidFill>
                  <a:srgbClr val="1A2230"/>
                </a:solidFill>
                <a:latin typeface="Meiryo" pitchFamily="34" charset="0"/>
                <a:ea typeface="Meiryo" pitchFamily="34" charset="-122"/>
                <a:cs typeface="Meiryo" pitchFamily="34" charset="-120"/>
              </a:rPr>
              <a:t>貴社負担：「学費支援」「生活支援金」「渡航・申請実費」のみ</a:t>
            </a:r>
            <a:endParaRPr lang="en-US" sz="1150" dirty="0"/>
          </a:p>
          <a:p>
            <a:pPr marL="342900" indent="-342900">
              <a:lnSpc>
                <a:spcPts val="1783"/>
              </a:lnSpc>
              <a:spcAft>
                <a:spcPts val="600"/>
              </a:spcAft>
              <a:buSzPct val="100000"/>
              <a:buChar char="▪"/>
            </a:pPr>
            <a:r>
              <a:rPr lang="en-US" sz="1150" dirty="0">
                <a:solidFill>
                  <a:srgbClr val="1A2230"/>
                </a:solidFill>
                <a:latin typeface="Meiryo" pitchFamily="34" charset="0"/>
                <a:ea typeface="Meiryo" pitchFamily="34" charset="-122"/>
                <a:cs typeface="Meiryo" pitchFamily="34" charset="-120"/>
              </a:rPr>
              <a:t>紹介料等の追加費用は一切不要です。</a:t>
            </a:r>
            <a:endParaRPr lang="en-US" sz="1150" dirty="0"/>
          </a:p>
        </p:txBody>
      </p:sp>
      <p:sp>
        <p:nvSpPr>
          <p:cNvPr id="9" name="Text 7"/>
          <p:cNvSpPr txBox="1"/>
          <p:nvPr/>
        </p:nvSpPr>
        <p:spPr>
          <a:xfrm>
            <a:off x="841248" y="3401568"/>
            <a:ext cx="5769864" cy="310896"/>
          </a:xfrm>
          <a:prstGeom prst="rect">
            <a:avLst/>
          </a:prstGeom>
          <a:noFill/>
          <a:ln/>
        </p:spPr>
        <p:txBody>
          <a:bodyPr wrap="square" lIns="0" tIns="0" rIns="0" bIns="0" rtlCol="0" anchor="t"/>
          <a:lstStyle/>
          <a:p>
            <a:pPr algn="l" indent="0" marL="0">
              <a:lnSpc>
                <a:spcPts val="1440"/>
              </a:lnSpc>
              <a:buNone/>
            </a:pPr>
            <a:r>
              <a:rPr lang="en-US" sz="900" dirty="0">
                <a:solidFill>
                  <a:srgbClr val="5C6878"/>
                </a:solidFill>
                <a:latin typeface="Meiryo" pitchFamily="34" charset="0"/>
                <a:ea typeface="Meiryo" pitchFamily="34" charset="-122"/>
                <a:cs typeface="Meiryo" pitchFamily="34" charset="-120"/>
              </a:rPr>
              <a:t>※ 募集・選考にかかる弊社職員のホーチミン市外への出張費（旅費交通費）の実費ご負担はお願いいたします。</a:t>
            </a:r>
            <a:endParaRPr lang="en-US" sz="900" dirty="0"/>
          </a:p>
        </p:txBody>
      </p:sp>
      <p:sp>
        <p:nvSpPr>
          <p:cNvPr id="10" name="Shape 8"/>
          <p:cNvSpPr/>
          <p:nvPr/>
        </p:nvSpPr>
        <p:spPr>
          <a:xfrm>
            <a:off x="548640" y="3986784"/>
            <a:ext cx="6355080" cy="2103120"/>
          </a:xfrm>
          <a:prstGeom prst="roundRect">
            <a:avLst>
              <a:gd name="adj" fmla="val 2174"/>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11" name="Text 9"/>
          <p:cNvSpPr txBox="1"/>
          <p:nvPr/>
        </p:nvSpPr>
        <p:spPr>
          <a:xfrm>
            <a:off x="822960" y="4187952"/>
            <a:ext cx="5806440" cy="292608"/>
          </a:xfrm>
          <a:prstGeom prst="rect">
            <a:avLst/>
          </a:prstGeom>
          <a:noFill/>
          <a:ln/>
        </p:spPr>
        <p:txBody>
          <a:bodyPr wrap="square" lIns="0" tIns="0" rIns="0" bIns="0" rtlCol="0" anchor="t"/>
          <a:lstStyle/>
          <a:p>
            <a:pPr algn="l" indent="0" marL="0">
              <a:lnSpc>
                <a:spcPts val="2240"/>
              </a:lnSpc>
              <a:buNone/>
            </a:pPr>
            <a:r>
              <a:rPr lang="en-US" sz="1400" b="1" dirty="0">
                <a:solidFill>
                  <a:srgbClr val="1A2230"/>
                </a:solidFill>
                <a:latin typeface="Meiryo" pitchFamily="34" charset="0"/>
                <a:ea typeface="Meiryo" pitchFamily="34" charset="-122"/>
                <a:cs typeface="Meiryo" pitchFamily="34" charset="-120"/>
              </a:rPr>
              <a:t>リスク回避の仕組み</a:t>
            </a:r>
            <a:endParaRPr lang="en-US" sz="1400" dirty="0"/>
          </a:p>
        </p:txBody>
      </p:sp>
      <p:sp>
        <p:nvSpPr>
          <p:cNvPr id="12" name="Shape 10"/>
          <p:cNvSpPr/>
          <p:nvPr/>
        </p:nvSpPr>
        <p:spPr>
          <a:xfrm>
            <a:off x="841248" y="4608576"/>
            <a:ext cx="5769864" cy="749808"/>
          </a:xfrm>
          <a:prstGeom prst="rect">
            <a:avLst/>
          </a:prstGeom>
          <a:solidFill>
            <a:srgbClr val="EEF2F7"/>
          </a:solidFill>
          <a:ln/>
        </p:spPr>
      </p:sp>
      <p:sp>
        <p:nvSpPr>
          <p:cNvPr id="13" name="Text 11"/>
          <p:cNvSpPr txBox="1"/>
          <p:nvPr/>
        </p:nvSpPr>
        <p:spPr>
          <a:xfrm>
            <a:off x="1143000" y="4700016"/>
            <a:ext cx="2194560" cy="201168"/>
          </a:xfrm>
          <a:prstGeom prst="rect">
            <a:avLst/>
          </a:prstGeom>
          <a:noFill/>
          <a:ln/>
        </p:spPr>
        <p:txBody>
          <a:bodyPr wrap="square" lIns="0" tIns="0" rIns="0" bIns="0" rtlCol="0" anchor="t"/>
          <a:lstStyle/>
          <a:p>
            <a:pPr algn="ctr" indent="0" marL="0">
              <a:lnSpc>
                <a:spcPts val="1280"/>
              </a:lnSpc>
              <a:buNone/>
            </a:pPr>
            <a:r>
              <a:rPr lang="en-US" sz="800" dirty="0">
                <a:solidFill>
                  <a:srgbClr val="5C6878"/>
                </a:solidFill>
                <a:latin typeface="Meiryo" pitchFamily="34" charset="0"/>
                <a:ea typeface="Meiryo" pitchFamily="34" charset="-122"/>
                <a:cs typeface="Meiryo" pitchFamily="34" charset="-120"/>
              </a:rPr>
              <a:t>TRIGGER</a:t>
            </a:r>
            <a:endParaRPr lang="en-US" sz="800" dirty="0"/>
          </a:p>
        </p:txBody>
      </p:sp>
      <p:sp>
        <p:nvSpPr>
          <p:cNvPr id="14" name="Shape 12"/>
          <p:cNvSpPr/>
          <p:nvPr/>
        </p:nvSpPr>
        <p:spPr>
          <a:xfrm>
            <a:off x="1143000" y="4919472"/>
            <a:ext cx="2194560" cy="329184"/>
          </a:xfrm>
          <a:prstGeom prst="rect">
            <a:avLst/>
          </a:prstGeom>
          <a:solidFill>
            <a:srgbClr val="FFFFFF"/>
          </a:solidFill>
          <a:ln w="12700">
            <a:solidFill>
              <a:srgbClr val="DFE5EC"/>
            </a:solidFill>
            <a:prstDash val="solid"/>
          </a:ln>
        </p:spPr>
      </p:sp>
      <p:sp>
        <p:nvSpPr>
          <p:cNvPr id="15" name="Text 13"/>
          <p:cNvSpPr txBox="1"/>
          <p:nvPr/>
        </p:nvSpPr>
        <p:spPr>
          <a:xfrm>
            <a:off x="1143000" y="4919472"/>
            <a:ext cx="2194560" cy="329184"/>
          </a:xfrm>
          <a:prstGeom prst="rect">
            <a:avLst/>
          </a:prstGeom>
          <a:noFill/>
          <a:ln/>
        </p:spPr>
        <p:txBody>
          <a:bodyPr wrap="square" lIns="0" tIns="0" rIns="0" bIns="0" rtlCol="0" anchor="ctr"/>
          <a:lstStyle/>
          <a:p>
            <a:pPr algn="ctr" indent="0" marL="0">
              <a:lnSpc>
                <a:spcPts val="1920"/>
              </a:lnSpc>
              <a:buNone/>
            </a:pPr>
            <a:r>
              <a:rPr lang="en-US" sz="1200" b="1" dirty="0">
                <a:solidFill>
                  <a:srgbClr val="1A2230"/>
                </a:solidFill>
                <a:latin typeface="Meiryo" pitchFamily="34" charset="0"/>
                <a:ea typeface="Meiryo" pitchFamily="34" charset="-122"/>
                <a:cs typeface="Meiryo" pitchFamily="34" charset="-120"/>
              </a:rPr>
              <a:t>N3合格</a:t>
            </a:r>
            <a:endParaRPr lang="en-US" sz="1200" dirty="0"/>
          </a:p>
        </p:txBody>
      </p:sp>
      <p:sp>
        <p:nvSpPr>
          <p:cNvPr id="16" name="Shape 14"/>
          <p:cNvSpPr/>
          <p:nvPr/>
        </p:nvSpPr>
        <p:spPr>
          <a:xfrm>
            <a:off x="3438144" y="5001768"/>
            <a:ext cx="256032" cy="182880"/>
          </a:xfrm>
          <a:prstGeom prst="rightArrow">
            <a:avLst/>
          </a:prstGeom>
          <a:solidFill>
            <a:srgbClr val="B9C3CF"/>
          </a:solidFill>
          <a:ln w="12700">
            <a:solidFill>
              <a:srgbClr val="B9C3CF"/>
            </a:solidFill>
            <a:prstDash val="solid"/>
          </a:ln>
        </p:spPr>
      </p:sp>
      <p:sp>
        <p:nvSpPr>
          <p:cNvPr id="17" name="Text 15"/>
          <p:cNvSpPr txBox="1"/>
          <p:nvPr/>
        </p:nvSpPr>
        <p:spPr>
          <a:xfrm>
            <a:off x="3840480" y="4700016"/>
            <a:ext cx="2194560" cy="201168"/>
          </a:xfrm>
          <a:prstGeom prst="rect">
            <a:avLst/>
          </a:prstGeom>
          <a:noFill/>
          <a:ln/>
        </p:spPr>
        <p:txBody>
          <a:bodyPr wrap="square" lIns="0" tIns="0" rIns="0" bIns="0" rtlCol="0" anchor="t"/>
          <a:lstStyle/>
          <a:p>
            <a:pPr algn="ctr" indent="0" marL="0">
              <a:lnSpc>
                <a:spcPts val="1280"/>
              </a:lnSpc>
              <a:buNone/>
            </a:pPr>
            <a:r>
              <a:rPr lang="en-US" sz="800" dirty="0">
                <a:solidFill>
                  <a:srgbClr val="5C6878"/>
                </a:solidFill>
                <a:latin typeface="Meiryo" pitchFamily="34" charset="0"/>
                <a:ea typeface="Meiryo" pitchFamily="34" charset="-122"/>
                <a:cs typeface="Meiryo" pitchFamily="34" charset="-120"/>
              </a:rPr>
              <a:t>ACTION</a:t>
            </a:r>
            <a:endParaRPr lang="en-US" sz="800" dirty="0"/>
          </a:p>
        </p:txBody>
      </p:sp>
      <p:sp>
        <p:nvSpPr>
          <p:cNvPr id="18" name="Shape 16"/>
          <p:cNvSpPr/>
          <p:nvPr/>
        </p:nvSpPr>
        <p:spPr>
          <a:xfrm>
            <a:off x="3840480" y="4919472"/>
            <a:ext cx="2194560" cy="329184"/>
          </a:xfrm>
          <a:prstGeom prst="rect">
            <a:avLst/>
          </a:prstGeom>
          <a:solidFill>
            <a:srgbClr val="FFFFFF"/>
          </a:solidFill>
          <a:ln w="12700">
            <a:solidFill>
              <a:srgbClr val="C8102E"/>
            </a:solidFill>
            <a:prstDash val="solid"/>
          </a:ln>
        </p:spPr>
      </p:sp>
      <p:sp>
        <p:nvSpPr>
          <p:cNvPr id="19" name="Text 17"/>
          <p:cNvSpPr txBox="1"/>
          <p:nvPr/>
        </p:nvSpPr>
        <p:spPr>
          <a:xfrm>
            <a:off x="3840480" y="4919472"/>
            <a:ext cx="2194560" cy="329184"/>
          </a:xfrm>
          <a:prstGeom prst="rect">
            <a:avLst/>
          </a:prstGeom>
          <a:noFill/>
          <a:ln/>
        </p:spPr>
        <p:txBody>
          <a:bodyPr wrap="square" lIns="0" tIns="0" rIns="0" bIns="0" rtlCol="0" anchor="ctr"/>
          <a:lstStyle/>
          <a:p>
            <a:pPr algn="ctr" indent="0" marL="0">
              <a:lnSpc>
                <a:spcPts val="1920"/>
              </a:lnSpc>
              <a:buNone/>
            </a:pPr>
            <a:r>
              <a:rPr lang="en-US" sz="1200" b="1" dirty="0">
                <a:solidFill>
                  <a:srgbClr val="C8102E"/>
                </a:solidFill>
                <a:latin typeface="Meiryo" pitchFamily="34" charset="0"/>
                <a:ea typeface="Meiryo" pitchFamily="34" charset="-122"/>
                <a:cs typeface="Meiryo" pitchFamily="34" charset="-120"/>
              </a:rPr>
              <a:t>学費支援発生</a:t>
            </a:r>
            <a:endParaRPr lang="en-US" sz="1200" dirty="0"/>
          </a:p>
        </p:txBody>
      </p:sp>
      <p:sp>
        <p:nvSpPr>
          <p:cNvPr id="20" name="Text 18"/>
          <p:cNvSpPr txBox="1"/>
          <p:nvPr/>
        </p:nvSpPr>
        <p:spPr>
          <a:xfrm>
            <a:off x="841248" y="5504688"/>
            <a:ext cx="5769864" cy="457200"/>
          </a:xfrm>
          <a:prstGeom prst="rect">
            <a:avLst/>
          </a:prstGeom>
          <a:noFill/>
          <a:ln/>
        </p:spPr>
        <p:txBody>
          <a:bodyPr wrap="square" lIns="0" tIns="0" rIns="0" bIns="0" rtlCol="0" anchor="t"/>
          <a:lstStyle/>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学生が途中で学習を断念したり不合格となった場合、学費は学生本人の負担となり、企業側の金銭的損失は発生しません。</a:t>
            </a:r>
            <a:endParaRPr lang="en-US" sz="1000" dirty="0"/>
          </a:p>
        </p:txBody>
      </p:sp>
      <p:sp>
        <p:nvSpPr>
          <p:cNvPr id="21" name="Shape 19"/>
          <p:cNvSpPr/>
          <p:nvPr/>
        </p:nvSpPr>
        <p:spPr>
          <a:xfrm>
            <a:off x="7269480" y="2121408"/>
            <a:ext cx="4373575" cy="3968496"/>
          </a:xfrm>
          <a:prstGeom prst="roundRect">
            <a:avLst>
              <a:gd name="adj" fmla="val 1152"/>
            </a:avLst>
          </a:prstGeom>
          <a:solidFill>
            <a:srgbClr val="0E2244"/>
          </a:solidFill>
          <a:ln w="12700">
            <a:solidFill>
              <a:srgbClr val="0E2244"/>
            </a:solidFill>
            <a:prstDash val="solid"/>
          </a:ln>
          <a:effectLst>
            <a:outerShdw sx="100000" sy="100000" kx="0" ky="0" algn="bl" rotWithShape="0" blurRad="101600" dist="12700" dir="5400000">
              <a:srgbClr val="0E2244">
                <a:alpha val="8000"/>
              </a:srgbClr>
            </a:outerShdw>
          </a:effectLst>
        </p:spPr>
      </p:sp>
      <p:sp>
        <p:nvSpPr>
          <p:cNvPr id="22" name="Text 20"/>
          <p:cNvSpPr txBox="1"/>
          <p:nvPr/>
        </p:nvSpPr>
        <p:spPr>
          <a:xfrm>
            <a:off x="7580376" y="2194560"/>
            <a:ext cx="731520" cy="731520"/>
          </a:xfrm>
          <a:prstGeom prst="rect">
            <a:avLst/>
          </a:prstGeom>
          <a:noFill/>
          <a:ln/>
        </p:spPr>
        <p:txBody>
          <a:bodyPr wrap="square" lIns="0" tIns="0" rIns="0" bIns="0" rtlCol="0" anchor="ctr"/>
          <a:lstStyle/>
          <a:p>
            <a:pPr indent="0" marL="0">
              <a:buNone/>
            </a:pPr>
            <a:r>
              <a:rPr lang="en-US" sz="4600" b="1" dirty="0">
                <a:solidFill>
                  <a:srgbClr val="3A5F91"/>
                </a:solidFill>
                <a:latin typeface="Arial" pitchFamily="34" charset="0"/>
                <a:ea typeface="Arial" pitchFamily="34" charset="-122"/>
                <a:cs typeface="Arial" pitchFamily="34" charset="-120"/>
              </a:rPr>
              <a:t>“</a:t>
            </a:r>
            <a:endParaRPr lang="en-US" sz="4600" dirty="0"/>
          </a:p>
        </p:txBody>
      </p:sp>
      <p:sp>
        <p:nvSpPr>
          <p:cNvPr id="23" name="Text 21"/>
          <p:cNvSpPr txBox="1"/>
          <p:nvPr/>
        </p:nvSpPr>
        <p:spPr>
          <a:xfrm>
            <a:off x="7635240" y="2907792"/>
            <a:ext cx="3642055" cy="1645920"/>
          </a:xfrm>
          <a:prstGeom prst="rect">
            <a:avLst/>
          </a:prstGeom>
          <a:noFill/>
          <a:ln/>
        </p:spPr>
        <p:txBody>
          <a:bodyPr wrap="square" lIns="0" tIns="0" rIns="0" bIns="0" rtlCol="0" anchor="ctr"/>
          <a:lstStyle/>
          <a:p>
            <a:pPr indent="0" marL="0">
              <a:lnSpc>
                <a:spcPts val="3200"/>
              </a:lnSpc>
              <a:buNone/>
            </a:pPr>
            <a:r>
              <a:rPr lang="en-US" sz="1600" b="1" dirty="0">
                <a:solidFill>
                  <a:srgbClr val="FFFFFF"/>
                </a:solidFill>
                <a:latin typeface="Meiryo" pitchFamily="34" charset="0"/>
                <a:ea typeface="Meiryo" pitchFamily="34" charset="-122"/>
                <a:cs typeface="Meiryo" pitchFamily="34" charset="-120"/>
              </a:rPr>
              <a:t>「学生が途中で折れたら</a:t>
            </a:r>
            <a:endParaRPr lang="en-US" sz="1600" dirty="0"/>
          </a:p>
          <a:p>
            <a:pPr indent="0" marL="0">
              <a:lnSpc>
                <a:spcPts val="3200"/>
              </a:lnSpc>
              <a:buNone/>
            </a:pPr>
            <a:r>
              <a:rPr lang="en-US" sz="1600" b="1" dirty="0">
                <a:solidFill>
                  <a:srgbClr val="FFFFFF"/>
                </a:solidFill>
                <a:latin typeface="Meiryo" pitchFamily="34" charset="0"/>
                <a:ea typeface="Meiryo" pitchFamily="34" charset="-122"/>
                <a:cs typeface="Meiryo" pitchFamily="34" charset="-120"/>
              </a:rPr>
              <a:t>どうなるか」というリスクを、</a:t>
            </a:r>
            <a:endParaRPr lang="en-US" sz="1600" dirty="0"/>
          </a:p>
          <a:p>
            <a:pPr indent="0" marL="0">
              <a:lnSpc>
                <a:spcPts val="3200"/>
              </a:lnSpc>
              <a:buNone/>
            </a:pPr>
            <a:r>
              <a:rPr lang="en-US" sz="1600" b="1" dirty="0">
                <a:solidFill>
                  <a:srgbClr val="FFFFFF"/>
                </a:solidFill>
                <a:latin typeface="Meiryo" pitchFamily="34" charset="0"/>
                <a:ea typeface="Meiryo" pitchFamily="34" charset="-122"/>
                <a:cs typeface="Meiryo" pitchFamily="34" charset="-120"/>
              </a:rPr>
              <a:t>企業が背負わない設計。</a:t>
            </a:r>
            <a:endParaRPr lang="en-US" sz="1600" dirty="0"/>
          </a:p>
        </p:txBody>
      </p:sp>
      <p:sp>
        <p:nvSpPr>
          <p:cNvPr id="24" name="Text 22"/>
          <p:cNvSpPr txBox="1"/>
          <p:nvPr/>
        </p:nvSpPr>
        <p:spPr>
          <a:xfrm>
            <a:off x="7635240" y="4718304"/>
            <a:ext cx="3642055" cy="237744"/>
          </a:xfrm>
          <a:prstGeom prst="rect">
            <a:avLst/>
          </a:prstGeom>
          <a:noFill/>
          <a:ln/>
        </p:spPr>
        <p:txBody>
          <a:bodyPr wrap="square" lIns="0" tIns="0" rIns="0" bIns="0" rtlCol="0" anchor="ctr"/>
          <a:lstStyle/>
          <a:p>
            <a:pPr indent="0" marL="0">
              <a:buNone/>
            </a:pPr>
            <a:r>
              <a:rPr lang="en-US" sz="950" b="1" spc="150" kern="0" dirty="0">
                <a:solidFill>
                  <a:srgbClr val="9BB2CE"/>
                </a:solidFill>
                <a:latin typeface="Arial" pitchFamily="34" charset="0"/>
                <a:ea typeface="Arial" pitchFamily="34" charset="-122"/>
                <a:cs typeface="Arial" pitchFamily="34" charset="-120"/>
              </a:rPr>
              <a:t>CONCLUSION: SECURED INVESTMENT</a:t>
            </a:r>
            <a:endParaRPr lang="en-US" sz="950" dirty="0"/>
          </a:p>
        </p:txBody>
      </p:sp>
      <p:sp>
        <p:nvSpPr>
          <p:cNvPr id="25" name="Text 23"/>
          <p:cNvSpPr txBox="1"/>
          <p:nvPr/>
        </p:nvSpPr>
        <p:spPr>
          <a:xfrm>
            <a:off x="7635240" y="5157216"/>
            <a:ext cx="3642055" cy="777240"/>
          </a:xfrm>
          <a:prstGeom prst="rect">
            <a:avLst/>
          </a:prstGeom>
          <a:noFill/>
          <a:ln/>
        </p:spPr>
        <p:txBody>
          <a:bodyPr wrap="square" lIns="0" tIns="0" rIns="0" bIns="0" rtlCol="0" anchor="t"/>
          <a:lstStyle/>
          <a:p>
            <a:pPr algn="l" indent="0" marL="0">
              <a:lnSpc>
                <a:spcPts val="1680"/>
              </a:lnSpc>
              <a:buNone/>
            </a:pPr>
            <a:r>
              <a:rPr lang="en-US" sz="1050" dirty="0">
                <a:solidFill>
                  <a:srgbClr val="C9D8EA"/>
                </a:solidFill>
                <a:latin typeface="Meiryo" pitchFamily="34" charset="0"/>
                <a:ea typeface="Meiryo" pitchFamily="34" charset="-122"/>
                <a:cs typeface="Meiryo" pitchFamily="34" charset="-120"/>
              </a:rPr>
              <a:t>説明会起点に変更しても、この費用構造とリスク設計は変わりません。</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050" b="1" spc="200" kern="0" dirty="0">
                <a:solidFill>
                  <a:srgbClr val="C8102E"/>
                </a:solidFill>
                <a:latin typeface="Arial" pitchFamily="34" charset="0"/>
                <a:ea typeface="Arial" pitchFamily="34" charset="-122"/>
                <a:cs typeface="Arial" pitchFamily="34" charset="-120"/>
              </a:rPr>
              <a:t>ROLES &amp; RESPONSIBILITY</a:t>
            </a:r>
            <a:endParaRPr lang="en-US" sz="1050" dirty="0"/>
          </a:p>
        </p:txBody>
      </p:sp>
      <p:sp>
        <p:nvSpPr>
          <p:cNvPr id="3" name="Text 1"/>
          <p:cNvSpPr txBox="1"/>
          <p:nvPr/>
        </p:nvSpPr>
        <p:spPr>
          <a:xfrm>
            <a:off x="548640" y="566928"/>
            <a:ext cx="11094415" cy="566928"/>
          </a:xfrm>
          <a:prstGeom prst="rect">
            <a:avLst/>
          </a:prstGeom>
          <a:noFill/>
          <a:ln/>
        </p:spPr>
        <p:txBody>
          <a:bodyPr wrap="square" lIns="0" tIns="0" rIns="0" bIns="0" rtlCol="0" anchor="t"/>
          <a:lstStyle/>
          <a:p>
            <a:pPr indent="0" marL="0">
              <a:buNone/>
            </a:pPr>
            <a:r>
              <a:rPr lang="en-US" sz="2800" b="1" dirty="0">
                <a:solidFill>
                  <a:srgbClr val="0E2244"/>
                </a:solidFill>
                <a:latin typeface="Meiryo" pitchFamily="34" charset="0"/>
                <a:ea typeface="Meiryo" pitchFamily="34" charset="-122"/>
                <a:cs typeface="Meiryo" pitchFamily="34" charset="-120"/>
              </a:rPr>
              <a:t>各イベントへの参加と役割分担</a:t>
            </a:r>
            <a:endParaRPr lang="en-US" sz="2800" dirty="0"/>
          </a:p>
        </p:txBody>
      </p:sp>
      <p:sp>
        <p:nvSpPr>
          <p:cNvPr id="4" name="Shape 2"/>
          <p:cNvSpPr/>
          <p:nvPr/>
        </p:nvSpPr>
        <p:spPr>
          <a:xfrm>
            <a:off x="548640" y="1280160"/>
            <a:ext cx="11094415" cy="621792"/>
          </a:xfrm>
          <a:prstGeom prst="rect">
            <a:avLst/>
          </a:prstGeom>
          <a:solidFill>
            <a:srgbClr val="EEF2F7"/>
          </a:solidFill>
          <a:ln/>
        </p:spPr>
      </p:sp>
      <p:sp>
        <p:nvSpPr>
          <p:cNvPr id="5" name="Text 3"/>
          <p:cNvSpPr txBox="1"/>
          <p:nvPr/>
        </p:nvSpPr>
        <p:spPr>
          <a:xfrm>
            <a:off x="868680" y="1280160"/>
            <a:ext cx="10454335" cy="621792"/>
          </a:xfrm>
          <a:prstGeom prst="rect">
            <a:avLst/>
          </a:prstGeom>
          <a:noFill/>
          <a:ln/>
        </p:spPr>
        <p:txBody>
          <a:bodyPr wrap="square" lIns="0" tIns="0" rIns="0" bIns="0" rtlCol="0" anchor="ctr"/>
          <a:lstStyle/>
          <a:p>
            <a:pPr indent="0" marL="0">
              <a:lnSpc>
                <a:spcPts val="2030"/>
              </a:lnSpc>
              <a:buNone/>
            </a:pPr>
            <a:r>
              <a:rPr lang="en-US" sz="1400" b="1" dirty="0">
                <a:solidFill>
                  <a:srgbClr val="0E2244"/>
                </a:solidFill>
                <a:latin typeface="Meiryo" pitchFamily="34" charset="0"/>
                <a:ea typeface="Meiryo" pitchFamily="34" charset="-122"/>
                <a:cs typeface="Meiryo" pitchFamily="34" charset="-120"/>
              </a:rPr>
              <a:t>実務運営はESUTECHが担当し、貴社には学生と直接向き合う場面にご参加いただきます。</a:t>
            </a:r>
            <a:endParaRPr lang="en-US" sz="1400" dirty="0"/>
          </a:p>
        </p:txBody>
      </p:sp>
      <p:sp>
        <p:nvSpPr>
          <p:cNvPr id="6" name="Shape 4"/>
          <p:cNvSpPr/>
          <p:nvPr/>
        </p:nvSpPr>
        <p:spPr>
          <a:xfrm>
            <a:off x="548640" y="2121408"/>
            <a:ext cx="5364328" cy="457200"/>
          </a:xfrm>
          <a:prstGeom prst="rect">
            <a:avLst/>
          </a:prstGeom>
          <a:solidFill>
            <a:srgbClr val="0E2244"/>
          </a:solidFill>
          <a:ln/>
        </p:spPr>
      </p:sp>
      <p:sp>
        <p:nvSpPr>
          <p:cNvPr id="7" name="Text 5"/>
          <p:cNvSpPr txBox="1"/>
          <p:nvPr/>
        </p:nvSpPr>
        <p:spPr>
          <a:xfrm>
            <a:off x="822960" y="2121408"/>
            <a:ext cx="4815688" cy="457200"/>
          </a:xfrm>
          <a:prstGeom prst="rect">
            <a:avLst/>
          </a:prstGeom>
          <a:noFill/>
          <a:ln/>
        </p:spPr>
        <p:txBody>
          <a:bodyPr wrap="square" lIns="0" tIns="0" rIns="0" bIns="0" rtlCol="0" anchor="ctr"/>
          <a:lstStyle/>
          <a:p>
            <a:pPr algn="l" indent="0" marL="0">
              <a:lnSpc>
                <a:spcPts val="2080"/>
              </a:lnSpc>
              <a:buNone/>
            </a:pPr>
            <a:r>
              <a:rPr lang="en-US" sz="1300" b="1" dirty="0">
                <a:solidFill>
                  <a:srgbClr val="FFFFFF"/>
                </a:solidFill>
                <a:latin typeface="Meiryo" pitchFamily="34" charset="0"/>
                <a:ea typeface="Meiryo" pitchFamily="34" charset="-122"/>
                <a:cs typeface="Meiryo" pitchFamily="34" charset="-120"/>
              </a:rPr>
              <a:t>貴社にご参加いただく行事</a:t>
            </a:r>
            <a:endParaRPr lang="en-US" sz="1300" dirty="0"/>
          </a:p>
        </p:txBody>
      </p:sp>
      <p:sp>
        <p:nvSpPr>
          <p:cNvPr id="8" name="Shape 6"/>
          <p:cNvSpPr/>
          <p:nvPr/>
        </p:nvSpPr>
        <p:spPr>
          <a:xfrm>
            <a:off x="548640" y="2578608"/>
            <a:ext cx="5364328" cy="3108960"/>
          </a:xfrm>
          <a:prstGeom prst="roundRect">
            <a:avLst>
              <a:gd name="adj" fmla="val 1471"/>
            </a:avLst>
          </a:prstGeom>
          <a:solidFill>
            <a:srgbClr val="FFFFFF"/>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9" name="Shape 7"/>
          <p:cNvSpPr/>
          <p:nvPr/>
        </p:nvSpPr>
        <p:spPr>
          <a:xfrm>
            <a:off x="841248" y="2852928"/>
            <a:ext cx="128016" cy="128016"/>
          </a:xfrm>
          <a:prstGeom prst="ellipse">
            <a:avLst/>
          </a:prstGeom>
          <a:solidFill>
            <a:srgbClr val="C8102E"/>
          </a:solidFill>
          <a:ln/>
        </p:spPr>
      </p:sp>
      <p:sp>
        <p:nvSpPr>
          <p:cNvPr id="10" name="Text 8"/>
          <p:cNvSpPr txBox="1"/>
          <p:nvPr/>
        </p:nvSpPr>
        <p:spPr>
          <a:xfrm>
            <a:off x="1097280" y="2798064"/>
            <a:ext cx="4541368" cy="274320"/>
          </a:xfrm>
          <a:prstGeom prst="rect">
            <a:avLst/>
          </a:prstGeom>
          <a:noFill/>
          <a:ln/>
        </p:spPr>
        <p:txBody>
          <a:bodyPr wrap="square" lIns="0" tIns="0" rIns="0" bIns="0" rtlCol="0" anchor="t"/>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会社説明会・選考面接</a:t>
            </a:r>
            <a:endParaRPr lang="en-US" sz="1200" dirty="0"/>
          </a:p>
        </p:txBody>
      </p:sp>
      <p:sp>
        <p:nvSpPr>
          <p:cNvPr id="11" name="Text 9"/>
          <p:cNvSpPr txBox="1"/>
          <p:nvPr/>
        </p:nvSpPr>
        <p:spPr>
          <a:xfrm>
            <a:off x="1097280" y="3108960"/>
            <a:ext cx="4541368" cy="603504"/>
          </a:xfrm>
          <a:prstGeom prst="rect">
            <a:avLst/>
          </a:prstGeom>
          <a:noFill/>
          <a:ln/>
        </p:spPr>
        <p:txBody>
          <a:bodyPr wrap="square" lIns="0" tIns="0" rIns="0" bIns="0" rtlCol="0" anchor="t"/>
          <a:lstStyle/>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採用責任者・審査員のご出席。原則として来越をお願いしておりますが、オンラインでの実施も可能です。</a:t>
            </a:r>
            <a:endParaRPr lang="en-US" sz="1000" dirty="0"/>
          </a:p>
        </p:txBody>
      </p:sp>
      <p:sp>
        <p:nvSpPr>
          <p:cNvPr id="12" name="Shape 10"/>
          <p:cNvSpPr/>
          <p:nvPr/>
        </p:nvSpPr>
        <p:spPr>
          <a:xfrm>
            <a:off x="841248" y="3822192"/>
            <a:ext cx="128016" cy="128016"/>
          </a:xfrm>
          <a:prstGeom prst="ellipse">
            <a:avLst/>
          </a:prstGeom>
          <a:solidFill>
            <a:srgbClr val="C8102E"/>
          </a:solidFill>
          <a:ln/>
        </p:spPr>
      </p:sp>
      <p:sp>
        <p:nvSpPr>
          <p:cNvPr id="13" name="Text 11"/>
          <p:cNvSpPr txBox="1"/>
          <p:nvPr/>
        </p:nvSpPr>
        <p:spPr>
          <a:xfrm>
            <a:off x="1097280" y="3767328"/>
            <a:ext cx="4541368" cy="274320"/>
          </a:xfrm>
          <a:prstGeom prst="rect">
            <a:avLst/>
          </a:prstGeom>
          <a:noFill/>
          <a:ln/>
        </p:spPr>
        <p:txBody>
          <a:bodyPr wrap="square" lIns="0" tIns="0" rIns="0" bIns="0" rtlCol="0" anchor="t"/>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実施条件のご決定</a:t>
            </a:r>
            <a:endParaRPr lang="en-US" sz="1200" dirty="0"/>
          </a:p>
        </p:txBody>
      </p:sp>
      <p:sp>
        <p:nvSpPr>
          <p:cNvPr id="14" name="Text 12"/>
          <p:cNvSpPr txBox="1"/>
          <p:nvPr/>
        </p:nvSpPr>
        <p:spPr>
          <a:xfrm>
            <a:off x="1097280" y="4078224"/>
            <a:ext cx="4541368" cy="603504"/>
          </a:xfrm>
          <a:prstGeom prst="rect">
            <a:avLst/>
          </a:prstGeom>
          <a:noFill/>
          <a:ln/>
        </p:spPr>
        <p:txBody>
          <a:bodyPr wrap="square" lIns="0" tIns="0" rIns="0" bIns="0" rtlCol="0" anchor="t"/>
          <a:lstStyle/>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採用人数・待遇・支援条件・対象大学の最終決定をお願いします。告知内容の根拠となります。</a:t>
            </a:r>
            <a:endParaRPr lang="en-US" sz="1000" dirty="0"/>
          </a:p>
        </p:txBody>
      </p:sp>
      <p:sp>
        <p:nvSpPr>
          <p:cNvPr id="15" name="Shape 13"/>
          <p:cNvSpPr/>
          <p:nvPr/>
        </p:nvSpPr>
        <p:spPr>
          <a:xfrm>
            <a:off x="841248" y="4791456"/>
            <a:ext cx="128016" cy="128016"/>
          </a:xfrm>
          <a:prstGeom prst="ellipse">
            <a:avLst/>
          </a:prstGeom>
          <a:solidFill>
            <a:srgbClr val="C8102E"/>
          </a:solidFill>
          <a:ln/>
        </p:spPr>
      </p:sp>
      <p:sp>
        <p:nvSpPr>
          <p:cNvPr id="16" name="Text 14"/>
          <p:cNvSpPr txBox="1"/>
          <p:nvPr/>
        </p:nvSpPr>
        <p:spPr>
          <a:xfrm>
            <a:off x="1097280" y="4736592"/>
            <a:ext cx="4541368" cy="274320"/>
          </a:xfrm>
          <a:prstGeom prst="rect">
            <a:avLst/>
          </a:prstGeom>
          <a:noFill/>
          <a:ln/>
        </p:spPr>
        <p:txBody>
          <a:bodyPr wrap="square" lIns="0" tIns="0" rIns="0" bIns="0" rtlCol="0" anchor="t"/>
          <a:lstStyle/>
          <a:p>
            <a:pPr algn="l" indent="0" marL="0">
              <a:lnSpc>
                <a:spcPts val="1920"/>
              </a:lnSpc>
              <a:buNone/>
            </a:pPr>
            <a:r>
              <a:rPr lang="en-US" sz="1200" b="1" dirty="0">
                <a:solidFill>
                  <a:srgbClr val="1A2230"/>
                </a:solidFill>
                <a:latin typeface="Meiryo" pitchFamily="34" charset="0"/>
                <a:ea typeface="Meiryo" pitchFamily="34" charset="-122"/>
                <a:cs typeface="Meiryo" pitchFamily="34" charset="-120"/>
              </a:rPr>
              <a:t>内定式・開講式</a:t>
            </a:r>
            <a:endParaRPr lang="en-US" sz="1200" dirty="0"/>
          </a:p>
        </p:txBody>
      </p:sp>
      <p:sp>
        <p:nvSpPr>
          <p:cNvPr id="17" name="Text 15"/>
          <p:cNvSpPr txBox="1"/>
          <p:nvPr/>
        </p:nvSpPr>
        <p:spPr>
          <a:xfrm>
            <a:off x="1097280" y="5047488"/>
            <a:ext cx="4541368" cy="603504"/>
          </a:xfrm>
          <a:prstGeom prst="rect">
            <a:avLst/>
          </a:prstGeom>
          <a:noFill/>
          <a:ln/>
        </p:spPr>
        <p:txBody>
          <a:bodyPr wrap="square" lIns="0" tIns="0" rIns="0" bIns="0" rtlCol="0" anchor="t"/>
          <a:lstStyle/>
          <a:p>
            <a:pPr algn="l" indent="0" marL="0">
              <a:lnSpc>
                <a:spcPts val="1600"/>
              </a:lnSpc>
              <a:buNone/>
            </a:pPr>
            <a:r>
              <a:rPr lang="en-US" sz="1000" dirty="0">
                <a:solidFill>
                  <a:srgbClr val="5C6878"/>
                </a:solidFill>
                <a:latin typeface="Meiryo" pitchFamily="34" charset="0"/>
                <a:ea typeface="Meiryo" pitchFamily="34" charset="-122"/>
                <a:cs typeface="Meiryo" pitchFamily="34" charset="-120"/>
              </a:rPr>
              <a:t>任意参加。社長・役員様のご臨席は、学生のモチベーションと志望度を劇的に高める重要な機会となります。</a:t>
            </a:r>
            <a:endParaRPr lang="en-US" sz="1000" dirty="0"/>
          </a:p>
        </p:txBody>
      </p:sp>
      <p:sp>
        <p:nvSpPr>
          <p:cNvPr id="18" name="Shape 16"/>
          <p:cNvSpPr/>
          <p:nvPr/>
        </p:nvSpPr>
        <p:spPr>
          <a:xfrm>
            <a:off x="6278728" y="2121408"/>
            <a:ext cx="5364328" cy="457200"/>
          </a:xfrm>
          <a:prstGeom prst="rect">
            <a:avLst/>
          </a:prstGeom>
          <a:solidFill>
            <a:srgbClr val="1C3D6B"/>
          </a:solidFill>
          <a:ln/>
        </p:spPr>
      </p:sp>
      <p:sp>
        <p:nvSpPr>
          <p:cNvPr id="19" name="Text 17"/>
          <p:cNvSpPr txBox="1"/>
          <p:nvPr/>
        </p:nvSpPr>
        <p:spPr>
          <a:xfrm>
            <a:off x="6553048" y="2121408"/>
            <a:ext cx="4815688" cy="457200"/>
          </a:xfrm>
          <a:prstGeom prst="rect">
            <a:avLst/>
          </a:prstGeom>
          <a:noFill/>
          <a:ln/>
        </p:spPr>
        <p:txBody>
          <a:bodyPr wrap="square" lIns="0" tIns="0" rIns="0" bIns="0" rtlCol="0" anchor="ctr"/>
          <a:lstStyle/>
          <a:p>
            <a:pPr algn="l" indent="0" marL="0">
              <a:lnSpc>
                <a:spcPts val="2080"/>
              </a:lnSpc>
              <a:buNone/>
            </a:pPr>
            <a:r>
              <a:rPr lang="en-US" sz="1300" b="1" dirty="0">
                <a:solidFill>
                  <a:srgbClr val="FFFFFF"/>
                </a:solidFill>
                <a:latin typeface="Meiryo" pitchFamily="34" charset="0"/>
                <a:ea typeface="Meiryo" pitchFamily="34" charset="-122"/>
                <a:cs typeface="Meiryo" pitchFamily="34" charset="-120"/>
              </a:rPr>
              <a:t>ESUTECHがサポートする業務</a:t>
            </a:r>
            <a:endParaRPr lang="en-US" sz="1300" dirty="0"/>
          </a:p>
        </p:txBody>
      </p:sp>
      <p:sp>
        <p:nvSpPr>
          <p:cNvPr id="20" name="Shape 18"/>
          <p:cNvSpPr/>
          <p:nvPr/>
        </p:nvSpPr>
        <p:spPr>
          <a:xfrm>
            <a:off x="6278728" y="2578608"/>
            <a:ext cx="5364328" cy="3108960"/>
          </a:xfrm>
          <a:prstGeom prst="roundRect">
            <a:avLst>
              <a:gd name="adj" fmla="val 1471"/>
            </a:avLst>
          </a:prstGeom>
          <a:solidFill>
            <a:srgbClr val="FFFFFF"/>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21" name="Text 19"/>
          <p:cNvSpPr txBox="1"/>
          <p:nvPr/>
        </p:nvSpPr>
        <p:spPr>
          <a:xfrm>
            <a:off x="6553048" y="2761488"/>
            <a:ext cx="4815688" cy="256032"/>
          </a:xfrm>
          <a:prstGeom prst="rect">
            <a:avLst/>
          </a:prstGeom>
          <a:noFill/>
          <a:ln/>
        </p:spPr>
        <p:txBody>
          <a:bodyPr wrap="square" lIns="0" tIns="0" rIns="0" bIns="0" rtlCol="0" anchor="t"/>
          <a:lstStyle/>
          <a:p>
            <a:pPr algn="l" indent="0" marL="0">
              <a:lnSpc>
                <a:spcPts val="1680"/>
              </a:lnSpc>
              <a:buNone/>
            </a:pPr>
            <a:r>
              <a:rPr lang="en-US" sz="1050" b="1" dirty="0">
                <a:solidFill>
                  <a:srgbClr val="1C3D6B"/>
                </a:solidFill>
                <a:latin typeface="Meiryo" pitchFamily="34" charset="0"/>
                <a:ea typeface="Meiryo" pitchFamily="34" charset="-122"/>
                <a:cs typeface="Meiryo" pitchFamily="34" charset="-120"/>
              </a:rPr>
              <a:t>全面的な運営バックアップ</a:t>
            </a:r>
            <a:endParaRPr lang="en-US" sz="1050" dirty="0"/>
          </a:p>
        </p:txBody>
      </p:sp>
      <p:sp>
        <p:nvSpPr>
          <p:cNvPr id="22" name="Shape 20"/>
          <p:cNvSpPr/>
          <p:nvPr/>
        </p:nvSpPr>
        <p:spPr>
          <a:xfrm>
            <a:off x="6553048" y="3145536"/>
            <a:ext cx="4815688" cy="402336"/>
          </a:xfrm>
          <a:prstGeom prst="rect">
            <a:avLst/>
          </a:prstGeom>
          <a:solidFill>
            <a:srgbClr val="F7F9FC"/>
          </a:solidFill>
          <a:ln/>
        </p:spPr>
      </p:sp>
      <p:sp>
        <p:nvSpPr>
          <p:cNvPr id="23" name="Text 21"/>
          <p:cNvSpPr txBox="1"/>
          <p:nvPr/>
        </p:nvSpPr>
        <p:spPr>
          <a:xfrm>
            <a:off x="6735928" y="3145536"/>
            <a:ext cx="3901288" cy="402336"/>
          </a:xfrm>
          <a:prstGeom prst="rect">
            <a:avLst/>
          </a:prstGeom>
          <a:noFill/>
          <a:ln/>
        </p:spPr>
        <p:txBody>
          <a:bodyPr wrap="square" lIns="0" tIns="0" rIns="0" bIns="0" rtlCol="0" anchor="ctr"/>
          <a:lstStyle/>
          <a:p>
            <a:pPr algn="l" indent="0" marL="0">
              <a:lnSpc>
                <a:spcPts val="1680"/>
              </a:lnSpc>
              <a:buNone/>
            </a:pPr>
            <a:r>
              <a:rPr lang="en-US" sz="1050" dirty="0">
                <a:solidFill>
                  <a:srgbClr val="1A2230"/>
                </a:solidFill>
                <a:latin typeface="Meiryo" pitchFamily="34" charset="0"/>
                <a:ea typeface="Meiryo" pitchFamily="34" charset="-122"/>
                <a:cs typeface="Meiryo" pitchFamily="34" charset="-120"/>
              </a:rPr>
              <a:t>提携大学との交渉・会場確保・日程調整</a:t>
            </a:r>
            <a:endParaRPr lang="en-US" sz="1050" dirty="0"/>
          </a:p>
        </p:txBody>
      </p:sp>
      <p:sp>
        <p:nvSpPr>
          <p:cNvPr id="24" name="Shape 22"/>
          <p:cNvSpPr/>
          <p:nvPr/>
        </p:nvSpPr>
        <p:spPr>
          <a:xfrm>
            <a:off x="10673791" y="3246120"/>
            <a:ext cx="658368" cy="201168"/>
          </a:xfrm>
          <a:prstGeom prst="rect">
            <a:avLst/>
          </a:prstGeom>
          <a:solidFill>
            <a:srgbClr val="C8102E"/>
          </a:solidFill>
          <a:ln/>
        </p:spPr>
      </p:sp>
      <p:sp>
        <p:nvSpPr>
          <p:cNvPr id="25" name="Text 23"/>
          <p:cNvSpPr txBox="1"/>
          <p:nvPr/>
        </p:nvSpPr>
        <p:spPr>
          <a:xfrm>
            <a:off x="10673791" y="3246120"/>
            <a:ext cx="658368" cy="201168"/>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Arial" pitchFamily="34" charset="0"/>
                <a:ea typeface="Arial" pitchFamily="34" charset="-122"/>
                <a:cs typeface="Arial" pitchFamily="34" charset="-120"/>
              </a:rPr>
              <a:t>NEW</a:t>
            </a:r>
            <a:endParaRPr lang="en-US" sz="750" dirty="0"/>
          </a:p>
        </p:txBody>
      </p:sp>
      <p:sp>
        <p:nvSpPr>
          <p:cNvPr id="26" name="Shape 24"/>
          <p:cNvSpPr/>
          <p:nvPr/>
        </p:nvSpPr>
        <p:spPr>
          <a:xfrm>
            <a:off x="6553048" y="3639312"/>
            <a:ext cx="4815688" cy="402336"/>
          </a:xfrm>
          <a:prstGeom prst="rect">
            <a:avLst/>
          </a:prstGeom>
          <a:solidFill>
            <a:srgbClr val="F7F9FC"/>
          </a:solidFill>
          <a:ln/>
        </p:spPr>
      </p:sp>
      <p:sp>
        <p:nvSpPr>
          <p:cNvPr id="27" name="Text 25"/>
          <p:cNvSpPr txBox="1"/>
          <p:nvPr/>
        </p:nvSpPr>
        <p:spPr>
          <a:xfrm>
            <a:off x="6735928" y="3639312"/>
            <a:ext cx="3901288" cy="402336"/>
          </a:xfrm>
          <a:prstGeom prst="rect">
            <a:avLst/>
          </a:prstGeom>
          <a:noFill/>
          <a:ln/>
        </p:spPr>
        <p:txBody>
          <a:bodyPr wrap="square" lIns="0" tIns="0" rIns="0" bIns="0" rtlCol="0" anchor="ctr"/>
          <a:lstStyle/>
          <a:p>
            <a:pPr algn="l" indent="0" marL="0">
              <a:lnSpc>
                <a:spcPts val="1680"/>
              </a:lnSpc>
              <a:buNone/>
            </a:pPr>
            <a:r>
              <a:rPr lang="en-US" sz="1050" dirty="0">
                <a:solidFill>
                  <a:srgbClr val="1A2230"/>
                </a:solidFill>
                <a:latin typeface="Meiryo" pitchFamily="34" charset="0"/>
                <a:ea typeface="Meiryo" pitchFamily="34" charset="-122"/>
                <a:cs typeface="Meiryo" pitchFamily="34" charset="-120"/>
              </a:rPr>
              <a:t>貴社単独の募集広告の作成・展開</a:t>
            </a:r>
            <a:endParaRPr lang="en-US" sz="1050" dirty="0"/>
          </a:p>
        </p:txBody>
      </p:sp>
      <p:sp>
        <p:nvSpPr>
          <p:cNvPr id="28" name="Shape 26"/>
          <p:cNvSpPr/>
          <p:nvPr/>
        </p:nvSpPr>
        <p:spPr>
          <a:xfrm>
            <a:off x="6553048" y="4133088"/>
            <a:ext cx="4815688" cy="402336"/>
          </a:xfrm>
          <a:prstGeom prst="rect">
            <a:avLst/>
          </a:prstGeom>
          <a:solidFill>
            <a:srgbClr val="F7F9FC"/>
          </a:solidFill>
          <a:ln/>
        </p:spPr>
      </p:sp>
      <p:sp>
        <p:nvSpPr>
          <p:cNvPr id="29" name="Text 27"/>
          <p:cNvSpPr txBox="1"/>
          <p:nvPr/>
        </p:nvSpPr>
        <p:spPr>
          <a:xfrm>
            <a:off x="6735928" y="4133088"/>
            <a:ext cx="3901288" cy="402336"/>
          </a:xfrm>
          <a:prstGeom prst="rect">
            <a:avLst/>
          </a:prstGeom>
          <a:noFill/>
          <a:ln/>
        </p:spPr>
        <p:txBody>
          <a:bodyPr wrap="square" lIns="0" tIns="0" rIns="0" bIns="0" rtlCol="0" anchor="ctr"/>
          <a:lstStyle/>
          <a:p>
            <a:pPr algn="l" indent="0" marL="0">
              <a:lnSpc>
                <a:spcPts val="1680"/>
              </a:lnSpc>
              <a:buNone/>
            </a:pPr>
            <a:r>
              <a:rPr lang="en-US" sz="1050" dirty="0">
                <a:solidFill>
                  <a:srgbClr val="1A2230"/>
                </a:solidFill>
                <a:latin typeface="Meiryo" pitchFamily="34" charset="0"/>
                <a:ea typeface="Meiryo" pitchFamily="34" charset="-122"/>
                <a:cs typeface="Meiryo" pitchFamily="34" charset="-120"/>
              </a:rPr>
              <a:t>学内告知・エントリー管理・参加者集客</a:t>
            </a:r>
            <a:endParaRPr lang="en-US" sz="1050" dirty="0"/>
          </a:p>
        </p:txBody>
      </p:sp>
      <p:sp>
        <p:nvSpPr>
          <p:cNvPr id="30" name="Shape 28"/>
          <p:cNvSpPr/>
          <p:nvPr/>
        </p:nvSpPr>
        <p:spPr>
          <a:xfrm>
            <a:off x="10673791" y="4233672"/>
            <a:ext cx="658368" cy="201168"/>
          </a:xfrm>
          <a:prstGeom prst="rect">
            <a:avLst/>
          </a:prstGeom>
          <a:solidFill>
            <a:srgbClr val="C8102E"/>
          </a:solidFill>
          <a:ln/>
        </p:spPr>
      </p:sp>
      <p:sp>
        <p:nvSpPr>
          <p:cNvPr id="31" name="Text 29"/>
          <p:cNvSpPr txBox="1"/>
          <p:nvPr/>
        </p:nvSpPr>
        <p:spPr>
          <a:xfrm>
            <a:off x="10673791" y="4233672"/>
            <a:ext cx="658368" cy="201168"/>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Arial" pitchFamily="34" charset="0"/>
                <a:ea typeface="Arial" pitchFamily="34" charset="-122"/>
                <a:cs typeface="Arial" pitchFamily="34" charset="-120"/>
              </a:rPr>
              <a:t>NEW</a:t>
            </a:r>
            <a:endParaRPr lang="en-US" sz="750" dirty="0"/>
          </a:p>
        </p:txBody>
      </p:sp>
      <p:sp>
        <p:nvSpPr>
          <p:cNvPr id="32" name="Shape 30"/>
          <p:cNvSpPr/>
          <p:nvPr/>
        </p:nvSpPr>
        <p:spPr>
          <a:xfrm>
            <a:off x="6553048" y="4626864"/>
            <a:ext cx="4815688" cy="402336"/>
          </a:xfrm>
          <a:prstGeom prst="rect">
            <a:avLst/>
          </a:prstGeom>
          <a:solidFill>
            <a:srgbClr val="F7F9FC"/>
          </a:solidFill>
          <a:ln/>
        </p:spPr>
      </p:sp>
      <p:sp>
        <p:nvSpPr>
          <p:cNvPr id="33" name="Text 31"/>
          <p:cNvSpPr txBox="1"/>
          <p:nvPr/>
        </p:nvSpPr>
        <p:spPr>
          <a:xfrm>
            <a:off x="6735928" y="4626864"/>
            <a:ext cx="3901288" cy="402336"/>
          </a:xfrm>
          <a:prstGeom prst="rect">
            <a:avLst/>
          </a:prstGeom>
          <a:noFill/>
          <a:ln/>
        </p:spPr>
        <p:txBody>
          <a:bodyPr wrap="square" lIns="0" tIns="0" rIns="0" bIns="0" rtlCol="0" anchor="ctr"/>
          <a:lstStyle/>
          <a:p>
            <a:pPr algn="l" indent="0" marL="0">
              <a:lnSpc>
                <a:spcPts val="1680"/>
              </a:lnSpc>
              <a:buNone/>
            </a:pPr>
            <a:r>
              <a:rPr lang="en-US" sz="1050" dirty="0">
                <a:solidFill>
                  <a:srgbClr val="1A2230"/>
                </a:solidFill>
                <a:latin typeface="Meiryo" pitchFamily="34" charset="0"/>
                <a:ea typeface="Meiryo" pitchFamily="34" charset="-122"/>
                <a:cs typeface="Meiryo" pitchFamily="34" charset="-120"/>
              </a:rPr>
              <a:t>専門通訳者の手配</a:t>
            </a:r>
            <a:endParaRPr lang="en-US" sz="1050" dirty="0"/>
          </a:p>
        </p:txBody>
      </p:sp>
      <p:sp>
        <p:nvSpPr>
          <p:cNvPr id="34" name="Shape 32"/>
          <p:cNvSpPr/>
          <p:nvPr/>
        </p:nvSpPr>
        <p:spPr>
          <a:xfrm>
            <a:off x="6553048" y="5120640"/>
            <a:ext cx="4815688" cy="402336"/>
          </a:xfrm>
          <a:prstGeom prst="rect">
            <a:avLst/>
          </a:prstGeom>
          <a:solidFill>
            <a:srgbClr val="F7F9FC"/>
          </a:solidFill>
          <a:ln/>
        </p:spPr>
      </p:sp>
      <p:sp>
        <p:nvSpPr>
          <p:cNvPr id="35" name="Text 33"/>
          <p:cNvSpPr txBox="1"/>
          <p:nvPr/>
        </p:nvSpPr>
        <p:spPr>
          <a:xfrm>
            <a:off x="6735928" y="5120640"/>
            <a:ext cx="3901288" cy="402336"/>
          </a:xfrm>
          <a:prstGeom prst="rect">
            <a:avLst/>
          </a:prstGeom>
          <a:noFill/>
          <a:ln/>
        </p:spPr>
        <p:txBody>
          <a:bodyPr wrap="square" lIns="0" tIns="0" rIns="0" bIns="0" rtlCol="0" anchor="ctr"/>
          <a:lstStyle/>
          <a:p>
            <a:pPr algn="l" indent="0" marL="0">
              <a:lnSpc>
                <a:spcPts val="1680"/>
              </a:lnSpc>
              <a:buNone/>
            </a:pPr>
            <a:r>
              <a:rPr lang="en-US" sz="1050" dirty="0">
                <a:solidFill>
                  <a:srgbClr val="1A2230"/>
                </a:solidFill>
                <a:latin typeface="Meiryo" pitchFamily="34" charset="0"/>
                <a:ea typeface="Meiryo" pitchFamily="34" charset="-122"/>
                <a:cs typeface="Meiryo" pitchFamily="34" charset="-120"/>
              </a:rPr>
              <a:t>選考運営・CoE申請・来日・定着までの伴走</a:t>
            </a:r>
            <a:endParaRPr lang="en-US" sz="1050" dirty="0"/>
          </a:p>
        </p:txBody>
      </p:sp>
      <p:sp>
        <p:nvSpPr>
          <p:cNvPr id="36" name="Shape 34"/>
          <p:cNvSpPr/>
          <p:nvPr/>
        </p:nvSpPr>
        <p:spPr>
          <a:xfrm>
            <a:off x="548640" y="5870448"/>
            <a:ext cx="11094415" cy="566928"/>
          </a:xfrm>
          <a:prstGeom prst="rect">
            <a:avLst/>
          </a:prstGeom>
          <a:solidFill>
            <a:srgbClr val="0E2244"/>
          </a:solidFill>
          <a:ln/>
        </p:spPr>
      </p:sp>
      <p:sp>
        <p:nvSpPr>
          <p:cNvPr id="37" name="Shape 35"/>
          <p:cNvSpPr/>
          <p:nvPr/>
        </p:nvSpPr>
        <p:spPr>
          <a:xfrm>
            <a:off x="768096" y="6016752"/>
            <a:ext cx="1691640" cy="274320"/>
          </a:xfrm>
          <a:prstGeom prst="rect">
            <a:avLst/>
          </a:prstGeom>
          <a:solidFill>
            <a:srgbClr val="C8102E"/>
          </a:solidFill>
          <a:ln/>
        </p:spPr>
      </p:sp>
      <p:sp>
        <p:nvSpPr>
          <p:cNvPr id="38" name="Text 36"/>
          <p:cNvSpPr txBox="1"/>
          <p:nvPr/>
        </p:nvSpPr>
        <p:spPr>
          <a:xfrm>
            <a:off x="768096" y="6016752"/>
            <a:ext cx="16916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Arial" pitchFamily="34" charset="0"/>
                <a:ea typeface="Arial" pitchFamily="34" charset="-122"/>
                <a:cs typeface="Arial" pitchFamily="34" charset="-120"/>
              </a:rPr>
              <a:t>FLEXIBLE SUPPORT</a:t>
            </a:r>
            <a:endParaRPr lang="en-US" sz="850" dirty="0"/>
          </a:p>
        </p:txBody>
      </p:sp>
      <p:sp>
        <p:nvSpPr>
          <p:cNvPr id="39" name="Text 37"/>
          <p:cNvSpPr txBox="1"/>
          <p:nvPr/>
        </p:nvSpPr>
        <p:spPr>
          <a:xfrm>
            <a:off x="2651760" y="5870448"/>
            <a:ext cx="8716975" cy="566928"/>
          </a:xfrm>
          <a:prstGeom prst="rect">
            <a:avLst/>
          </a:prstGeom>
          <a:noFill/>
          <a:ln/>
        </p:spPr>
        <p:txBody>
          <a:bodyPr wrap="square" lIns="0" tIns="0" rIns="0" bIns="0" rtlCol="0" anchor="ctr"/>
          <a:lstStyle/>
          <a:p>
            <a:pPr algn="l" indent="0" marL="0">
              <a:lnSpc>
                <a:spcPts val="1840"/>
              </a:lnSpc>
              <a:buNone/>
            </a:pPr>
            <a:r>
              <a:rPr lang="en-US" sz="1150" dirty="0">
                <a:solidFill>
                  <a:srgbClr val="FFFFFF"/>
                </a:solidFill>
                <a:latin typeface="Meiryo" pitchFamily="34" charset="0"/>
                <a:ea typeface="Meiryo" pitchFamily="34" charset="-122"/>
                <a:cs typeface="Meiryo" pitchFamily="34" charset="-120"/>
              </a:rPr>
              <a:t>来越が難しい場合でも、説明会から選考までオンラインのみで完結させることが可能です。</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050" b="1" spc="200" kern="0" dirty="0">
                <a:solidFill>
                  <a:srgbClr val="C8102E"/>
                </a:solidFill>
                <a:latin typeface="Arial" pitchFamily="34" charset="0"/>
                <a:ea typeface="Arial" pitchFamily="34" charset="-122"/>
                <a:cs typeface="Arial" pitchFamily="34" charset="-120"/>
              </a:rPr>
              <a:t>在留資格「技術・人文知識・国際業務」要件</a:t>
            </a:r>
            <a:endParaRPr lang="en-US" sz="1050" dirty="0"/>
          </a:p>
        </p:txBody>
      </p:sp>
      <p:sp>
        <p:nvSpPr>
          <p:cNvPr id="3" name="Text 1"/>
          <p:cNvSpPr txBox="1"/>
          <p:nvPr/>
        </p:nvSpPr>
        <p:spPr>
          <a:xfrm>
            <a:off x="548640" y="566928"/>
            <a:ext cx="11094415" cy="566928"/>
          </a:xfrm>
          <a:prstGeom prst="rect">
            <a:avLst/>
          </a:prstGeom>
          <a:noFill/>
          <a:ln/>
        </p:spPr>
        <p:txBody>
          <a:bodyPr wrap="square" lIns="0" tIns="0" rIns="0" bIns="0" rtlCol="0" anchor="t"/>
          <a:lstStyle/>
          <a:p>
            <a:pPr indent="0" marL="0">
              <a:buNone/>
            </a:pPr>
            <a:r>
              <a:rPr lang="en-US" sz="2800" b="1" dirty="0">
                <a:solidFill>
                  <a:srgbClr val="0E2244"/>
                </a:solidFill>
                <a:latin typeface="Meiryo" pitchFamily="34" charset="0"/>
                <a:ea typeface="Meiryo" pitchFamily="34" charset="-122"/>
                <a:cs typeface="Meiryo" pitchFamily="34" charset="-120"/>
              </a:rPr>
              <a:t>採用要件・対象学生の詳細</a:t>
            </a:r>
            <a:endParaRPr lang="en-US" sz="2800" dirty="0"/>
          </a:p>
        </p:txBody>
      </p:sp>
      <p:sp>
        <p:nvSpPr>
          <p:cNvPr id="4" name="Text 2"/>
          <p:cNvSpPr txBox="1"/>
          <p:nvPr/>
        </p:nvSpPr>
        <p:spPr>
          <a:xfrm>
            <a:off x="548640" y="1316736"/>
            <a:ext cx="11094415" cy="365760"/>
          </a:xfrm>
          <a:prstGeom prst="rect">
            <a:avLst/>
          </a:prstGeom>
          <a:noFill/>
          <a:ln/>
        </p:spPr>
        <p:txBody>
          <a:bodyPr wrap="square" lIns="0" tIns="0" rIns="0" bIns="0" rtlCol="0" anchor="t"/>
          <a:lstStyle/>
          <a:p>
            <a:pPr algn="l" indent="0" marL="0">
              <a:lnSpc>
                <a:spcPts val="1840"/>
              </a:lnSpc>
              <a:buNone/>
            </a:pPr>
            <a:r>
              <a:rPr lang="en-US" sz="1150" dirty="0">
                <a:solidFill>
                  <a:srgbClr val="5C6878"/>
                </a:solidFill>
                <a:latin typeface="Meiryo" pitchFamily="34" charset="0"/>
                <a:ea typeface="Meiryo" pitchFamily="34" charset="-122"/>
                <a:cs typeface="Meiryo" pitchFamily="34" charset="-120"/>
              </a:rPr>
              <a:t>法的な在留資格要件を満たしつつ、日本で即戦力として活躍できる教育基盤を持つ人材を対象とします。</a:t>
            </a:r>
            <a:endParaRPr lang="en-US" sz="1150" dirty="0"/>
          </a:p>
        </p:txBody>
      </p:sp>
      <p:sp>
        <p:nvSpPr>
          <p:cNvPr id="5" name="Text 3"/>
          <p:cNvSpPr txBox="1"/>
          <p:nvPr/>
        </p:nvSpPr>
        <p:spPr>
          <a:xfrm>
            <a:off x="548640" y="1847088"/>
            <a:ext cx="6309360" cy="310896"/>
          </a:xfrm>
          <a:prstGeom prst="rect">
            <a:avLst/>
          </a:prstGeom>
          <a:noFill/>
          <a:ln/>
        </p:spPr>
        <p:txBody>
          <a:bodyPr wrap="square" lIns="0" tIns="0" rIns="0" bIns="0" rtlCol="0" anchor="t"/>
          <a:lstStyle/>
          <a:p>
            <a:pPr algn="l" indent="0" marL="0">
              <a:lnSpc>
                <a:spcPts val="2400"/>
              </a:lnSpc>
              <a:buNone/>
            </a:pPr>
            <a:r>
              <a:rPr lang="en-US" sz="1500" b="1" dirty="0">
                <a:solidFill>
                  <a:srgbClr val="0E2244"/>
                </a:solidFill>
                <a:latin typeface="Meiryo" pitchFamily="34" charset="0"/>
                <a:ea typeface="Meiryo" pitchFamily="34" charset="-122"/>
                <a:cs typeface="Meiryo" pitchFamily="34" charset="-120"/>
              </a:rPr>
              <a:t>選考基準・プロファイル</a:t>
            </a:r>
            <a:endParaRPr lang="en-US" sz="1500" dirty="0"/>
          </a:p>
        </p:txBody>
      </p:sp>
      <p:sp>
        <p:nvSpPr>
          <p:cNvPr id="6" name="Shape 4"/>
          <p:cNvSpPr/>
          <p:nvPr/>
        </p:nvSpPr>
        <p:spPr>
          <a:xfrm>
            <a:off x="548640" y="2304288"/>
            <a:ext cx="6309360" cy="841248"/>
          </a:xfrm>
          <a:prstGeom prst="roundRect">
            <a:avLst>
              <a:gd name="adj" fmla="val 5435"/>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7" name="Text 5"/>
          <p:cNvSpPr txBox="1"/>
          <p:nvPr/>
        </p:nvSpPr>
        <p:spPr>
          <a:xfrm>
            <a:off x="822960" y="2432304"/>
            <a:ext cx="5760720" cy="256032"/>
          </a:xfrm>
          <a:prstGeom prst="rect">
            <a:avLst/>
          </a:prstGeom>
          <a:noFill/>
          <a:ln/>
        </p:spPr>
        <p:txBody>
          <a:bodyPr wrap="square" lIns="0" tIns="0" rIns="0" bIns="0" rtlCol="0" anchor="t"/>
          <a:lstStyle/>
          <a:p>
            <a:pPr algn="l" indent="0" marL="0">
              <a:lnSpc>
                <a:spcPts val="1840"/>
              </a:lnSpc>
              <a:buNone/>
            </a:pPr>
            <a:r>
              <a:rPr lang="en-US" sz="1150" b="1" dirty="0">
                <a:solidFill>
                  <a:srgbClr val="1A2230"/>
                </a:solidFill>
                <a:latin typeface="Meiryo" pitchFamily="34" charset="0"/>
                <a:ea typeface="Meiryo" pitchFamily="34" charset="-122"/>
                <a:cs typeface="Meiryo" pitchFamily="34" charset="-120"/>
              </a:rPr>
              <a:t>学歴・専攻分野</a:t>
            </a:r>
            <a:endParaRPr lang="en-US" sz="1150" dirty="0"/>
          </a:p>
        </p:txBody>
      </p:sp>
      <p:sp>
        <p:nvSpPr>
          <p:cNvPr id="8" name="Text 6"/>
          <p:cNvSpPr txBox="1"/>
          <p:nvPr/>
        </p:nvSpPr>
        <p:spPr>
          <a:xfrm>
            <a:off x="822960" y="2724912"/>
            <a:ext cx="5760720" cy="329184"/>
          </a:xfrm>
          <a:prstGeom prst="rect">
            <a:avLst/>
          </a:prstGeom>
          <a:noFill/>
          <a:ln/>
        </p:spPr>
        <p:txBody>
          <a:bodyPr wrap="square" lIns="0" tIns="0" rIns="0" bIns="0" rtlCol="0" anchor="t"/>
          <a:lstStyle/>
          <a:p>
            <a:pPr algn="l" indent="0" marL="0">
              <a:lnSpc>
                <a:spcPts val="1680"/>
              </a:lnSpc>
              <a:buNone/>
            </a:pPr>
            <a:r>
              <a:rPr lang="en-US" sz="1050" dirty="0">
                <a:solidFill>
                  <a:srgbClr val="5C6878"/>
                </a:solidFill>
                <a:latin typeface="Meiryo" pitchFamily="34" charset="0"/>
                <a:ea typeface="Meiryo" pitchFamily="34" charset="-122"/>
                <a:cs typeface="Meiryo" pitchFamily="34" charset="-120"/>
              </a:rPr>
              <a:t>建築・土木・道路等の建設分野の大卒者（エンジニア候補）</a:t>
            </a:r>
            <a:endParaRPr lang="en-US" sz="1050" dirty="0"/>
          </a:p>
        </p:txBody>
      </p:sp>
      <p:sp>
        <p:nvSpPr>
          <p:cNvPr id="9" name="Shape 7"/>
          <p:cNvSpPr/>
          <p:nvPr/>
        </p:nvSpPr>
        <p:spPr>
          <a:xfrm>
            <a:off x="548640" y="3273552"/>
            <a:ext cx="6309360" cy="841248"/>
          </a:xfrm>
          <a:prstGeom prst="roundRect">
            <a:avLst>
              <a:gd name="adj" fmla="val 5435"/>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10" name="Text 8"/>
          <p:cNvSpPr txBox="1"/>
          <p:nvPr/>
        </p:nvSpPr>
        <p:spPr>
          <a:xfrm>
            <a:off x="822960" y="3401568"/>
            <a:ext cx="5760720" cy="256032"/>
          </a:xfrm>
          <a:prstGeom prst="rect">
            <a:avLst/>
          </a:prstGeom>
          <a:noFill/>
          <a:ln/>
        </p:spPr>
        <p:txBody>
          <a:bodyPr wrap="square" lIns="0" tIns="0" rIns="0" bIns="0" rtlCol="0" anchor="t"/>
          <a:lstStyle/>
          <a:p>
            <a:pPr algn="l" indent="0" marL="0">
              <a:lnSpc>
                <a:spcPts val="1840"/>
              </a:lnSpc>
              <a:buNone/>
            </a:pPr>
            <a:r>
              <a:rPr lang="en-US" sz="1150" b="1" dirty="0">
                <a:solidFill>
                  <a:srgbClr val="1A2230"/>
                </a:solidFill>
                <a:latin typeface="Meiryo" pitchFamily="34" charset="0"/>
                <a:ea typeface="Meiryo" pitchFamily="34" charset="-122"/>
                <a:cs typeface="Meiryo" pitchFamily="34" charset="-120"/>
              </a:rPr>
              <a:t>学業成績・実務経験</a:t>
            </a:r>
            <a:endParaRPr lang="en-US" sz="1150" dirty="0"/>
          </a:p>
        </p:txBody>
      </p:sp>
      <p:sp>
        <p:nvSpPr>
          <p:cNvPr id="11" name="Text 9"/>
          <p:cNvSpPr txBox="1"/>
          <p:nvPr/>
        </p:nvSpPr>
        <p:spPr>
          <a:xfrm>
            <a:off x="822960" y="3694176"/>
            <a:ext cx="5760720" cy="329184"/>
          </a:xfrm>
          <a:prstGeom prst="rect">
            <a:avLst/>
          </a:prstGeom>
          <a:noFill/>
          <a:ln/>
        </p:spPr>
        <p:txBody>
          <a:bodyPr wrap="square" lIns="0" tIns="0" rIns="0" bIns="0" rtlCol="0" anchor="t"/>
          <a:lstStyle/>
          <a:p>
            <a:pPr algn="l" indent="0" marL="0">
              <a:lnSpc>
                <a:spcPts val="1680"/>
              </a:lnSpc>
              <a:buNone/>
            </a:pPr>
            <a:r>
              <a:rPr lang="en-US" sz="1050" dirty="0">
                <a:solidFill>
                  <a:srgbClr val="5C6878"/>
                </a:solidFill>
                <a:latin typeface="Meiryo" pitchFamily="34" charset="0"/>
                <a:ea typeface="Meiryo" pitchFamily="34" charset="-122"/>
                <a:cs typeface="Meiryo" pitchFamily="34" charset="-120"/>
              </a:rPr>
              <a:t>優秀大学。実務経験は不問とし、ポテンシャルを重視した採用を行います。</a:t>
            </a:r>
            <a:endParaRPr lang="en-US" sz="1050" dirty="0"/>
          </a:p>
        </p:txBody>
      </p:sp>
      <p:sp>
        <p:nvSpPr>
          <p:cNvPr id="12" name="Shape 10"/>
          <p:cNvSpPr/>
          <p:nvPr/>
        </p:nvSpPr>
        <p:spPr>
          <a:xfrm>
            <a:off x="548640" y="4242816"/>
            <a:ext cx="6309360" cy="841248"/>
          </a:xfrm>
          <a:prstGeom prst="roundRect">
            <a:avLst>
              <a:gd name="adj" fmla="val 5435"/>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13" name="Text 11"/>
          <p:cNvSpPr txBox="1"/>
          <p:nvPr/>
        </p:nvSpPr>
        <p:spPr>
          <a:xfrm>
            <a:off x="822960" y="4370832"/>
            <a:ext cx="5760720" cy="256032"/>
          </a:xfrm>
          <a:prstGeom prst="rect">
            <a:avLst/>
          </a:prstGeom>
          <a:noFill/>
          <a:ln/>
        </p:spPr>
        <p:txBody>
          <a:bodyPr wrap="square" lIns="0" tIns="0" rIns="0" bIns="0" rtlCol="0" anchor="t"/>
          <a:lstStyle/>
          <a:p>
            <a:pPr algn="l" indent="0" marL="0">
              <a:lnSpc>
                <a:spcPts val="1840"/>
              </a:lnSpc>
              <a:buNone/>
            </a:pPr>
            <a:r>
              <a:rPr lang="en-US" sz="1150" b="1" dirty="0">
                <a:solidFill>
                  <a:srgbClr val="1A2230"/>
                </a:solidFill>
                <a:latin typeface="Meiryo" pitchFamily="34" charset="0"/>
                <a:ea typeface="Meiryo" pitchFamily="34" charset="-122"/>
                <a:cs typeface="Meiryo" pitchFamily="34" charset="-120"/>
              </a:rPr>
              <a:t>既卒・卒業条件</a:t>
            </a:r>
            <a:endParaRPr lang="en-US" sz="1150" dirty="0"/>
          </a:p>
        </p:txBody>
      </p:sp>
      <p:sp>
        <p:nvSpPr>
          <p:cNvPr id="14" name="Text 12"/>
          <p:cNvSpPr txBox="1"/>
          <p:nvPr/>
        </p:nvSpPr>
        <p:spPr>
          <a:xfrm>
            <a:off x="822960" y="4663440"/>
            <a:ext cx="5760720" cy="329184"/>
          </a:xfrm>
          <a:prstGeom prst="rect">
            <a:avLst/>
          </a:prstGeom>
          <a:noFill/>
          <a:ln/>
        </p:spPr>
        <p:txBody>
          <a:bodyPr wrap="square" lIns="0" tIns="0" rIns="0" bIns="0" rtlCol="0" anchor="t"/>
          <a:lstStyle/>
          <a:p>
            <a:pPr algn="l" indent="0" marL="0">
              <a:lnSpc>
                <a:spcPts val="1680"/>
              </a:lnSpc>
              <a:buNone/>
            </a:pPr>
            <a:r>
              <a:rPr lang="en-US" sz="1050" dirty="0">
                <a:solidFill>
                  <a:srgbClr val="5C6878"/>
                </a:solidFill>
                <a:latin typeface="Meiryo" pitchFamily="34" charset="0"/>
                <a:ea typeface="Meiryo" pitchFamily="34" charset="-122"/>
                <a:cs typeface="Meiryo" pitchFamily="34" charset="-120"/>
              </a:rPr>
              <a:t>理系4年制大卒者（在学中の卒業予定者を含む）</a:t>
            </a:r>
            <a:endParaRPr lang="en-US" sz="1050" dirty="0"/>
          </a:p>
        </p:txBody>
      </p:sp>
      <p:sp>
        <p:nvSpPr>
          <p:cNvPr id="15" name="Shape 13"/>
          <p:cNvSpPr/>
          <p:nvPr/>
        </p:nvSpPr>
        <p:spPr>
          <a:xfrm>
            <a:off x="548640" y="5212080"/>
            <a:ext cx="6309360" cy="841248"/>
          </a:xfrm>
          <a:prstGeom prst="roundRect">
            <a:avLst>
              <a:gd name="adj" fmla="val 5435"/>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16" name="Text 14"/>
          <p:cNvSpPr txBox="1"/>
          <p:nvPr/>
        </p:nvSpPr>
        <p:spPr>
          <a:xfrm>
            <a:off x="822960" y="5340096"/>
            <a:ext cx="5760720" cy="256032"/>
          </a:xfrm>
          <a:prstGeom prst="rect">
            <a:avLst/>
          </a:prstGeom>
          <a:noFill/>
          <a:ln/>
        </p:spPr>
        <p:txBody>
          <a:bodyPr wrap="square" lIns="0" tIns="0" rIns="0" bIns="0" rtlCol="0" anchor="t"/>
          <a:lstStyle/>
          <a:p>
            <a:pPr algn="l" indent="0" marL="0">
              <a:lnSpc>
                <a:spcPts val="1840"/>
              </a:lnSpc>
              <a:buNone/>
            </a:pPr>
            <a:r>
              <a:rPr lang="en-US" sz="1150" b="1" dirty="0">
                <a:solidFill>
                  <a:srgbClr val="C8102E"/>
                </a:solidFill>
                <a:latin typeface="Meiryo" pitchFamily="34" charset="0"/>
                <a:ea typeface="Meiryo" pitchFamily="34" charset="-122"/>
                <a:cs typeface="Meiryo" pitchFamily="34" charset="-120"/>
              </a:rPr>
              <a:t>志望動機</a:t>
            </a:r>
            <a:endParaRPr lang="en-US" sz="1150" dirty="0"/>
          </a:p>
        </p:txBody>
      </p:sp>
      <p:sp>
        <p:nvSpPr>
          <p:cNvPr id="17" name="Text 15"/>
          <p:cNvSpPr txBox="1"/>
          <p:nvPr/>
        </p:nvSpPr>
        <p:spPr>
          <a:xfrm>
            <a:off x="822960" y="5632704"/>
            <a:ext cx="5760720" cy="329184"/>
          </a:xfrm>
          <a:prstGeom prst="rect">
            <a:avLst/>
          </a:prstGeom>
          <a:noFill/>
          <a:ln/>
        </p:spPr>
        <p:txBody>
          <a:bodyPr wrap="square" lIns="0" tIns="0" rIns="0" bIns="0" rtlCol="0" anchor="t"/>
          <a:lstStyle/>
          <a:p>
            <a:pPr algn="l" indent="0" marL="0">
              <a:lnSpc>
                <a:spcPts val="1680"/>
              </a:lnSpc>
              <a:buNone/>
            </a:pPr>
            <a:r>
              <a:rPr lang="en-US" sz="1050" dirty="0">
                <a:solidFill>
                  <a:srgbClr val="5C6878"/>
                </a:solidFill>
                <a:latin typeface="Meiryo" pitchFamily="34" charset="0"/>
                <a:ea typeface="Meiryo" pitchFamily="34" charset="-122"/>
                <a:cs typeface="Meiryo" pitchFamily="34" charset="-120"/>
              </a:rPr>
              <a:t>貴社説明会にエントリーし、志望理由を提出した学生に限定します。</a:t>
            </a:r>
            <a:endParaRPr lang="en-US" sz="1050" dirty="0"/>
          </a:p>
        </p:txBody>
      </p:sp>
      <p:sp>
        <p:nvSpPr>
          <p:cNvPr id="18" name="Text 16"/>
          <p:cNvSpPr txBox="1"/>
          <p:nvPr/>
        </p:nvSpPr>
        <p:spPr>
          <a:xfrm>
            <a:off x="7260336" y="1847088"/>
            <a:ext cx="4382719" cy="310896"/>
          </a:xfrm>
          <a:prstGeom prst="rect">
            <a:avLst/>
          </a:prstGeom>
          <a:noFill/>
          <a:ln/>
        </p:spPr>
        <p:txBody>
          <a:bodyPr wrap="square" lIns="0" tIns="0" rIns="0" bIns="0" rtlCol="0" anchor="t"/>
          <a:lstStyle/>
          <a:p>
            <a:pPr algn="l" indent="0" marL="0">
              <a:lnSpc>
                <a:spcPts val="2400"/>
              </a:lnSpc>
              <a:buNone/>
            </a:pPr>
            <a:r>
              <a:rPr lang="en-US" sz="1500" b="1" dirty="0">
                <a:solidFill>
                  <a:srgbClr val="0E2244"/>
                </a:solidFill>
                <a:latin typeface="Meiryo" pitchFamily="34" charset="0"/>
                <a:ea typeface="Meiryo" pitchFamily="34" charset="-122"/>
                <a:cs typeface="Meiryo" pitchFamily="34" charset="-120"/>
              </a:rPr>
              <a:t>必須条件・法的義務</a:t>
            </a:r>
            <a:endParaRPr lang="en-US" sz="1500" dirty="0"/>
          </a:p>
        </p:txBody>
      </p:sp>
      <p:sp>
        <p:nvSpPr>
          <p:cNvPr id="19" name="Shape 17"/>
          <p:cNvSpPr/>
          <p:nvPr/>
        </p:nvSpPr>
        <p:spPr>
          <a:xfrm>
            <a:off x="7260336" y="2304288"/>
            <a:ext cx="4382719" cy="1371600"/>
          </a:xfrm>
          <a:prstGeom prst="roundRect">
            <a:avLst>
              <a:gd name="adj" fmla="val 3333"/>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20" name="Text 18"/>
          <p:cNvSpPr txBox="1"/>
          <p:nvPr/>
        </p:nvSpPr>
        <p:spPr>
          <a:xfrm>
            <a:off x="7534656" y="2487168"/>
            <a:ext cx="3834079" cy="219456"/>
          </a:xfrm>
          <a:prstGeom prst="rect">
            <a:avLst/>
          </a:prstGeom>
          <a:noFill/>
          <a:ln/>
        </p:spPr>
        <p:txBody>
          <a:bodyPr wrap="square" lIns="0" tIns="0" rIns="0" bIns="0" rtlCol="0" anchor="t"/>
          <a:lstStyle/>
          <a:p>
            <a:pPr algn="l" indent="0" marL="0">
              <a:lnSpc>
                <a:spcPts val="1440"/>
              </a:lnSpc>
              <a:buNone/>
            </a:pPr>
            <a:r>
              <a:rPr lang="en-US" sz="900" dirty="0">
                <a:solidFill>
                  <a:srgbClr val="5C6878"/>
                </a:solidFill>
                <a:latin typeface="Meiryo" pitchFamily="34" charset="0"/>
                <a:ea typeface="Meiryo" pitchFamily="34" charset="-122"/>
                <a:cs typeface="Meiryo" pitchFamily="34" charset="-120"/>
              </a:rPr>
              <a:t>言語能力要件</a:t>
            </a:r>
            <a:endParaRPr lang="en-US" sz="900" dirty="0"/>
          </a:p>
        </p:txBody>
      </p:sp>
      <p:sp>
        <p:nvSpPr>
          <p:cNvPr id="21" name="Text 19"/>
          <p:cNvSpPr txBox="1"/>
          <p:nvPr/>
        </p:nvSpPr>
        <p:spPr>
          <a:xfrm>
            <a:off x="7534656" y="2743200"/>
            <a:ext cx="3834079" cy="402336"/>
          </a:xfrm>
          <a:prstGeom prst="rect">
            <a:avLst/>
          </a:prstGeom>
          <a:noFill/>
          <a:ln/>
        </p:spPr>
        <p:txBody>
          <a:bodyPr wrap="square" lIns="0" tIns="0" rIns="0" bIns="0" rtlCol="0" anchor="ctr"/>
          <a:lstStyle/>
          <a:p>
            <a:pPr indent="0" marL="0">
              <a:buNone/>
            </a:pPr>
            <a:r>
              <a:rPr lang="en-US" sz="2200" b="1" dirty="0">
                <a:solidFill>
                  <a:srgbClr val="1A2230"/>
                </a:solidFill>
                <a:latin typeface="Meiryo" pitchFamily="34" charset="0"/>
                <a:ea typeface="Meiryo" pitchFamily="34" charset="-122"/>
                <a:cs typeface="Meiryo" pitchFamily="34" charset="-120"/>
              </a:rPr>
              <a:t>JLPT N3</a:t>
            </a:r>
            <a:pPr indent="0" marL="0">
              <a:buNone/>
            </a:pPr>
            <a:r>
              <a:rPr lang="en-US" sz="1100" dirty="0">
                <a:solidFill>
                  <a:srgbClr val="5C6878"/>
                </a:solidFill>
                <a:latin typeface="Meiryo" pitchFamily="34" charset="0"/>
                <a:ea typeface="Meiryo" pitchFamily="34" charset="-122"/>
                <a:cs typeface="Meiryo" pitchFamily="34" charset="-120"/>
              </a:rPr>
              <a:t>  または  </a:t>
            </a:r>
            <a:pPr indent="0" marL="0">
              <a:buNone/>
            </a:pPr>
            <a:r>
              <a:rPr lang="en-US" sz="1600" b="1" dirty="0">
                <a:solidFill>
                  <a:srgbClr val="1A2230"/>
                </a:solidFill>
                <a:latin typeface="Meiryo" pitchFamily="34" charset="0"/>
                <a:ea typeface="Meiryo" pitchFamily="34" charset="-122"/>
                <a:cs typeface="Meiryo" pitchFamily="34" charset="-120"/>
              </a:rPr>
              <a:t>NAT-TEST 3級</a:t>
            </a:r>
            <a:endParaRPr lang="en-US" sz="2200" dirty="0"/>
          </a:p>
        </p:txBody>
      </p:sp>
      <p:sp>
        <p:nvSpPr>
          <p:cNvPr id="22" name="Text 20"/>
          <p:cNvSpPr txBox="1"/>
          <p:nvPr/>
        </p:nvSpPr>
        <p:spPr>
          <a:xfrm>
            <a:off x="7534656" y="3236976"/>
            <a:ext cx="3834079" cy="256032"/>
          </a:xfrm>
          <a:prstGeom prst="rect">
            <a:avLst/>
          </a:prstGeom>
          <a:noFill/>
          <a:ln/>
        </p:spPr>
        <p:txBody>
          <a:bodyPr wrap="square" lIns="0" tIns="0" rIns="0" bIns="0" rtlCol="0" anchor="t"/>
          <a:lstStyle/>
          <a:p>
            <a:pPr algn="l" indent="0" marL="0">
              <a:lnSpc>
                <a:spcPts val="1600"/>
              </a:lnSpc>
              <a:buNone/>
            </a:pPr>
            <a:r>
              <a:rPr lang="en-US" sz="1000" dirty="0">
                <a:solidFill>
                  <a:srgbClr val="C8102E"/>
                </a:solidFill>
                <a:latin typeface="Meiryo" pitchFamily="34" charset="0"/>
                <a:ea typeface="Meiryo" pitchFamily="34" charset="-122"/>
                <a:cs typeface="Meiryo" pitchFamily="34" charset="-120"/>
              </a:rPr>
              <a:t>※ 来日前の取得を必須条件とします</a:t>
            </a:r>
            <a:endParaRPr lang="en-US" sz="1000" dirty="0"/>
          </a:p>
        </p:txBody>
      </p:sp>
      <p:sp>
        <p:nvSpPr>
          <p:cNvPr id="23" name="Shape 21"/>
          <p:cNvSpPr/>
          <p:nvPr/>
        </p:nvSpPr>
        <p:spPr>
          <a:xfrm>
            <a:off x="7260336" y="3840480"/>
            <a:ext cx="4382719" cy="1572768"/>
          </a:xfrm>
          <a:prstGeom prst="roundRect">
            <a:avLst>
              <a:gd name="adj" fmla="val 2907"/>
            </a:avLst>
          </a:prstGeom>
          <a:solidFill>
            <a:srgbClr val="EEF2F7"/>
          </a:solidFill>
          <a:ln w="12700">
            <a:solidFill>
              <a:srgbClr val="DBE3EC"/>
            </a:solidFill>
            <a:prstDash val="solid"/>
          </a:ln>
          <a:effectLst>
            <a:outerShdw sx="100000" sy="100000" kx="0" ky="0" algn="bl" rotWithShape="0" blurRad="101600" dist="12700" dir="5400000">
              <a:srgbClr val="0E2244">
                <a:alpha val="8000"/>
              </a:srgbClr>
            </a:outerShdw>
          </a:effectLst>
        </p:spPr>
      </p:sp>
      <p:sp>
        <p:nvSpPr>
          <p:cNvPr id="24" name="Text 22"/>
          <p:cNvSpPr txBox="1"/>
          <p:nvPr/>
        </p:nvSpPr>
        <p:spPr>
          <a:xfrm>
            <a:off x="7571232" y="4041648"/>
            <a:ext cx="3760927" cy="237744"/>
          </a:xfrm>
          <a:prstGeom prst="rect">
            <a:avLst/>
          </a:prstGeom>
          <a:noFill/>
          <a:ln/>
        </p:spPr>
        <p:txBody>
          <a:bodyPr wrap="square" lIns="0" tIns="0" rIns="0" bIns="0" rtlCol="0" anchor="t"/>
          <a:lstStyle/>
          <a:p>
            <a:pPr algn="l" indent="0" marL="0">
              <a:lnSpc>
                <a:spcPts val="1520"/>
              </a:lnSpc>
              <a:buNone/>
            </a:pPr>
            <a:r>
              <a:rPr lang="en-US" sz="950" dirty="0">
                <a:solidFill>
                  <a:srgbClr val="5C6878"/>
                </a:solidFill>
                <a:latin typeface="Meiryo" pitchFamily="34" charset="0"/>
                <a:ea typeface="Meiryo" pitchFamily="34" charset="-122"/>
                <a:cs typeface="Meiryo" pitchFamily="34" charset="-120"/>
              </a:rPr>
              <a:t>重要：給与水準に関する規定</a:t>
            </a:r>
            <a:endParaRPr lang="en-US" sz="950" dirty="0"/>
          </a:p>
        </p:txBody>
      </p:sp>
      <p:sp>
        <p:nvSpPr>
          <p:cNvPr id="25" name="Text 23"/>
          <p:cNvSpPr txBox="1"/>
          <p:nvPr/>
        </p:nvSpPr>
        <p:spPr>
          <a:xfrm>
            <a:off x="7571232" y="4352544"/>
            <a:ext cx="3760927" cy="914400"/>
          </a:xfrm>
          <a:prstGeom prst="rect">
            <a:avLst/>
          </a:prstGeom>
          <a:noFill/>
          <a:ln/>
        </p:spPr>
        <p:txBody>
          <a:bodyPr wrap="square" lIns="0" tIns="0" rIns="0" bIns="0" rtlCol="0" anchor="ctr"/>
          <a:lstStyle/>
          <a:p>
            <a:pPr indent="0" marL="0">
              <a:lnSpc>
                <a:spcPts val="2600"/>
              </a:lnSpc>
              <a:buNone/>
            </a:pPr>
            <a:r>
              <a:rPr lang="en-US" sz="1400" b="1" dirty="0">
                <a:solidFill>
                  <a:srgbClr val="0E2244"/>
                </a:solidFill>
                <a:latin typeface="Meiryo" pitchFamily="34" charset="0"/>
                <a:ea typeface="Meiryo" pitchFamily="34" charset="-122"/>
                <a:cs typeface="Meiryo" pitchFamily="34" charset="-120"/>
              </a:rPr>
              <a:t>在留資格の要件上、日本人大卒者と同等以上の給与提示が法的義務となります。</a:t>
            </a:r>
            <a:endParaRPr lang="en-US" sz="1400" dirty="0"/>
          </a:p>
        </p:txBody>
      </p:sp>
      <p:sp>
        <p:nvSpPr>
          <p:cNvPr id="26" name="Text 24"/>
          <p:cNvSpPr txBox="1"/>
          <p:nvPr/>
        </p:nvSpPr>
        <p:spPr>
          <a:xfrm>
            <a:off x="7260336" y="5577840"/>
            <a:ext cx="4382719" cy="548640"/>
          </a:xfrm>
          <a:prstGeom prst="rect">
            <a:avLst/>
          </a:prstGeom>
          <a:noFill/>
          <a:ln/>
        </p:spPr>
        <p:txBody>
          <a:bodyPr wrap="square" lIns="0" tIns="0" rIns="0" bIns="0" rtlCol="0" anchor="t"/>
          <a:lstStyle/>
          <a:p>
            <a:pPr algn="l" indent="0" marL="0">
              <a:lnSpc>
                <a:spcPts val="1440"/>
              </a:lnSpc>
              <a:buNone/>
            </a:pPr>
            <a:r>
              <a:rPr lang="en-US" sz="900" dirty="0">
                <a:solidFill>
                  <a:srgbClr val="5C6878"/>
                </a:solidFill>
                <a:latin typeface="Meiryo" pitchFamily="34" charset="0"/>
                <a:ea typeface="Meiryo" pitchFamily="34" charset="-122"/>
                <a:cs typeface="Meiryo" pitchFamily="34" charset="-120"/>
              </a:rPr>
              <a:t>※「技術・人文知識・国際業務」の在留資格申請にあたっては、専攻内容と従事する業務内容の整合性が厳格に審査されます。</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050" b="1" spc="200" kern="0" dirty="0">
                <a:solidFill>
                  <a:srgbClr val="C8102E"/>
                </a:solidFill>
                <a:latin typeface="Arial" pitchFamily="34" charset="0"/>
                <a:ea typeface="Arial" pitchFamily="34" charset="-122"/>
                <a:cs typeface="Arial" pitchFamily="34" charset="-120"/>
              </a:rPr>
              <a:t>PLANNING PHASE</a:t>
            </a:r>
            <a:endParaRPr lang="en-US" sz="1050" dirty="0"/>
          </a:p>
        </p:txBody>
      </p:sp>
      <p:sp>
        <p:nvSpPr>
          <p:cNvPr id="3" name="Text 1"/>
          <p:cNvSpPr txBox="1"/>
          <p:nvPr/>
        </p:nvSpPr>
        <p:spPr>
          <a:xfrm>
            <a:off x="548640" y="566928"/>
            <a:ext cx="11094415" cy="566928"/>
          </a:xfrm>
          <a:prstGeom prst="rect">
            <a:avLst/>
          </a:prstGeom>
          <a:noFill/>
          <a:ln/>
        </p:spPr>
        <p:txBody>
          <a:bodyPr wrap="square" lIns="0" tIns="0" rIns="0" bIns="0" rtlCol="0" anchor="t"/>
          <a:lstStyle/>
          <a:p>
            <a:pPr indent="0" marL="0">
              <a:buNone/>
            </a:pPr>
            <a:r>
              <a:rPr lang="en-US" sz="2800" b="1" dirty="0">
                <a:solidFill>
                  <a:srgbClr val="0E2244"/>
                </a:solidFill>
                <a:latin typeface="Meiryo" pitchFamily="34" charset="0"/>
                <a:ea typeface="Meiryo" pitchFamily="34" charset="-122"/>
                <a:cs typeface="Meiryo" pitchFamily="34" charset="-120"/>
              </a:rPr>
              <a:t>企業様にご決定いただく項目</a:t>
            </a:r>
            <a:endParaRPr lang="en-US" sz="2800" dirty="0"/>
          </a:p>
        </p:txBody>
      </p:sp>
      <p:sp>
        <p:nvSpPr>
          <p:cNvPr id="4" name="Shape 2"/>
          <p:cNvSpPr/>
          <p:nvPr/>
        </p:nvSpPr>
        <p:spPr>
          <a:xfrm>
            <a:off x="548640" y="1280160"/>
            <a:ext cx="11094415" cy="621792"/>
          </a:xfrm>
          <a:prstGeom prst="rect">
            <a:avLst/>
          </a:prstGeom>
          <a:solidFill>
            <a:srgbClr val="EEF2F7"/>
          </a:solidFill>
          <a:ln/>
        </p:spPr>
      </p:sp>
      <p:sp>
        <p:nvSpPr>
          <p:cNvPr id="5" name="Text 3"/>
          <p:cNvSpPr txBox="1"/>
          <p:nvPr/>
        </p:nvSpPr>
        <p:spPr>
          <a:xfrm>
            <a:off x="868680" y="1280160"/>
            <a:ext cx="10454335" cy="621792"/>
          </a:xfrm>
          <a:prstGeom prst="rect">
            <a:avLst/>
          </a:prstGeom>
          <a:noFill/>
          <a:ln/>
        </p:spPr>
        <p:txBody>
          <a:bodyPr wrap="square" lIns="0" tIns="0" rIns="0" bIns="0" rtlCol="0" anchor="ctr"/>
          <a:lstStyle/>
          <a:p>
            <a:pPr indent="0" marL="0">
              <a:lnSpc>
                <a:spcPts val="2030"/>
              </a:lnSpc>
              <a:buNone/>
            </a:pPr>
            <a:r>
              <a:rPr lang="en-US" sz="1400" b="1" dirty="0">
                <a:solidFill>
                  <a:srgbClr val="0E2244"/>
                </a:solidFill>
                <a:latin typeface="Meiryo" pitchFamily="34" charset="0"/>
                <a:ea typeface="Meiryo" pitchFamily="34" charset="-122"/>
                <a:cs typeface="Meiryo" pitchFamily="34" charset="-120"/>
              </a:rPr>
              <a:t>プログラムを開始するために、以下の6つの基本条件を貴社にてご確定いただく必要があります。</a:t>
            </a:r>
            <a:endParaRPr lang="en-US" sz="1400" dirty="0"/>
          </a:p>
        </p:txBody>
      </p:sp>
      <p:sp>
        <p:nvSpPr>
          <p:cNvPr id="6" name="Shape 4"/>
          <p:cNvSpPr/>
          <p:nvPr/>
        </p:nvSpPr>
        <p:spPr>
          <a:xfrm>
            <a:off x="548640" y="2103120"/>
            <a:ext cx="3539642" cy="1737360"/>
          </a:xfrm>
          <a:prstGeom prst="roundRect">
            <a:avLst>
              <a:gd name="adj" fmla="val 2632"/>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7" name="Text 5"/>
          <p:cNvSpPr txBox="1"/>
          <p:nvPr/>
        </p:nvSpPr>
        <p:spPr>
          <a:xfrm>
            <a:off x="804672" y="2286000"/>
            <a:ext cx="457200" cy="292608"/>
          </a:xfrm>
          <a:prstGeom prst="rect">
            <a:avLst/>
          </a:prstGeom>
          <a:noFill/>
          <a:ln/>
        </p:spPr>
        <p:txBody>
          <a:bodyPr wrap="square" lIns="0" tIns="0" rIns="0" bIns="0" rtlCol="0" anchor="ctr"/>
          <a:lstStyle/>
          <a:p>
            <a:pPr indent="0" marL="0">
              <a:buNone/>
            </a:pPr>
            <a:r>
              <a:rPr lang="en-US" sz="1500" b="1" dirty="0">
                <a:solidFill>
                  <a:srgbClr val="C8102E"/>
                </a:solidFill>
                <a:latin typeface="Arial" pitchFamily="34" charset="0"/>
                <a:ea typeface="Arial" pitchFamily="34" charset="-122"/>
                <a:cs typeface="Arial" pitchFamily="34" charset="-120"/>
              </a:rPr>
              <a:t>01</a:t>
            </a:r>
            <a:endParaRPr lang="en-US" sz="1500" dirty="0"/>
          </a:p>
        </p:txBody>
      </p:sp>
      <p:sp>
        <p:nvSpPr>
          <p:cNvPr id="8" name="Text 6"/>
          <p:cNvSpPr txBox="1"/>
          <p:nvPr/>
        </p:nvSpPr>
        <p:spPr>
          <a:xfrm>
            <a:off x="1298448" y="2286000"/>
            <a:ext cx="2533802" cy="292608"/>
          </a:xfrm>
          <a:prstGeom prst="rect">
            <a:avLst/>
          </a:prstGeom>
          <a:noFill/>
          <a:ln/>
        </p:spPr>
        <p:txBody>
          <a:bodyPr wrap="square" lIns="0" tIns="0" rIns="0" bIns="0" rtlCol="0" anchor="ctr"/>
          <a:lstStyle/>
          <a:p>
            <a:pPr algn="l" indent="0" marL="0">
              <a:lnSpc>
                <a:spcPts val="2080"/>
              </a:lnSpc>
              <a:buNone/>
            </a:pPr>
            <a:r>
              <a:rPr lang="en-US" sz="1300" b="1" dirty="0">
                <a:solidFill>
                  <a:srgbClr val="1A2230"/>
                </a:solidFill>
                <a:latin typeface="Meiryo" pitchFamily="34" charset="0"/>
                <a:ea typeface="Meiryo" pitchFamily="34" charset="-122"/>
                <a:cs typeface="Meiryo" pitchFamily="34" charset="-120"/>
              </a:rPr>
              <a:t>採用規模</a:t>
            </a:r>
            <a:endParaRPr lang="en-US" sz="1300" dirty="0"/>
          </a:p>
        </p:txBody>
      </p:sp>
      <p:sp>
        <p:nvSpPr>
          <p:cNvPr id="9" name="Text 7"/>
          <p:cNvSpPr txBox="1"/>
          <p:nvPr/>
        </p:nvSpPr>
        <p:spPr>
          <a:xfrm>
            <a:off x="822960" y="2706624"/>
            <a:ext cx="2991002" cy="1005840"/>
          </a:xfrm>
          <a:prstGeom prst="rect">
            <a:avLst/>
          </a:prstGeom>
          <a:noFill/>
          <a:ln/>
        </p:spPr>
        <p:txBody>
          <a:bodyPr wrap="square" lIns="0" tIns="0" rIns="0" bIns="0" rtlCol="0" anchor="t"/>
          <a:lstStyle/>
          <a:p>
            <a:pPr marL="342900" indent="-342900">
              <a:lnSpc>
                <a:spcPts val="1628"/>
              </a:lnSpc>
              <a:spcAft>
                <a:spcPts val="300"/>
              </a:spcAft>
              <a:buSzPct val="100000"/>
              <a:buChar char="▪"/>
            </a:pPr>
            <a:r>
              <a:rPr lang="en-US" sz="1050" dirty="0">
                <a:solidFill>
                  <a:srgbClr val="5C6878"/>
                </a:solidFill>
                <a:latin typeface="Meiryo" pitchFamily="34" charset="0"/>
                <a:ea typeface="Meiryo" pitchFamily="34" charset="-122"/>
                <a:cs typeface="Meiryo" pitchFamily="34" charset="-120"/>
              </a:rPr>
              <a:t>採用人数</a:t>
            </a:r>
            <a:endParaRPr lang="en-US" sz="1050" dirty="0"/>
          </a:p>
          <a:p>
            <a:pPr marL="342900" indent="-342900">
              <a:lnSpc>
                <a:spcPts val="1628"/>
              </a:lnSpc>
              <a:spcAft>
                <a:spcPts val="300"/>
              </a:spcAft>
              <a:buSzPct val="100000"/>
              <a:buChar char="▪"/>
            </a:pPr>
            <a:r>
              <a:rPr lang="en-US" sz="1050" dirty="0">
                <a:solidFill>
                  <a:srgbClr val="5C6878"/>
                </a:solidFill>
                <a:latin typeface="Meiryo" pitchFamily="34" charset="0"/>
                <a:ea typeface="Meiryo" pitchFamily="34" charset="-122"/>
                <a:cs typeface="Meiryo" pitchFamily="34" charset="-120"/>
              </a:rPr>
              <a:t>配属職種（施工管理等）</a:t>
            </a:r>
            <a:endParaRPr lang="en-US" sz="1050" dirty="0"/>
          </a:p>
          <a:p>
            <a:pPr marL="342900" indent="-342900">
              <a:lnSpc>
                <a:spcPts val="1628"/>
              </a:lnSpc>
              <a:spcAft>
                <a:spcPts val="300"/>
              </a:spcAft>
              <a:buSzPct val="100000"/>
              <a:buChar char="▪"/>
            </a:pPr>
            <a:r>
              <a:rPr lang="en-US" sz="1050" dirty="0">
                <a:solidFill>
                  <a:srgbClr val="5C6878"/>
                </a:solidFill>
                <a:latin typeface="Meiryo" pitchFamily="34" charset="0"/>
                <a:ea typeface="Meiryo" pitchFamily="34" charset="-122"/>
                <a:cs typeface="Meiryo" pitchFamily="34" charset="-120"/>
              </a:rPr>
              <a:t>勤務地／転勤の有無</a:t>
            </a:r>
            <a:endParaRPr lang="en-US" sz="1050" dirty="0"/>
          </a:p>
        </p:txBody>
      </p:sp>
      <p:sp>
        <p:nvSpPr>
          <p:cNvPr id="10" name="Shape 8"/>
          <p:cNvSpPr/>
          <p:nvPr/>
        </p:nvSpPr>
        <p:spPr>
          <a:xfrm>
            <a:off x="4326026" y="2103120"/>
            <a:ext cx="3539642" cy="1737360"/>
          </a:xfrm>
          <a:prstGeom prst="roundRect">
            <a:avLst>
              <a:gd name="adj" fmla="val 2632"/>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11" name="Text 9"/>
          <p:cNvSpPr txBox="1"/>
          <p:nvPr/>
        </p:nvSpPr>
        <p:spPr>
          <a:xfrm>
            <a:off x="4582058" y="2286000"/>
            <a:ext cx="457200" cy="292608"/>
          </a:xfrm>
          <a:prstGeom prst="rect">
            <a:avLst/>
          </a:prstGeom>
          <a:noFill/>
          <a:ln/>
        </p:spPr>
        <p:txBody>
          <a:bodyPr wrap="square" lIns="0" tIns="0" rIns="0" bIns="0" rtlCol="0" anchor="ctr"/>
          <a:lstStyle/>
          <a:p>
            <a:pPr indent="0" marL="0">
              <a:buNone/>
            </a:pPr>
            <a:r>
              <a:rPr lang="en-US" sz="1500" b="1" dirty="0">
                <a:solidFill>
                  <a:srgbClr val="C8102E"/>
                </a:solidFill>
                <a:latin typeface="Arial" pitchFamily="34" charset="0"/>
                <a:ea typeface="Arial" pitchFamily="34" charset="-122"/>
                <a:cs typeface="Arial" pitchFamily="34" charset="-120"/>
              </a:rPr>
              <a:t>02</a:t>
            </a:r>
            <a:endParaRPr lang="en-US" sz="1500" dirty="0"/>
          </a:p>
        </p:txBody>
      </p:sp>
      <p:sp>
        <p:nvSpPr>
          <p:cNvPr id="12" name="Text 10"/>
          <p:cNvSpPr txBox="1"/>
          <p:nvPr/>
        </p:nvSpPr>
        <p:spPr>
          <a:xfrm>
            <a:off x="5075834" y="2286000"/>
            <a:ext cx="2533802" cy="292608"/>
          </a:xfrm>
          <a:prstGeom prst="rect">
            <a:avLst/>
          </a:prstGeom>
          <a:noFill/>
          <a:ln/>
        </p:spPr>
        <p:txBody>
          <a:bodyPr wrap="square" lIns="0" tIns="0" rIns="0" bIns="0" rtlCol="0" anchor="ctr"/>
          <a:lstStyle/>
          <a:p>
            <a:pPr algn="l" indent="0" marL="0">
              <a:lnSpc>
                <a:spcPts val="2080"/>
              </a:lnSpc>
              <a:buNone/>
            </a:pPr>
            <a:r>
              <a:rPr lang="en-US" sz="1300" b="1" dirty="0">
                <a:solidFill>
                  <a:srgbClr val="1A2230"/>
                </a:solidFill>
                <a:latin typeface="Meiryo" pitchFamily="34" charset="0"/>
                <a:ea typeface="Meiryo" pitchFamily="34" charset="-122"/>
                <a:cs typeface="Meiryo" pitchFamily="34" charset="-120"/>
              </a:rPr>
              <a:t>給与・待遇</a:t>
            </a:r>
            <a:endParaRPr lang="en-US" sz="1300" dirty="0"/>
          </a:p>
        </p:txBody>
      </p:sp>
      <p:sp>
        <p:nvSpPr>
          <p:cNvPr id="13" name="Text 11"/>
          <p:cNvSpPr txBox="1"/>
          <p:nvPr/>
        </p:nvSpPr>
        <p:spPr>
          <a:xfrm>
            <a:off x="4600346" y="2706624"/>
            <a:ext cx="2991002" cy="1005840"/>
          </a:xfrm>
          <a:prstGeom prst="rect">
            <a:avLst/>
          </a:prstGeom>
          <a:noFill/>
          <a:ln/>
        </p:spPr>
        <p:txBody>
          <a:bodyPr wrap="square" lIns="0" tIns="0" rIns="0" bIns="0" rtlCol="0" anchor="t"/>
          <a:lstStyle/>
          <a:p>
            <a:pPr marL="342900" indent="-342900">
              <a:lnSpc>
                <a:spcPts val="1628"/>
              </a:lnSpc>
              <a:spcAft>
                <a:spcPts val="300"/>
              </a:spcAft>
              <a:buSzPct val="100000"/>
              <a:buChar char="▪"/>
            </a:pPr>
            <a:r>
              <a:rPr lang="en-US" sz="1050" dirty="0">
                <a:solidFill>
                  <a:srgbClr val="5C6878"/>
                </a:solidFill>
                <a:latin typeface="Meiryo" pitchFamily="34" charset="0"/>
                <a:ea typeface="Meiryo" pitchFamily="34" charset="-122"/>
                <a:cs typeface="Meiryo" pitchFamily="34" charset="-120"/>
              </a:rPr>
              <a:t>月給／モデル年収／賞与</a:t>
            </a:r>
            <a:endParaRPr lang="en-US" sz="1050" dirty="0"/>
          </a:p>
          <a:p>
            <a:pPr marL="342900" indent="-342900">
              <a:lnSpc>
                <a:spcPts val="1628"/>
              </a:lnSpc>
              <a:spcAft>
                <a:spcPts val="300"/>
              </a:spcAft>
              <a:buSzPct val="100000"/>
              <a:buChar char="▪"/>
            </a:pPr>
            <a:r>
              <a:rPr lang="en-US" sz="1050" dirty="0">
                <a:solidFill>
                  <a:srgbClr val="5C6878"/>
                </a:solidFill>
                <a:latin typeface="Meiryo" pitchFamily="34" charset="0"/>
                <a:ea typeface="Meiryo" pitchFamily="34" charset="-122"/>
                <a:cs typeface="Meiryo" pitchFamily="34" charset="-120"/>
              </a:rPr>
              <a:t>各種手当</a:t>
            </a:r>
            <a:endParaRPr lang="en-US" sz="1050" dirty="0"/>
          </a:p>
          <a:p>
            <a:pPr marL="342900" indent="-342900">
              <a:lnSpc>
                <a:spcPts val="1628"/>
              </a:lnSpc>
              <a:spcAft>
                <a:spcPts val="300"/>
              </a:spcAft>
              <a:buSzPct val="100000"/>
              <a:buChar char="▪"/>
            </a:pPr>
            <a:r>
              <a:rPr lang="en-US" sz="1050" dirty="0">
                <a:solidFill>
                  <a:srgbClr val="5C6878"/>
                </a:solidFill>
                <a:latin typeface="Meiryo" pitchFamily="34" charset="0"/>
                <a:ea typeface="Meiryo" pitchFamily="34" charset="-122"/>
                <a:cs typeface="Meiryo" pitchFamily="34" charset="-120"/>
              </a:rPr>
              <a:t>※日本人同等水準</a:t>
            </a:r>
            <a:endParaRPr lang="en-US" sz="1050" dirty="0"/>
          </a:p>
        </p:txBody>
      </p:sp>
      <p:sp>
        <p:nvSpPr>
          <p:cNvPr id="14" name="Shape 12"/>
          <p:cNvSpPr/>
          <p:nvPr/>
        </p:nvSpPr>
        <p:spPr>
          <a:xfrm>
            <a:off x="8103413" y="2103120"/>
            <a:ext cx="3539642" cy="1737360"/>
          </a:xfrm>
          <a:prstGeom prst="roundRect">
            <a:avLst>
              <a:gd name="adj" fmla="val 2632"/>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15" name="Text 13"/>
          <p:cNvSpPr txBox="1"/>
          <p:nvPr/>
        </p:nvSpPr>
        <p:spPr>
          <a:xfrm>
            <a:off x="8359445" y="2286000"/>
            <a:ext cx="457200" cy="292608"/>
          </a:xfrm>
          <a:prstGeom prst="rect">
            <a:avLst/>
          </a:prstGeom>
          <a:noFill/>
          <a:ln/>
        </p:spPr>
        <p:txBody>
          <a:bodyPr wrap="square" lIns="0" tIns="0" rIns="0" bIns="0" rtlCol="0" anchor="ctr"/>
          <a:lstStyle/>
          <a:p>
            <a:pPr indent="0" marL="0">
              <a:buNone/>
            </a:pPr>
            <a:r>
              <a:rPr lang="en-US" sz="1500" b="1" dirty="0">
                <a:solidFill>
                  <a:srgbClr val="C8102E"/>
                </a:solidFill>
                <a:latin typeface="Arial" pitchFamily="34" charset="0"/>
                <a:ea typeface="Arial" pitchFamily="34" charset="-122"/>
                <a:cs typeface="Arial" pitchFamily="34" charset="-120"/>
              </a:rPr>
              <a:t>03</a:t>
            </a:r>
            <a:endParaRPr lang="en-US" sz="1500" dirty="0"/>
          </a:p>
        </p:txBody>
      </p:sp>
      <p:sp>
        <p:nvSpPr>
          <p:cNvPr id="16" name="Text 14"/>
          <p:cNvSpPr txBox="1"/>
          <p:nvPr/>
        </p:nvSpPr>
        <p:spPr>
          <a:xfrm>
            <a:off x="8853221" y="2286000"/>
            <a:ext cx="2533802" cy="292608"/>
          </a:xfrm>
          <a:prstGeom prst="rect">
            <a:avLst/>
          </a:prstGeom>
          <a:noFill/>
          <a:ln/>
        </p:spPr>
        <p:txBody>
          <a:bodyPr wrap="square" lIns="0" tIns="0" rIns="0" bIns="0" rtlCol="0" anchor="ctr"/>
          <a:lstStyle/>
          <a:p>
            <a:pPr algn="l" indent="0" marL="0">
              <a:lnSpc>
                <a:spcPts val="2080"/>
              </a:lnSpc>
              <a:buNone/>
            </a:pPr>
            <a:r>
              <a:rPr lang="en-US" sz="1300" b="1" dirty="0">
                <a:solidFill>
                  <a:srgbClr val="1A2230"/>
                </a:solidFill>
                <a:latin typeface="Meiryo" pitchFamily="34" charset="0"/>
                <a:ea typeface="Meiryo" pitchFamily="34" charset="-122"/>
                <a:cs typeface="Meiryo" pitchFamily="34" charset="-120"/>
              </a:rPr>
              <a:t>支援条件</a:t>
            </a:r>
            <a:endParaRPr lang="en-US" sz="1300" dirty="0"/>
          </a:p>
        </p:txBody>
      </p:sp>
      <p:sp>
        <p:nvSpPr>
          <p:cNvPr id="17" name="Text 15"/>
          <p:cNvSpPr txBox="1"/>
          <p:nvPr/>
        </p:nvSpPr>
        <p:spPr>
          <a:xfrm>
            <a:off x="8377733" y="2706624"/>
            <a:ext cx="2991002" cy="1005840"/>
          </a:xfrm>
          <a:prstGeom prst="rect">
            <a:avLst/>
          </a:prstGeom>
          <a:noFill/>
          <a:ln/>
        </p:spPr>
        <p:txBody>
          <a:bodyPr wrap="square" lIns="0" tIns="0" rIns="0" bIns="0" rtlCol="0" anchor="t"/>
          <a:lstStyle/>
          <a:p>
            <a:pPr marL="342900" indent="-342900">
              <a:lnSpc>
                <a:spcPts val="1628"/>
              </a:lnSpc>
              <a:spcAft>
                <a:spcPts val="300"/>
              </a:spcAft>
              <a:buSzPct val="100000"/>
              <a:buChar char="▪"/>
            </a:pPr>
            <a:r>
              <a:rPr lang="en-US" sz="1050" dirty="0">
                <a:solidFill>
                  <a:srgbClr val="5C6878"/>
                </a:solidFill>
                <a:latin typeface="Meiryo" pitchFamily="34" charset="0"/>
                <a:ea typeface="Meiryo" pitchFamily="34" charset="-122"/>
                <a:cs typeface="Meiryo" pitchFamily="34" charset="-120"/>
              </a:rPr>
              <a:t>学費支援額</a:t>
            </a:r>
            <a:endParaRPr lang="en-US" sz="1050" dirty="0"/>
          </a:p>
          <a:p>
            <a:pPr marL="342900" indent="-342900">
              <a:lnSpc>
                <a:spcPts val="1628"/>
              </a:lnSpc>
              <a:spcAft>
                <a:spcPts val="300"/>
              </a:spcAft>
              <a:buSzPct val="100000"/>
              <a:buChar char="▪"/>
            </a:pPr>
            <a:r>
              <a:rPr lang="en-US" sz="1050" dirty="0">
                <a:solidFill>
                  <a:srgbClr val="5C6878"/>
                </a:solidFill>
                <a:latin typeface="Meiryo" pitchFamily="34" charset="0"/>
                <a:ea typeface="Meiryo" pitchFamily="34" charset="-122"/>
                <a:cs typeface="Meiryo" pitchFamily="34" charset="-120"/>
              </a:rPr>
              <a:t>生活支援金の月額</a:t>
            </a:r>
            <a:endParaRPr lang="en-US" sz="1050" dirty="0"/>
          </a:p>
          <a:p>
            <a:pPr marL="342900" indent="-342900">
              <a:lnSpc>
                <a:spcPts val="1628"/>
              </a:lnSpc>
              <a:spcAft>
                <a:spcPts val="300"/>
              </a:spcAft>
              <a:buSzPct val="100000"/>
              <a:buChar char="▪"/>
            </a:pPr>
            <a:r>
              <a:rPr lang="en-US" sz="1050" dirty="0">
                <a:solidFill>
                  <a:srgbClr val="5C6878"/>
                </a:solidFill>
                <a:latin typeface="Meiryo" pitchFamily="34" charset="0"/>
                <a:ea typeface="Meiryo" pitchFamily="34" charset="-122"/>
                <a:cs typeface="Meiryo" pitchFamily="34" charset="-120"/>
              </a:rPr>
              <a:t>支給期間の確定</a:t>
            </a:r>
            <a:endParaRPr lang="en-US" sz="1050" dirty="0"/>
          </a:p>
        </p:txBody>
      </p:sp>
      <p:sp>
        <p:nvSpPr>
          <p:cNvPr id="18" name="Shape 16"/>
          <p:cNvSpPr/>
          <p:nvPr/>
        </p:nvSpPr>
        <p:spPr>
          <a:xfrm>
            <a:off x="548640" y="4005072"/>
            <a:ext cx="3539642" cy="1737360"/>
          </a:xfrm>
          <a:prstGeom prst="roundRect">
            <a:avLst>
              <a:gd name="adj" fmla="val 2632"/>
            </a:avLst>
          </a:prstGeom>
          <a:solidFill>
            <a:srgbClr val="FFFFFF"/>
          </a:solidFill>
          <a:ln w="12700">
            <a:solidFill>
              <a:srgbClr val="C8102E"/>
            </a:solidFill>
            <a:prstDash val="solid"/>
          </a:ln>
          <a:effectLst>
            <a:outerShdw sx="100000" sy="100000" kx="0" ky="0" algn="bl" rotWithShape="0" blurRad="101600" dist="12700" dir="5400000">
              <a:srgbClr val="0E2244">
                <a:alpha val="8000"/>
              </a:srgbClr>
            </a:outerShdw>
          </a:effectLst>
        </p:spPr>
      </p:sp>
      <p:sp>
        <p:nvSpPr>
          <p:cNvPr id="19" name="Text 17"/>
          <p:cNvSpPr txBox="1"/>
          <p:nvPr/>
        </p:nvSpPr>
        <p:spPr>
          <a:xfrm>
            <a:off x="804672" y="4187952"/>
            <a:ext cx="457200" cy="292608"/>
          </a:xfrm>
          <a:prstGeom prst="rect">
            <a:avLst/>
          </a:prstGeom>
          <a:noFill/>
          <a:ln/>
        </p:spPr>
        <p:txBody>
          <a:bodyPr wrap="square" lIns="0" tIns="0" rIns="0" bIns="0" rtlCol="0" anchor="ctr"/>
          <a:lstStyle/>
          <a:p>
            <a:pPr indent="0" marL="0">
              <a:buNone/>
            </a:pPr>
            <a:r>
              <a:rPr lang="en-US" sz="1500" b="1" dirty="0">
                <a:solidFill>
                  <a:srgbClr val="C8102E"/>
                </a:solidFill>
                <a:latin typeface="Arial" pitchFamily="34" charset="0"/>
                <a:ea typeface="Arial" pitchFamily="34" charset="-122"/>
                <a:cs typeface="Arial" pitchFamily="34" charset="-120"/>
              </a:rPr>
              <a:t>04</a:t>
            </a:r>
            <a:endParaRPr lang="en-US" sz="1500" dirty="0"/>
          </a:p>
        </p:txBody>
      </p:sp>
      <p:sp>
        <p:nvSpPr>
          <p:cNvPr id="20" name="Text 18"/>
          <p:cNvSpPr txBox="1"/>
          <p:nvPr/>
        </p:nvSpPr>
        <p:spPr>
          <a:xfrm>
            <a:off x="1298448" y="4187952"/>
            <a:ext cx="2533802" cy="292608"/>
          </a:xfrm>
          <a:prstGeom prst="rect">
            <a:avLst/>
          </a:prstGeom>
          <a:noFill/>
          <a:ln/>
        </p:spPr>
        <p:txBody>
          <a:bodyPr wrap="square" lIns="0" tIns="0" rIns="0" bIns="0" rtlCol="0" anchor="ctr"/>
          <a:lstStyle/>
          <a:p>
            <a:pPr algn="l" indent="0" marL="0">
              <a:lnSpc>
                <a:spcPts val="2080"/>
              </a:lnSpc>
              <a:buNone/>
            </a:pPr>
            <a:r>
              <a:rPr lang="en-US" sz="1300" b="1" dirty="0">
                <a:solidFill>
                  <a:srgbClr val="1A2230"/>
                </a:solidFill>
                <a:latin typeface="Meiryo" pitchFamily="34" charset="0"/>
                <a:ea typeface="Meiryo" pitchFamily="34" charset="-122"/>
                <a:cs typeface="Meiryo" pitchFamily="34" charset="-120"/>
              </a:rPr>
              <a:t>説明会の実施条件</a:t>
            </a:r>
            <a:endParaRPr lang="en-US" sz="1300" dirty="0"/>
          </a:p>
        </p:txBody>
      </p:sp>
      <p:sp>
        <p:nvSpPr>
          <p:cNvPr id="21" name="Shape 19"/>
          <p:cNvSpPr/>
          <p:nvPr/>
        </p:nvSpPr>
        <p:spPr>
          <a:xfrm>
            <a:off x="3192170" y="3877056"/>
            <a:ext cx="658368" cy="237744"/>
          </a:xfrm>
          <a:prstGeom prst="rect">
            <a:avLst/>
          </a:prstGeom>
          <a:solidFill>
            <a:srgbClr val="C8102E"/>
          </a:solidFill>
          <a:ln/>
        </p:spPr>
      </p:sp>
      <p:sp>
        <p:nvSpPr>
          <p:cNvPr id="22" name="Text 20"/>
          <p:cNvSpPr txBox="1"/>
          <p:nvPr/>
        </p:nvSpPr>
        <p:spPr>
          <a:xfrm>
            <a:off x="3192170" y="3877056"/>
            <a:ext cx="658368" cy="237744"/>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Arial" pitchFamily="34" charset="0"/>
                <a:ea typeface="Arial" pitchFamily="34" charset="-122"/>
                <a:cs typeface="Arial" pitchFamily="34" charset="-120"/>
              </a:rPr>
              <a:t>NEW</a:t>
            </a:r>
            <a:endParaRPr lang="en-US" sz="750" dirty="0"/>
          </a:p>
        </p:txBody>
      </p:sp>
      <p:sp>
        <p:nvSpPr>
          <p:cNvPr id="23" name="Text 21"/>
          <p:cNvSpPr txBox="1"/>
          <p:nvPr/>
        </p:nvSpPr>
        <p:spPr>
          <a:xfrm>
            <a:off x="822960" y="4608576"/>
            <a:ext cx="2991002" cy="1005840"/>
          </a:xfrm>
          <a:prstGeom prst="rect">
            <a:avLst/>
          </a:prstGeom>
          <a:noFill/>
          <a:ln/>
        </p:spPr>
        <p:txBody>
          <a:bodyPr wrap="square" lIns="0" tIns="0" rIns="0" bIns="0" rtlCol="0" anchor="t"/>
          <a:lstStyle/>
          <a:p>
            <a:pPr marL="342900" indent="-342900">
              <a:lnSpc>
                <a:spcPts val="1628"/>
              </a:lnSpc>
              <a:spcAft>
                <a:spcPts val="300"/>
              </a:spcAft>
              <a:buSzPct val="100000"/>
              <a:buChar char="▪"/>
            </a:pPr>
            <a:r>
              <a:rPr lang="en-US" sz="1050" dirty="0">
                <a:solidFill>
                  <a:srgbClr val="5C6878"/>
                </a:solidFill>
                <a:latin typeface="Meiryo" pitchFamily="34" charset="0"/>
                <a:ea typeface="Meiryo" pitchFamily="34" charset="-122"/>
                <a:cs typeface="Meiryo" pitchFamily="34" charset="-120"/>
              </a:rPr>
              <a:t>対象大学と実施校数</a:t>
            </a:r>
            <a:endParaRPr lang="en-US" sz="1050" dirty="0"/>
          </a:p>
          <a:p>
            <a:pPr marL="342900" indent="-342900">
              <a:lnSpc>
                <a:spcPts val="1628"/>
              </a:lnSpc>
              <a:spcAft>
                <a:spcPts val="300"/>
              </a:spcAft>
              <a:buSzPct val="100000"/>
              <a:buChar char="▪"/>
            </a:pPr>
            <a:r>
              <a:rPr lang="en-US" sz="1050" dirty="0">
                <a:solidFill>
                  <a:srgbClr val="5C6878"/>
                </a:solidFill>
                <a:latin typeface="Meiryo" pitchFamily="34" charset="0"/>
                <a:ea typeface="Meiryo" pitchFamily="34" charset="-122"/>
                <a:cs typeface="Meiryo" pitchFamily="34" charset="-120"/>
              </a:rPr>
              <a:t>希望日程</a:t>
            </a:r>
            <a:endParaRPr lang="en-US" sz="1050" dirty="0"/>
          </a:p>
          <a:p>
            <a:pPr marL="342900" indent="-342900">
              <a:lnSpc>
                <a:spcPts val="1628"/>
              </a:lnSpc>
              <a:spcAft>
                <a:spcPts val="300"/>
              </a:spcAft>
              <a:buSzPct val="100000"/>
              <a:buChar char="▪"/>
            </a:pPr>
            <a:r>
              <a:rPr lang="en-US" sz="1050" dirty="0">
                <a:solidFill>
                  <a:srgbClr val="5C6878"/>
                </a:solidFill>
                <a:latin typeface="Meiryo" pitchFamily="34" charset="0"/>
                <a:ea typeface="Meiryo" pitchFamily="34" charset="-122"/>
                <a:cs typeface="Meiryo" pitchFamily="34" charset="-120"/>
              </a:rPr>
              <a:t>対面／オンラインの選択</a:t>
            </a:r>
            <a:endParaRPr lang="en-US" sz="1050" dirty="0"/>
          </a:p>
          <a:p>
            <a:pPr marL="342900" indent="-342900">
              <a:lnSpc>
                <a:spcPts val="1628"/>
              </a:lnSpc>
              <a:spcAft>
                <a:spcPts val="300"/>
              </a:spcAft>
              <a:buSzPct val="100000"/>
              <a:buChar char="▪"/>
            </a:pPr>
            <a:r>
              <a:rPr lang="en-US" sz="1050" dirty="0">
                <a:solidFill>
                  <a:srgbClr val="5C6878"/>
                </a:solidFill>
                <a:latin typeface="Meiryo" pitchFamily="34" charset="0"/>
                <a:ea typeface="Meiryo" pitchFamily="34" charset="-122"/>
                <a:cs typeface="Meiryo" pitchFamily="34" charset="-120"/>
              </a:rPr>
              <a:t>ご登壇者</a:t>
            </a:r>
            <a:endParaRPr lang="en-US" sz="1050" dirty="0"/>
          </a:p>
        </p:txBody>
      </p:sp>
      <p:sp>
        <p:nvSpPr>
          <p:cNvPr id="24" name="Shape 22"/>
          <p:cNvSpPr/>
          <p:nvPr/>
        </p:nvSpPr>
        <p:spPr>
          <a:xfrm>
            <a:off x="4326026" y="4005072"/>
            <a:ext cx="3539642" cy="1737360"/>
          </a:xfrm>
          <a:prstGeom prst="roundRect">
            <a:avLst>
              <a:gd name="adj" fmla="val 2632"/>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25" name="Text 23"/>
          <p:cNvSpPr txBox="1"/>
          <p:nvPr/>
        </p:nvSpPr>
        <p:spPr>
          <a:xfrm>
            <a:off x="4582058" y="4187952"/>
            <a:ext cx="457200" cy="292608"/>
          </a:xfrm>
          <a:prstGeom prst="rect">
            <a:avLst/>
          </a:prstGeom>
          <a:noFill/>
          <a:ln/>
        </p:spPr>
        <p:txBody>
          <a:bodyPr wrap="square" lIns="0" tIns="0" rIns="0" bIns="0" rtlCol="0" anchor="ctr"/>
          <a:lstStyle/>
          <a:p>
            <a:pPr indent="0" marL="0">
              <a:buNone/>
            </a:pPr>
            <a:r>
              <a:rPr lang="en-US" sz="1500" b="1" dirty="0">
                <a:solidFill>
                  <a:srgbClr val="C8102E"/>
                </a:solidFill>
                <a:latin typeface="Arial" pitchFamily="34" charset="0"/>
                <a:ea typeface="Arial" pitchFamily="34" charset="-122"/>
                <a:cs typeface="Arial" pitchFamily="34" charset="-120"/>
              </a:rPr>
              <a:t>05</a:t>
            </a:r>
            <a:endParaRPr lang="en-US" sz="1500" dirty="0"/>
          </a:p>
        </p:txBody>
      </p:sp>
      <p:sp>
        <p:nvSpPr>
          <p:cNvPr id="26" name="Text 24"/>
          <p:cNvSpPr txBox="1"/>
          <p:nvPr/>
        </p:nvSpPr>
        <p:spPr>
          <a:xfrm>
            <a:off x="5075834" y="4187952"/>
            <a:ext cx="2533802" cy="292608"/>
          </a:xfrm>
          <a:prstGeom prst="rect">
            <a:avLst/>
          </a:prstGeom>
          <a:noFill/>
          <a:ln/>
        </p:spPr>
        <p:txBody>
          <a:bodyPr wrap="square" lIns="0" tIns="0" rIns="0" bIns="0" rtlCol="0" anchor="ctr"/>
          <a:lstStyle/>
          <a:p>
            <a:pPr algn="l" indent="0" marL="0">
              <a:lnSpc>
                <a:spcPts val="2080"/>
              </a:lnSpc>
              <a:buNone/>
            </a:pPr>
            <a:r>
              <a:rPr lang="en-US" sz="1300" b="1" dirty="0">
                <a:solidFill>
                  <a:srgbClr val="1A2230"/>
                </a:solidFill>
                <a:latin typeface="Meiryo" pitchFamily="34" charset="0"/>
                <a:ea typeface="Meiryo" pitchFamily="34" charset="-122"/>
                <a:cs typeface="Meiryo" pitchFamily="34" charset="-120"/>
              </a:rPr>
              <a:t>選考形式</a:t>
            </a:r>
            <a:endParaRPr lang="en-US" sz="1300" dirty="0"/>
          </a:p>
        </p:txBody>
      </p:sp>
      <p:sp>
        <p:nvSpPr>
          <p:cNvPr id="27" name="Text 25"/>
          <p:cNvSpPr txBox="1"/>
          <p:nvPr/>
        </p:nvSpPr>
        <p:spPr>
          <a:xfrm>
            <a:off x="4600346" y="4608576"/>
            <a:ext cx="2991002" cy="1005840"/>
          </a:xfrm>
          <a:prstGeom prst="rect">
            <a:avLst/>
          </a:prstGeom>
          <a:noFill/>
          <a:ln/>
        </p:spPr>
        <p:txBody>
          <a:bodyPr wrap="square" lIns="0" tIns="0" rIns="0" bIns="0" rtlCol="0" anchor="t"/>
          <a:lstStyle/>
          <a:p>
            <a:pPr marL="342900" indent="-342900">
              <a:lnSpc>
                <a:spcPts val="1628"/>
              </a:lnSpc>
              <a:spcAft>
                <a:spcPts val="300"/>
              </a:spcAft>
              <a:buSzPct val="100000"/>
              <a:buChar char="▪"/>
            </a:pPr>
            <a:r>
              <a:rPr lang="en-US" sz="1050" dirty="0">
                <a:solidFill>
                  <a:srgbClr val="5C6878"/>
                </a:solidFill>
                <a:latin typeface="Meiryo" pitchFamily="34" charset="0"/>
                <a:ea typeface="Meiryo" pitchFamily="34" charset="-122"/>
                <a:cs typeface="Meiryo" pitchFamily="34" charset="-120"/>
              </a:rPr>
              <a:t>選考ステップ</a:t>
            </a:r>
            <a:endParaRPr lang="en-US" sz="1050" dirty="0"/>
          </a:p>
          <a:p>
            <a:pPr marL="342900" indent="-342900">
              <a:lnSpc>
                <a:spcPts val="1628"/>
              </a:lnSpc>
              <a:spcAft>
                <a:spcPts val="300"/>
              </a:spcAft>
              <a:buSzPct val="100000"/>
              <a:buChar char="▪"/>
            </a:pPr>
            <a:r>
              <a:rPr lang="en-US" sz="1050" dirty="0">
                <a:solidFill>
                  <a:srgbClr val="5C6878"/>
                </a:solidFill>
                <a:latin typeface="Meiryo" pitchFamily="34" charset="0"/>
                <a:ea typeface="Meiryo" pitchFamily="34" charset="-122"/>
                <a:cs typeface="Meiryo" pitchFamily="34" charset="-120"/>
              </a:rPr>
              <a:t>内定通知のタイミング</a:t>
            </a:r>
            <a:endParaRPr lang="en-US" sz="1050" dirty="0"/>
          </a:p>
          <a:p>
            <a:pPr marL="342900" indent="-342900">
              <a:lnSpc>
                <a:spcPts val="1628"/>
              </a:lnSpc>
              <a:spcAft>
                <a:spcPts val="300"/>
              </a:spcAft>
              <a:buSzPct val="100000"/>
              <a:buChar char="▪"/>
            </a:pPr>
            <a:r>
              <a:rPr lang="en-US" sz="1050" dirty="0">
                <a:solidFill>
                  <a:srgbClr val="5C6878"/>
                </a:solidFill>
                <a:latin typeface="Meiryo" pitchFamily="34" charset="0"/>
                <a:ea typeface="Meiryo" pitchFamily="34" charset="-122"/>
                <a:cs typeface="Meiryo" pitchFamily="34" charset="-120"/>
              </a:rPr>
              <a:t>式典への参列者選定</a:t>
            </a:r>
            <a:endParaRPr lang="en-US" sz="1050" dirty="0"/>
          </a:p>
        </p:txBody>
      </p:sp>
      <p:sp>
        <p:nvSpPr>
          <p:cNvPr id="28" name="Shape 26"/>
          <p:cNvSpPr/>
          <p:nvPr/>
        </p:nvSpPr>
        <p:spPr>
          <a:xfrm>
            <a:off x="8103413" y="4005072"/>
            <a:ext cx="3539642" cy="1737360"/>
          </a:xfrm>
          <a:prstGeom prst="roundRect">
            <a:avLst>
              <a:gd name="adj" fmla="val 2632"/>
            </a:avLst>
          </a:prstGeom>
          <a:solidFill>
            <a:srgbClr val="F7F9FC"/>
          </a:solidFill>
          <a:ln w="12700">
            <a:solidFill>
              <a:srgbClr val="DFE5EC"/>
            </a:solidFill>
            <a:prstDash val="solid"/>
          </a:ln>
          <a:effectLst>
            <a:outerShdw sx="100000" sy="100000" kx="0" ky="0" algn="bl" rotWithShape="0" blurRad="101600" dist="12700" dir="5400000">
              <a:srgbClr val="0E2244">
                <a:alpha val="8000"/>
              </a:srgbClr>
            </a:outerShdw>
          </a:effectLst>
        </p:spPr>
      </p:sp>
      <p:sp>
        <p:nvSpPr>
          <p:cNvPr id="29" name="Text 27"/>
          <p:cNvSpPr txBox="1"/>
          <p:nvPr/>
        </p:nvSpPr>
        <p:spPr>
          <a:xfrm>
            <a:off x="8359445" y="4187952"/>
            <a:ext cx="457200" cy="292608"/>
          </a:xfrm>
          <a:prstGeom prst="rect">
            <a:avLst/>
          </a:prstGeom>
          <a:noFill/>
          <a:ln/>
        </p:spPr>
        <p:txBody>
          <a:bodyPr wrap="square" lIns="0" tIns="0" rIns="0" bIns="0" rtlCol="0" anchor="ctr"/>
          <a:lstStyle/>
          <a:p>
            <a:pPr indent="0" marL="0">
              <a:buNone/>
            </a:pPr>
            <a:r>
              <a:rPr lang="en-US" sz="1500" b="1" dirty="0">
                <a:solidFill>
                  <a:srgbClr val="C8102E"/>
                </a:solidFill>
                <a:latin typeface="Arial" pitchFamily="34" charset="0"/>
                <a:ea typeface="Arial" pitchFamily="34" charset="-122"/>
                <a:cs typeface="Arial" pitchFamily="34" charset="-120"/>
              </a:rPr>
              <a:t>06</a:t>
            </a:r>
            <a:endParaRPr lang="en-US" sz="1500" dirty="0"/>
          </a:p>
        </p:txBody>
      </p:sp>
      <p:sp>
        <p:nvSpPr>
          <p:cNvPr id="30" name="Text 28"/>
          <p:cNvSpPr txBox="1"/>
          <p:nvPr/>
        </p:nvSpPr>
        <p:spPr>
          <a:xfrm>
            <a:off x="8853221" y="4187952"/>
            <a:ext cx="2533802" cy="292608"/>
          </a:xfrm>
          <a:prstGeom prst="rect">
            <a:avLst/>
          </a:prstGeom>
          <a:noFill/>
          <a:ln/>
        </p:spPr>
        <p:txBody>
          <a:bodyPr wrap="square" lIns="0" tIns="0" rIns="0" bIns="0" rtlCol="0" anchor="ctr"/>
          <a:lstStyle/>
          <a:p>
            <a:pPr algn="l" indent="0" marL="0">
              <a:lnSpc>
                <a:spcPts val="2080"/>
              </a:lnSpc>
              <a:buNone/>
            </a:pPr>
            <a:r>
              <a:rPr lang="en-US" sz="1300" b="1" dirty="0">
                <a:solidFill>
                  <a:srgbClr val="1A2230"/>
                </a:solidFill>
                <a:latin typeface="Meiryo" pitchFamily="34" charset="0"/>
                <a:ea typeface="Meiryo" pitchFamily="34" charset="-122"/>
                <a:cs typeface="Meiryo" pitchFamily="34" charset="-120"/>
              </a:rPr>
              <a:t>人材像</a:t>
            </a:r>
            <a:endParaRPr lang="en-US" sz="1300" dirty="0"/>
          </a:p>
        </p:txBody>
      </p:sp>
      <p:sp>
        <p:nvSpPr>
          <p:cNvPr id="31" name="Text 29"/>
          <p:cNvSpPr txBox="1"/>
          <p:nvPr/>
        </p:nvSpPr>
        <p:spPr>
          <a:xfrm>
            <a:off x="8377733" y="4608576"/>
            <a:ext cx="2991002" cy="1005840"/>
          </a:xfrm>
          <a:prstGeom prst="rect">
            <a:avLst/>
          </a:prstGeom>
          <a:noFill/>
          <a:ln/>
        </p:spPr>
        <p:txBody>
          <a:bodyPr wrap="square" lIns="0" tIns="0" rIns="0" bIns="0" rtlCol="0" anchor="t"/>
          <a:lstStyle/>
          <a:p>
            <a:pPr marL="342900" indent="-342900">
              <a:lnSpc>
                <a:spcPts val="1628"/>
              </a:lnSpc>
              <a:spcAft>
                <a:spcPts val="300"/>
              </a:spcAft>
              <a:buSzPct val="100000"/>
              <a:buChar char="▪"/>
            </a:pPr>
            <a:r>
              <a:rPr lang="en-US" sz="1050" dirty="0">
                <a:solidFill>
                  <a:srgbClr val="5C6878"/>
                </a:solidFill>
                <a:latin typeface="Meiryo" pitchFamily="34" charset="0"/>
                <a:ea typeface="Meiryo" pitchFamily="34" charset="-122"/>
                <a:cs typeface="Meiryo" pitchFamily="34" charset="-120"/>
              </a:rPr>
              <a:t>求める専攻分野</a:t>
            </a:r>
            <a:endParaRPr lang="en-US" sz="1050" dirty="0"/>
          </a:p>
          <a:p>
            <a:pPr marL="342900" indent="-342900">
              <a:lnSpc>
                <a:spcPts val="1628"/>
              </a:lnSpc>
              <a:spcAft>
                <a:spcPts val="300"/>
              </a:spcAft>
              <a:buSzPct val="100000"/>
              <a:buChar char="▪"/>
            </a:pPr>
            <a:r>
              <a:rPr lang="en-US" sz="1050" dirty="0">
                <a:solidFill>
                  <a:srgbClr val="5C6878"/>
                </a:solidFill>
                <a:latin typeface="Meiryo" pitchFamily="34" charset="0"/>
                <a:ea typeface="Meiryo" pitchFamily="34" charset="-122"/>
                <a:cs typeface="Meiryo" pitchFamily="34" charset="-120"/>
              </a:rPr>
              <a:t>語学水準の下限</a:t>
            </a:r>
            <a:endParaRPr lang="en-US" sz="1050" dirty="0"/>
          </a:p>
          <a:p>
            <a:pPr marL="342900" indent="-342900">
              <a:lnSpc>
                <a:spcPts val="1628"/>
              </a:lnSpc>
              <a:spcAft>
                <a:spcPts val="300"/>
              </a:spcAft>
              <a:buSzPct val="100000"/>
              <a:buChar char="▪"/>
            </a:pPr>
            <a:r>
              <a:rPr lang="en-US" sz="1050" dirty="0">
                <a:solidFill>
                  <a:srgbClr val="5C6878"/>
                </a:solidFill>
                <a:latin typeface="Meiryo" pitchFamily="34" charset="0"/>
                <a:ea typeface="Meiryo" pitchFamily="34" charset="-122"/>
                <a:cs typeface="Meiryo" pitchFamily="34" charset="-120"/>
              </a:rPr>
              <a:t>評価の優先順位</a:t>
            </a:r>
            <a:endParaRPr lang="en-US" sz="1050" dirty="0"/>
          </a:p>
        </p:txBody>
      </p:sp>
      <p:sp>
        <p:nvSpPr>
          <p:cNvPr id="32" name="Shape 30"/>
          <p:cNvSpPr/>
          <p:nvPr/>
        </p:nvSpPr>
        <p:spPr>
          <a:xfrm>
            <a:off x="548640" y="6035040"/>
            <a:ext cx="11094415" cy="548640"/>
          </a:xfrm>
          <a:prstGeom prst="rect">
            <a:avLst/>
          </a:prstGeom>
          <a:solidFill>
            <a:srgbClr val="0E2244"/>
          </a:solidFill>
          <a:ln/>
        </p:spPr>
      </p:sp>
      <p:sp>
        <p:nvSpPr>
          <p:cNvPr id="33" name="Text 31"/>
          <p:cNvSpPr txBox="1"/>
          <p:nvPr/>
        </p:nvSpPr>
        <p:spPr>
          <a:xfrm>
            <a:off x="859536" y="6035040"/>
            <a:ext cx="10472623" cy="548640"/>
          </a:xfrm>
          <a:prstGeom prst="rect">
            <a:avLst/>
          </a:prstGeom>
          <a:noFill/>
          <a:ln/>
        </p:spPr>
        <p:txBody>
          <a:bodyPr wrap="square" lIns="0" tIns="0" rIns="0" bIns="0" rtlCol="0" anchor="ctr"/>
          <a:lstStyle/>
          <a:p>
            <a:pPr indent="0" marL="0">
              <a:buNone/>
            </a:pPr>
            <a:r>
              <a:rPr lang="en-US" sz="1150" b="1" dirty="0">
                <a:solidFill>
                  <a:srgbClr val="FFFFFF"/>
                </a:solidFill>
                <a:latin typeface="Meiryo" pitchFamily="34" charset="0"/>
                <a:ea typeface="Meiryo" pitchFamily="34" charset="-122"/>
                <a:cs typeface="Meiryo" pitchFamily="34" charset="-120"/>
              </a:rPr>
              <a:t>ネクストステップ　</a:t>
            </a:r>
            <a:pPr indent="0" marL="0">
              <a:buNone/>
            </a:pPr>
            <a:r>
              <a:rPr lang="en-US" sz="1150" dirty="0">
                <a:solidFill>
                  <a:srgbClr val="C9D8EA"/>
                </a:solidFill>
                <a:latin typeface="Meiryo" pitchFamily="34" charset="0"/>
                <a:ea typeface="Meiryo" pitchFamily="34" charset="-122"/>
                <a:cs typeface="Meiryo" pitchFamily="34" charset="-120"/>
              </a:rPr>
              <a:t>これらが決まり次第、大学との日程調整と求人票・募集広告の作成フェーズへ即座に移行します。</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2244"/>
        </a:solidFill>
      </p:bgPr>
    </p:bg>
    <p:spTree>
      <p:nvGrpSpPr>
        <p:cNvPr id="1" name=""/>
        <p:cNvGrpSpPr/>
        <p:nvPr/>
      </p:nvGrpSpPr>
      <p:grpSpPr>
        <a:xfrm>
          <a:off x="0" y="0"/>
          <a:ext cx="0" cy="0"/>
          <a:chOff x="0" y="0"/>
          <a:chExt cx="0" cy="0"/>
        </a:xfrm>
      </p:grpSpPr>
      <p:sp>
        <p:nvSpPr>
          <p:cNvPr id="2" name="Text 0"/>
          <p:cNvSpPr txBox="1"/>
          <p:nvPr/>
        </p:nvSpPr>
        <p:spPr>
          <a:xfrm>
            <a:off x="548640" y="640080"/>
            <a:ext cx="11094415" cy="237744"/>
          </a:xfrm>
          <a:prstGeom prst="rect">
            <a:avLst/>
          </a:prstGeom>
          <a:noFill/>
          <a:ln/>
        </p:spPr>
        <p:txBody>
          <a:bodyPr wrap="square" lIns="0" tIns="0" rIns="0" bIns="0" rtlCol="0" anchor="ctr"/>
          <a:lstStyle/>
          <a:p>
            <a:pPr indent="0" marL="0">
              <a:buNone/>
            </a:pPr>
            <a:r>
              <a:rPr lang="en-US" sz="1050" b="1" spc="200" kern="0" dirty="0">
                <a:solidFill>
                  <a:srgbClr val="F3D6DB"/>
                </a:solidFill>
                <a:latin typeface="Arial" pitchFamily="34" charset="0"/>
                <a:ea typeface="Arial" pitchFamily="34" charset="-122"/>
                <a:cs typeface="Arial" pitchFamily="34" charset="-120"/>
              </a:rPr>
              <a:t>WHY THIS WORKS</a:t>
            </a:r>
            <a:endParaRPr lang="en-US" sz="1050" dirty="0"/>
          </a:p>
        </p:txBody>
      </p:sp>
      <p:sp>
        <p:nvSpPr>
          <p:cNvPr id="3" name="Text 1"/>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FFFFFF"/>
                </a:solidFill>
                <a:latin typeface="Meiryo" pitchFamily="34" charset="0"/>
                <a:ea typeface="Meiryo" pitchFamily="34" charset="-122"/>
                <a:cs typeface="Meiryo" pitchFamily="34" charset="-120"/>
              </a:rPr>
              <a:t>志望動機からつくる採用へ</a:t>
            </a:r>
            <a:endParaRPr lang="en-US" sz="3200" dirty="0"/>
          </a:p>
        </p:txBody>
      </p:sp>
      <p:sp>
        <p:nvSpPr>
          <p:cNvPr id="4" name="Text 2"/>
          <p:cNvSpPr txBox="1"/>
          <p:nvPr/>
        </p:nvSpPr>
        <p:spPr>
          <a:xfrm>
            <a:off x="548640" y="1700784"/>
            <a:ext cx="11094415" cy="365760"/>
          </a:xfrm>
          <a:prstGeom prst="rect">
            <a:avLst/>
          </a:prstGeom>
          <a:noFill/>
          <a:ln/>
        </p:spPr>
        <p:txBody>
          <a:bodyPr wrap="square" lIns="0" tIns="0" rIns="0" bIns="0" rtlCol="0" anchor="ctr"/>
          <a:lstStyle/>
          <a:p>
            <a:pPr indent="0" marL="0">
              <a:buNone/>
            </a:pPr>
            <a:r>
              <a:rPr lang="en-US" sz="1400" dirty="0">
                <a:solidFill>
                  <a:srgbClr val="C9D8EA"/>
                </a:solidFill>
                <a:latin typeface="Meiryo" pitchFamily="34" charset="0"/>
                <a:ea typeface="Meiryo" pitchFamily="34" charset="-122"/>
                <a:cs typeface="Meiryo" pitchFamily="34" charset="-120"/>
              </a:rPr>
              <a:t>同じ支援制度でも、「誰のために集めた母集団か」で結果が変わります。</a:t>
            </a:r>
            <a:endParaRPr lang="en-US" sz="1400" dirty="0"/>
          </a:p>
        </p:txBody>
      </p:sp>
      <p:sp>
        <p:nvSpPr>
          <p:cNvPr id="5" name="Shape 3"/>
          <p:cNvSpPr/>
          <p:nvPr/>
        </p:nvSpPr>
        <p:spPr>
          <a:xfrm>
            <a:off x="548640" y="2468880"/>
            <a:ext cx="3490874" cy="2103120"/>
          </a:xfrm>
          <a:prstGeom prst="roundRect">
            <a:avLst>
              <a:gd name="adj" fmla="val 2174"/>
            </a:avLst>
          </a:prstGeom>
          <a:solidFill>
            <a:srgbClr val="1C3D6B"/>
          </a:solidFill>
          <a:ln w="12700">
            <a:solidFill>
              <a:srgbClr val="2E5B96"/>
            </a:solidFill>
            <a:prstDash val="solid"/>
          </a:ln>
        </p:spPr>
      </p:sp>
      <p:sp>
        <p:nvSpPr>
          <p:cNvPr id="6" name="Shape 4"/>
          <p:cNvSpPr/>
          <p:nvPr/>
        </p:nvSpPr>
        <p:spPr>
          <a:xfrm>
            <a:off x="841248" y="2724912"/>
            <a:ext cx="274320" cy="274320"/>
          </a:xfrm>
          <a:prstGeom prst="roundRect">
            <a:avLst>
              <a:gd name="adj" fmla="val 10000"/>
            </a:avLst>
          </a:prstGeom>
          <a:solidFill>
            <a:srgbClr val="C8102E"/>
          </a:solidFill>
          <a:ln w="12700">
            <a:solidFill>
              <a:srgbClr val="C8102E"/>
            </a:solidFill>
            <a:prstDash val="solid"/>
          </a:ln>
        </p:spPr>
      </p:sp>
      <p:sp>
        <p:nvSpPr>
          <p:cNvPr id="7" name="Text 5"/>
          <p:cNvSpPr txBox="1"/>
          <p:nvPr/>
        </p:nvSpPr>
        <p:spPr>
          <a:xfrm>
            <a:off x="841248" y="272491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8" name="Text 6"/>
          <p:cNvSpPr txBox="1"/>
          <p:nvPr/>
        </p:nvSpPr>
        <p:spPr>
          <a:xfrm>
            <a:off x="841248" y="3163824"/>
            <a:ext cx="2905658" cy="329184"/>
          </a:xfrm>
          <a:prstGeom prst="rect">
            <a:avLst/>
          </a:prstGeom>
          <a:noFill/>
          <a:ln/>
        </p:spPr>
        <p:txBody>
          <a:bodyPr wrap="square" lIns="0" tIns="0" rIns="0" bIns="0" rtlCol="0" anchor="t"/>
          <a:lstStyle/>
          <a:p>
            <a:pPr algn="l" indent="0" marL="0">
              <a:lnSpc>
                <a:spcPts val="2400"/>
              </a:lnSpc>
              <a:buNone/>
            </a:pPr>
            <a:r>
              <a:rPr lang="en-US" sz="1500" b="1" dirty="0">
                <a:solidFill>
                  <a:srgbClr val="FFFFFF"/>
                </a:solidFill>
                <a:latin typeface="Meiryo" pitchFamily="34" charset="0"/>
                <a:ea typeface="Meiryo" pitchFamily="34" charset="-122"/>
                <a:cs typeface="Meiryo" pitchFamily="34" charset="-120"/>
              </a:rPr>
              <a:t>母集団の質</a:t>
            </a:r>
            <a:endParaRPr lang="en-US" sz="1500" dirty="0"/>
          </a:p>
        </p:txBody>
      </p:sp>
      <p:sp>
        <p:nvSpPr>
          <p:cNvPr id="9" name="Text 7"/>
          <p:cNvSpPr txBox="1"/>
          <p:nvPr/>
        </p:nvSpPr>
        <p:spPr>
          <a:xfrm>
            <a:off x="841248" y="3602736"/>
            <a:ext cx="2905658" cy="822960"/>
          </a:xfrm>
          <a:prstGeom prst="rect">
            <a:avLst/>
          </a:prstGeom>
          <a:noFill/>
          <a:ln/>
        </p:spPr>
        <p:txBody>
          <a:bodyPr wrap="square" lIns="0" tIns="0" rIns="0" bIns="0" rtlCol="0" anchor="t"/>
          <a:lstStyle/>
          <a:p>
            <a:pPr algn="l" indent="0" marL="0">
              <a:lnSpc>
                <a:spcPts val="1680"/>
              </a:lnSpc>
              <a:buNone/>
            </a:pPr>
            <a:r>
              <a:rPr lang="en-US" sz="1050" dirty="0">
                <a:solidFill>
                  <a:srgbClr val="C9D8EA"/>
                </a:solidFill>
                <a:latin typeface="Meiryo" pitchFamily="34" charset="0"/>
                <a:ea typeface="Meiryo" pitchFamily="34" charset="-122"/>
                <a:cs typeface="Meiryo" pitchFamily="34" charset="-120"/>
              </a:rPr>
              <a:t>貴社を志望して集まった学生だけが選考に進むため、面接の通過率と内定承諾率が安定します。</a:t>
            </a:r>
            <a:endParaRPr lang="en-US" sz="1050" dirty="0"/>
          </a:p>
        </p:txBody>
      </p:sp>
      <p:sp>
        <p:nvSpPr>
          <p:cNvPr id="10" name="Shape 8"/>
          <p:cNvSpPr/>
          <p:nvPr/>
        </p:nvSpPr>
        <p:spPr>
          <a:xfrm>
            <a:off x="4350410" y="2468880"/>
            <a:ext cx="3490874" cy="2103120"/>
          </a:xfrm>
          <a:prstGeom prst="roundRect">
            <a:avLst>
              <a:gd name="adj" fmla="val 2174"/>
            </a:avLst>
          </a:prstGeom>
          <a:solidFill>
            <a:srgbClr val="1C3D6B"/>
          </a:solidFill>
          <a:ln w="12700">
            <a:solidFill>
              <a:srgbClr val="2E5B96"/>
            </a:solidFill>
            <a:prstDash val="solid"/>
          </a:ln>
        </p:spPr>
      </p:sp>
      <p:sp>
        <p:nvSpPr>
          <p:cNvPr id="11" name="Shape 9"/>
          <p:cNvSpPr/>
          <p:nvPr/>
        </p:nvSpPr>
        <p:spPr>
          <a:xfrm>
            <a:off x="4643018" y="2724912"/>
            <a:ext cx="274320" cy="274320"/>
          </a:xfrm>
          <a:prstGeom prst="roundRect">
            <a:avLst>
              <a:gd name="adj" fmla="val 10000"/>
            </a:avLst>
          </a:prstGeom>
          <a:solidFill>
            <a:srgbClr val="C8102E"/>
          </a:solidFill>
          <a:ln w="12700">
            <a:solidFill>
              <a:srgbClr val="C8102E"/>
            </a:solidFill>
            <a:prstDash val="solid"/>
          </a:ln>
        </p:spPr>
      </p:sp>
      <p:sp>
        <p:nvSpPr>
          <p:cNvPr id="12" name="Text 10"/>
          <p:cNvSpPr txBox="1"/>
          <p:nvPr/>
        </p:nvSpPr>
        <p:spPr>
          <a:xfrm>
            <a:off x="4643018" y="272491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13" name="Text 11"/>
          <p:cNvSpPr txBox="1"/>
          <p:nvPr/>
        </p:nvSpPr>
        <p:spPr>
          <a:xfrm>
            <a:off x="4643018" y="3163824"/>
            <a:ext cx="2905658" cy="329184"/>
          </a:xfrm>
          <a:prstGeom prst="rect">
            <a:avLst/>
          </a:prstGeom>
          <a:noFill/>
          <a:ln/>
        </p:spPr>
        <p:txBody>
          <a:bodyPr wrap="square" lIns="0" tIns="0" rIns="0" bIns="0" rtlCol="0" anchor="t"/>
          <a:lstStyle/>
          <a:p>
            <a:pPr algn="l" indent="0" marL="0">
              <a:lnSpc>
                <a:spcPts val="2400"/>
              </a:lnSpc>
              <a:buNone/>
            </a:pPr>
            <a:r>
              <a:rPr lang="en-US" sz="1500" b="1" dirty="0">
                <a:solidFill>
                  <a:srgbClr val="FFFFFF"/>
                </a:solidFill>
                <a:latin typeface="Meiryo" pitchFamily="34" charset="0"/>
                <a:ea typeface="Meiryo" pitchFamily="34" charset="-122"/>
                <a:cs typeface="Meiryo" pitchFamily="34" charset="-120"/>
              </a:rPr>
              <a:t>学習期間の完走率</a:t>
            </a:r>
            <a:endParaRPr lang="en-US" sz="1500" dirty="0"/>
          </a:p>
        </p:txBody>
      </p:sp>
      <p:sp>
        <p:nvSpPr>
          <p:cNvPr id="14" name="Text 12"/>
          <p:cNvSpPr txBox="1"/>
          <p:nvPr/>
        </p:nvSpPr>
        <p:spPr>
          <a:xfrm>
            <a:off x="4643018" y="3602736"/>
            <a:ext cx="2905658" cy="822960"/>
          </a:xfrm>
          <a:prstGeom prst="rect">
            <a:avLst/>
          </a:prstGeom>
          <a:noFill/>
          <a:ln/>
        </p:spPr>
        <p:txBody>
          <a:bodyPr wrap="square" lIns="0" tIns="0" rIns="0" bIns="0" rtlCol="0" anchor="t"/>
          <a:lstStyle/>
          <a:p>
            <a:pPr algn="l" indent="0" marL="0">
              <a:lnSpc>
                <a:spcPts val="1680"/>
              </a:lnSpc>
              <a:buNone/>
            </a:pPr>
            <a:r>
              <a:rPr lang="en-US" sz="1050" dirty="0">
                <a:solidFill>
                  <a:srgbClr val="C9D8EA"/>
                </a:solidFill>
                <a:latin typeface="Meiryo" pitchFamily="34" charset="0"/>
                <a:ea typeface="Meiryo" pitchFamily="34" charset="-122"/>
                <a:cs typeface="Meiryo" pitchFamily="34" charset="-120"/>
              </a:rPr>
              <a:t>約15ヶ月の学習を支えるのは志望動機です。行き先が明確な学生は途中離脱しにくくなります。</a:t>
            </a:r>
            <a:endParaRPr lang="en-US" sz="1050" dirty="0"/>
          </a:p>
        </p:txBody>
      </p:sp>
      <p:sp>
        <p:nvSpPr>
          <p:cNvPr id="15" name="Shape 13"/>
          <p:cNvSpPr/>
          <p:nvPr/>
        </p:nvSpPr>
        <p:spPr>
          <a:xfrm>
            <a:off x="8152181" y="2468880"/>
            <a:ext cx="3490874" cy="2103120"/>
          </a:xfrm>
          <a:prstGeom prst="roundRect">
            <a:avLst>
              <a:gd name="adj" fmla="val 2174"/>
            </a:avLst>
          </a:prstGeom>
          <a:solidFill>
            <a:srgbClr val="1C3D6B"/>
          </a:solidFill>
          <a:ln w="12700">
            <a:solidFill>
              <a:srgbClr val="2E5B96"/>
            </a:solidFill>
            <a:prstDash val="solid"/>
          </a:ln>
        </p:spPr>
      </p:sp>
      <p:sp>
        <p:nvSpPr>
          <p:cNvPr id="16" name="Shape 14"/>
          <p:cNvSpPr/>
          <p:nvPr/>
        </p:nvSpPr>
        <p:spPr>
          <a:xfrm>
            <a:off x="8444789" y="2724912"/>
            <a:ext cx="274320" cy="274320"/>
          </a:xfrm>
          <a:prstGeom prst="roundRect">
            <a:avLst>
              <a:gd name="adj" fmla="val 10000"/>
            </a:avLst>
          </a:prstGeom>
          <a:solidFill>
            <a:srgbClr val="C8102E"/>
          </a:solidFill>
          <a:ln w="12700">
            <a:solidFill>
              <a:srgbClr val="C8102E"/>
            </a:solidFill>
            <a:prstDash val="solid"/>
          </a:ln>
        </p:spPr>
      </p:sp>
      <p:sp>
        <p:nvSpPr>
          <p:cNvPr id="17" name="Text 15"/>
          <p:cNvSpPr txBox="1"/>
          <p:nvPr/>
        </p:nvSpPr>
        <p:spPr>
          <a:xfrm>
            <a:off x="8444789" y="272491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18" name="Text 16"/>
          <p:cNvSpPr txBox="1"/>
          <p:nvPr/>
        </p:nvSpPr>
        <p:spPr>
          <a:xfrm>
            <a:off x="8444789" y="3163824"/>
            <a:ext cx="2905658" cy="329184"/>
          </a:xfrm>
          <a:prstGeom prst="rect">
            <a:avLst/>
          </a:prstGeom>
          <a:noFill/>
          <a:ln/>
        </p:spPr>
        <p:txBody>
          <a:bodyPr wrap="square" lIns="0" tIns="0" rIns="0" bIns="0" rtlCol="0" anchor="t"/>
          <a:lstStyle/>
          <a:p>
            <a:pPr algn="l" indent="0" marL="0">
              <a:lnSpc>
                <a:spcPts val="2400"/>
              </a:lnSpc>
              <a:buNone/>
            </a:pPr>
            <a:r>
              <a:rPr lang="en-US" sz="1500" b="1" dirty="0">
                <a:solidFill>
                  <a:srgbClr val="FFFFFF"/>
                </a:solidFill>
                <a:latin typeface="Meiryo" pitchFamily="34" charset="0"/>
                <a:ea typeface="Meiryo" pitchFamily="34" charset="-122"/>
                <a:cs typeface="Meiryo" pitchFamily="34" charset="-120"/>
              </a:rPr>
              <a:t>入社後の定着</a:t>
            </a:r>
            <a:endParaRPr lang="en-US" sz="1500" dirty="0"/>
          </a:p>
        </p:txBody>
      </p:sp>
      <p:sp>
        <p:nvSpPr>
          <p:cNvPr id="19" name="Text 17"/>
          <p:cNvSpPr txBox="1"/>
          <p:nvPr/>
        </p:nvSpPr>
        <p:spPr>
          <a:xfrm>
            <a:off x="8444789" y="3602736"/>
            <a:ext cx="2905658" cy="822960"/>
          </a:xfrm>
          <a:prstGeom prst="rect">
            <a:avLst/>
          </a:prstGeom>
          <a:noFill/>
          <a:ln/>
        </p:spPr>
        <p:txBody>
          <a:bodyPr wrap="square" lIns="0" tIns="0" rIns="0" bIns="0" rtlCol="0" anchor="t"/>
          <a:lstStyle/>
          <a:p>
            <a:pPr algn="l" indent="0" marL="0">
              <a:lnSpc>
                <a:spcPts val="1680"/>
              </a:lnSpc>
              <a:buNone/>
            </a:pPr>
            <a:r>
              <a:rPr lang="en-US" sz="1050" dirty="0">
                <a:solidFill>
                  <a:srgbClr val="C9D8EA"/>
                </a:solidFill>
                <a:latin typeface="Meiryo" pitchFamily="34" charset="0"/>
                <a:ea typeface="Meiryo" pitchFamily="34" charset="-122"/>
                <a:cs typeface="Meiryo" pitchFamily="34" charset="-120"/>
              </a:rPr>
              <a:t>説明会で聞いた仕事・待遇・キャリアが入社後の現実と一致するため、早期離職を防ぎます。</a:t>
            </a:r>
            <a:endParaRPr lang="en-US" sz="1050" dirty="0"/>
          </a:p>
        </p:txBody>
      </p:sp>
      <p:sp>
        <p:nvSpPr>
          <p:cNvPr id="20" name="Shape 18"/>
          <p:cNvSpPr/>
          <p:nvPr/>
        </p:nvSpPr>
        <p:spPr>
          <a:xfrm>
            <a:off x="548640" y="4974336"/>
            <a:ext cx="11094415" cy="786384"/>
          </a:xfrm>
          <a:prstGeom prst="rect">
            <a:avLst/>
          </a:prstGeom>
          <a:solidFill>
            <a:srgbClr val="2E5B96"/>
          </a:solidFill>
          <a:ln/>
        </p:spPr>
      </p:sp>
      <p:sp>
        <p:nvSpPr>
          <p:cNvPr id="21" name="Text 19"/>
          <p:cNvSpPr txBox="1"/>
          <p:nvPr/>
        </p:nvSpPr>
        <p:spPr>
          <a:xfrm>
            <a:off x="914400" y="4974336"/>
            <a:ext cx="10362895" cy="786384"/>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まずは対象大学と実施時期のご相談から、始めさせてください。</a:t>
            </a:r>
            <a:endParaRPr lang="en-US" sz="1700" dirty="0"/>
          </a:p>
        </p:txBody>
      </p:sp>
      <p:sp>
        <p:nvSpPr>
          <p:cNvPr id="22" name="Text 20"/>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dirty="0">
                <a:solidFill>
                  <a:srgbClr val="8FA8C6"/>
                </a:solidFill>
                <a:latin typeface="Arial" pitchFamily="34" charset="0"/>
                <a:ea typeface="Arial" pitchFamily="34" charset="-122"/>
                <a:cs typeface="Arial" pitchFamily="34" charset="-120"/>
              </a:rPr>
              <a:t>ESUHAI Technology CO., LTD.　／　VN-RECRUIT-2026 REV.2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ベトナム優秀建設エンジニア 採用プログラム ご提案（改訂版）</dc:title>
  <dc:subject>PptxGenJS Presentation</dc:subject>
  <dc:creator>ESUHAI Technology CO., LTD.</dc:creator>
  <cp:lastModifiedBy>ESUHAI Technology CO., LTD.</cp:lastModifiedBy>
  <cp:revision>1</cp:revision>
  <dcterms:created xsi:type="dcterms:W3CDTF">2026-09-08T08:14:41Z</dcterms:created>
  <dcterms:modified xsi:type="dcterms:W3CDTF">2026-09-08T08:14:41Z</dcterms:modified>
</cp:coreProperties>
</file>